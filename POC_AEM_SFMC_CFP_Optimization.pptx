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92024"/>
            <a:ext cx="105156" cy="1600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3951" y="192024"/>
            <a:ext cx="105156" cy="1600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3854" y="192024"/>
            <a:ext cx="105156" cy="1600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3758" y="192024"/>
            <a:ext cx="105156" cy="1600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37947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223760" y="0"/>
            <a:ext cx="1920240" cy="5143500"/>
          </a:xfrm>
          <a:prstGeom prst="rect">
            <a:avLst/>
          </a:prstGeom>
          <a:solidFill>
            <a:srgbClr val="002070"/>
          </a:solidFill>
          <a:ln w="12700">
            <a:solidFill>
              <a:srgbClr val="0020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001350"/>
          </a:solidFill>
          <a:ln w="12700">
            <a:solidFill>
              <a:srgbClr val="001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97280"/>
            <a:ext cx="6583680" cy="374904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2984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1719072"/>
            <a:ext cx="6126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AEM + SFMC End-to-End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Form Processor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3858768"/>
            <a:ext cx="6583680" cy="640080"/>
          </a:xfrm>
          <a:prstGeom prst="rect">
            <a:avLst/>
          </a:prstGeom>
          <a:solidFill>
            <a:srgbClr val="09584F"/>
          </a:solidFill>
          <a:ln w="12700">
            <a:solidFill>
              <a:srgbClr val="0958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9044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AD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Type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58368" y="41056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/ AEM Collaboration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87168" y="39044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AD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487168" y="41056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41648" y="39044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AD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041648" y="41056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Himanshu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13248" y="39044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AD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413248" y="41056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AEM + SFMC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6344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484174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786384" y="473659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 affiliated with KPMG International Limited, a private English company limited by guarantee. All rights reserved.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8577072" y="473659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228600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411480" y="850392"/>
            <a:ext cx="8321040" cy="2743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32688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data management lead, I want the backend processing for form submissions to take place on a new dedicated CloudPage so that the main Centralized Form Processor (CFP) CloudPage is responsible only for collecting form data — improving processing efficiencies and reducing the 20-second on-screen wait users currently experience after submitting a form on the KPMG website.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7830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Context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11480" y="2212848"/>
            <a:ext cx="8321040" cy="2743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40864"/>
            <a:ext cx="8412480" cy="694944"/>
          </a:xfrm>
          <a:prstGeom prst="roundRect">
            <a:avLst>
              <a:gd name="adj" fmla="val 9211"/>
            </a:avLst>
          </a:prstGeom>
          <a:solidFill>
            <a:srgbClr val="EEF4FF"/>
          </a:solidFill>
          <a:ln w="12700">
            <a:solidFill>
              <a:srgbClr val="A8C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41401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GEE-35446 (Spike):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spike documenting the two-CloudPage architecture — one to capture data, one for backend processing. Approach confirmed viable in theory.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8412480" cy="694944"/>
          </a:xfrm>
          <a:prstGeom prst="roundRect">
            <a:avLst>
              <a:gd name="adj" fmla="val 9211"/>
            </a:avLst>
          </a:prstGeom>
          <a:solidFill>
            <a:srgbClr val="FEF2F2"/>
          </a:solidFill>
          <a:ln w="12700">
            <a:solidFill>
              <a:srgbClr val="F194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18211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GEE-42812 (PoC — Failed Async):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attempted. Async call between CloudPages failed — any response was a false positive at the SFMC platform level. Story converted to PoC.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877056"/>
            <a:ext cx="8412480" cy="694944"/>
          </a:xfrm>
          <a:prstGeom prst="roundRect">
            <a:avLst>
              <a:gd name="adj" fmla="val 9211"/>
            </a:avLst>
          </a:prstGeom>
          <a:solidFill>
            <a:srgbClr val="E8F7F5"/>
          </a:solidFill>
          <a:ln w="12700">
            <a:solidFill>
              <a:srgbClr val="6BBC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95020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Story — AEM Collaboration PoC: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PoC to solve the same problem by involving the AEM team. AEM makes two separate HTTP calls — enabling true decoupled processing without needing SFMC to call itself.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626864"/>
            <a:ext cx="8321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Stakeholders: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Cuc Baker (Lead), Paul McInnis, Gavin Clark, Eugene Mondrus, Himanshu Gupta, Sandeep Jain, Russ Cordingley, Chloey Mayo, Farris Skaff, Floyd Corbin (AEM)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6344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484174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786384" y="473659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 affiliated with KPMG International Limited, a private English company limited by guarantee. All rights reserved.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8577072" y="473659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228600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411480" y="850392"/>
            <a:ext cx="8321040" cy="2743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3268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CFP currently takes up to 20 seconds to respond — executing all 11 processing steps synchronously while the user waits on-screen. The goal of this PoC is to eliminate this wait entirely.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4447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Time Per Stage — Current CFP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37360"/>
          <a:ext cx="8412480" cy="2615184"/>
        </p:xfrm>
        <a:graphic>
          <a:graphicData uri="http://schemas.openxmlformats.org/drawingml/2006/table">
            <a:tbl>
              <a:tblPr/>
              <a:tblGrid>
                <a:gridCol w="384048"/>
                <a:gridCol w="1691640"/>
                <a:gridCol w="4572000"/>
                <a:gridCol w="804672"/>
                <a:gridCol w="868680"/>
              </a:tblGrid>
              <a:tr h="2179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Processing Step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2179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 Ingestion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Captures and validates all submitted form data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sec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9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Salesforce Integration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Identifies or creates Lead/Contact, retrieves Salesforce ID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sec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9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Promotion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Moves records from staging to Centralized_Form_Processor_DE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sec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9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Consent Status Update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Updates user consent and compliance status in Salesforce CRM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sec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9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Associated Email Processing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Processes linked email addresses; updates preferences and subscription 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sec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9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Preference Processing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Saves communication preferences into Subscriber_Preferences_Email 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sec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9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Subscriber Activation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Ensures user is active in SFMC AllSubscribers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sec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9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Credential Handling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Retrieves and decrypts API authentication details from ENT.API_Details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sec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9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Dynamic Journey Triggering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Triggers journeys via FormName_Event_ID_Mapping_DE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sec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9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Journey Key Lookup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Retrieves event keys from Journey_API_Event_Key_Config_DE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sec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9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Journey Routing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Routes to Contact Us / Notification Trigger / CFP Journey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sec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65760" y="4425696"/>
            <a:ext cx="8412480" cy="256032"/>
          </a:xfrm>
          <a:prstGeom prst="rect">
            <a:avLst/>
          </a:prstGeom>
          <a:solidFill>
            <a:srgbClr val="FEF2F2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44439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seconds synchronous on-screen wait — user cannot proceed until all processing completes.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6344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484174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786384" y="473659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 affiliated with KPMG International Limited, a private English company limited by guarantee. All rights reserved.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8577072" y="473659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228600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Two-Call Architecture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11480" y="850392"/>
            <a:ext cx="8321040" cy="2743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3268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AEM makes two separate HTTP calls to SFMC CloudPages. Call 1 captures data and returns a GUID immediately — the user sees confirmation at once. Call 2 (fire-and-forget) triggers all backend processing using that GUID as the record key.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417320"/>
            <a:ext cx="3977640" cy="27432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417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1  —  Data Capture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417320"/>
            <a:ext cx="3931920" cy="2743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2  —  Backend Processing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44568" y="1417320"/>
            <a:ext cx="54864" cy="32918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764792"/>
            <a:ext cx="3977640" cy="402336"/>
          </a:xfrm>
          <a:prstGeom prst="roundRect">
            <a:avLst>
              <a:gd name="adj" fmla="val 15909"/>
            </a:avLst>
          </a:prstGeom>
          <a:solidFill>
            <a:srgbClr val="E8F7F5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18013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AEM / KPMG Website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19842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submits form on KPMG website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2176272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240280"/>
            <a:ext cx="3977640" cy="402336"/>
          </a:xfrm>
          <a:prstGeom prst="roundRect">
            <a:avLst>
              <a:gd name="adj" fmla="val 15909"/>
            </a:avLst>
          </a:prstGeom>
          <a:solidFill>
            <a:srgbClr val="E8F7F5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2768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form data → Receiver CloudPage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245973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50+ parameters sent to SFMC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2651760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715768"/>
            <a:ext cx="3977640" cy="402336"/>
          </a:xfrm>
          <a:prstGeom prst="roundRect">
            <a:avLst>
              <a:gd name="adj" fmla="val 15909"/>
            </a:avLst>
          </a:prstGeom>
          <a:solidFill>
            <a:srgbClr val="FFF8E1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275234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66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validation performed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" y="29352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Fail: no record written, no GUID returned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3127248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191256"/>
            <a:ext cx="3977640" cy="402336"/>
          </a:xfrm>
          <a:prstGeom prst="roundRect">
            <a:avLst>
              <a:gd name="adj" fmla="val 15909"/>
            </a:avLst>
          </a:prstGeom>
          <a:solidFill>
            <a:srgbClr val="E8F7F5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2278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written to caching DE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" y="341071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stored with GUID as Primary Key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5760" y="3602736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666744"/>
            <a:ext cx="3977640" cy="402336"/>
          </a:xfrm>
          <a:prstGeom prst="roundRect">
            <a:avLst>
              <a:gd name="adj" fmla="val 15909"/>
            </a:avLst>
          </a:prstGeom>
          <a:solidFill>
            <a:srgbClr val="EAF3DE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703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response returned to AEM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" y="38862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"status":"200", "GUID":"76f58c9a-..." }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5760" y="4078224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142232"/>
            <a:ext cx="3977640" cy="402336"/>
          </a:xfrm>
          <a:prstGeom prst="roundRect">
            <a:avLst>
              <a:gd name="adj" fmla="val 15909"/>
            </a:avLst>
          </a:prstGeom>
          <a:solidFill>
            <a:srgbClr val="EAF3DE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41788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sees confirmation instantly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" y="43616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AEM redirects to Thank You page — no wait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00600" y="1764792"/>
            <a:ext cx="3977640" cy="402336"/>
          </a:xfrm>
          <a:prstGeom prst="roundRect">
            <a:avLst>
              <a:gd name="adj" fmla="val 15909"/>
            </a:avLst>
          </a:prstGeom>
          <a:solidFill>
            <a:srgbClr val="EEF4FF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0328" y="18013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AEM fires Call 2 (fire-and-forget)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10328" y="19842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GUID to Backend CloudPage — no wait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00600" y="2176272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00600" y="2240280"/>
            <a:ext cx="3977640" cy="402336"/>
          </a:xfrm>
          <a:prstGeom prst="roundRect">
            <a:avLst>
              <a:gd name="adj" fmla="val 15909"/>
            </a:avLst>
          </a:prstGeom>
          <a:solidFill>
            <a:srgbClr val="EEF4FF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0328" y="22768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CloudPage receives GUID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10328" y="245973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Retrieves exact record via LookupRows()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00600" y="2651760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00600" y="2715768"/>
            <a:ext cx="3977640" cy="402336"/>
          </a:xfrm>
          <a:prstGeom prst="roundRect">
            <a:avLst>
              <a:gd name="adj" fmla="val 15909"/>
            </a:avLst>
          </a:prstGeom>
          <a:solidFill>
            <a:srgbClr val="EEF4FF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0328" y="275234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integration — 9 sec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10328" y="29352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Lead/Contact lookup, create/update in background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00600" y="3127248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00600" y="3191256"/>
            <a:ext cx="3977640" cy="402336"/>
          </a:xfrm>
          <a:prstGeom prst="roundRect">
            <a:avLst>
              <a:gd name="adj" fmla="val 15909"/>
            </a:avLst>
          </a:prstGeom>
          <a:solidFill>
            <a:srgbClr val="EEF4FF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0328" y="32278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promotion + consent update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910328" y="341071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→ CFP DE, consent status updated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00600" y="3602736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00600" y="3666744"/>
            <a:ext cx="3977640" cy="402336"/>
          </a:xfrm>
          <a:prstGeom prst="roundRect">
            <a:avLst>
              <a:gd name="adj" fmla="val 15909"/>
            </a:avLst>
          </a:prstGeom>
          <a:solidFill>
            <a:srgbClr val="EEF4FF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10328" y="3703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Preferences + subscriber activation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910328" y="38862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mktAttribute1-10 (4-scenario), dual InvokeUpdate()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800600" y="4078224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800600" y="4142232"/>
            <a:ext cx="3977640" cy="402336"/>
          </a:xfrm>
          <a:prstGeom prst="roundRect">
            <a:avLst>
              <a:gd name="adj" fmla="val 15909"/>
            </a:avLst>
          </a:prstGeom>
          <a:solidFill>
            <a:srgbClr val="EEF4FF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10328" y="41788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triggering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910328" y="436168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credentials, dynamic + static routing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6344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484174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786384" y="473659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 affiliated with KPMG International Limited, a private English company limited by guarantee. All rights reserved.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8577072" y="473659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228600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SFMC Technical Requirements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11480" y="850392"/>
            <a:ext cx="8321040" cy="2743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960120"/>
            <a:ext cx="8412480" cy="987552"/>
          </a:xfrm>
          <a:prstGeom prst="roundRect">
            <a:avLst>
              <a:gd name="adj" fmla="val 6481"/>
            </a:avLst>
          </a:prstGeom>
          <a:solidFill>
            <a:srgbClr val="E8F7F5"/>
          </a:solidFill>
          <a:ln w="12700">
            <a:solidFill>
              <a:srgbClr val="6BBC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1  —  Receiver CloudPage (New)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128016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CFP URL (unchanged across all BUs)     </a:t>
            </a:r>
            <a:pPr indent="0" marL="0">
              <a:buNone/>
            </a:pPr>
            <a:r>
              <a:rPr lang="en-US" sz="95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validation performed before writing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1527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written to caching DE with GUID() as Primary Key     </a:t>
            </a:r>
            <a:pPr indent="0" marL="0">
              <a:buNone/>
            </a:pPr>
            <a:r>
              <a:rPr lang="en-US" sz="95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Response: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"status":"200", "message":"Success", "GUID":"&lt;value&gt;" }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17647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fail: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record written, no GUID returned to AEM. AEM does not fire Call 2.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029968"/>
            <a:ext cx="8412480" cy="914400"/>
          </a:xfrm>
          <a:prstGeom prst="roundRect">
            <a:avLst>
              <a:gd name="adj" fmla="val 7000"/>
            </a:avLst>
          </a:prstGeom>
          <a:solidFill>
            <a:srgbClr val="EEF4FF"/>
          </a:solidFill>
          <a:ln w="12700">
            <a:solidFill>
              <a:srgbClr val="A8C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029968"/>
            <a:ext cx="8412480" cy="2743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029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2  —  Backend CloudPage (updated to accept GUID parameter)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235000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DEV: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https://cloud.email.kpmgus.com/CentralizedFormProcessorBackendDEV?GUID=&lt;value&gt;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" y="25511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UAT: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https://cloud.email.kpmgus.com/Centralized_Form_Processor_Backend_UAT?GUID=&lt;value&gt;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275234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PROD: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https://cloud.email.kpmgus.com/Centralized_Backend_Form_Processor?GUID=&lt;value&gt;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5F0FF"/>
          </a:solidFill>
          <a:ln w="12700">
            <a:solidFill>
              <a:srgbClr val="9B7F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017520"/>
            <a:ext cx="8412480" cy="274320"/>
          </a:xfrm>
          <a:prstGeom prst="rect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Data Extension  —  Caching 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3337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all 50+ form parameters temporarily with GUID as Primary Key. Backend CloudPage retrieves the exact record via LookupRows() by GUID — precise processing, no batch-processing risk, no duplication.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749040"/>
            <a:ext cx="8412480" cy="658368"/>
          </a:xfrm>
          <a:prstGeom prst="roundRect">
            <a:avLst>
              <a:gd name="adj" fmla="val 9722"/>
            </a:avLst>
          </a:prstGeom>
          <a:solidFill>
            <a:srgbClr val="FFF8E1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749040"/>
            <a:ext cx="8412480" cy="27432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Error Handling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4069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written → GUID returned → AEM fires Call 2.   </a:t>
            </a:r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Fail: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record written, no GUID returned. Call 2 is not fired.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6344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484174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786384" y="473659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 affiliated with KPMG International Limited, a private English company limited by guarantee. All rights reserved.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8577072" y="473659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228600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AEM Technical Requirements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11480" y="850392"/>
            <a:ext cx="8321040" cy="2743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326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AEM-side components must be created/updated by the AEM team to implement the two-call architecture.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280160"/>
            <a:ext cx="8412480" cy="1664208"/>
          </a:xfrm>
          <a:prstGeom prst="roundRect">
            <a:avLst>
              <a:gd name="adj" fmla="val 3846"/>
            </a:avLst>
          </a:prstGeom>
          <a:solidFill>
            <a:srgbClr val="E8F7F5"/>
          </a:solidFill>
          <a:ln w="12700">
            <a:solidFill>
              <a:srgbClr val="6BBC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371600"/>
            <a:ext cx="292608" cy="292608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" y="1371600"/>
            <a:ext cx="7699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Sling Job Consumer — SimpleHttpGetJobConsumer.java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168249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Topic: kpmg/requests/simplehttp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200253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Param: uri (java.net.URI) — the full backend CloudPage URL including GUID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23225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Logic: Send GET request to the URI. Mark job complete if response is 200–299.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264261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Logging: Log GUID, response status, job attempt number and any error message in Splunk-digestible format.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054096"/>
            <a:ext cx="8412480" cy="1344168"/>
          </a:xfrm>
          <a:prstGeom prst="roundRect">
            <a:avLst>
              <a:gd name="adj" fmla="val 4762"/>
            </a:avLst>
          </a:prstGeom>
          <a:solidFill>
            <a:srgbClr val="EEF4FF"/>
          </a:solidFill>
          <a:ln w="12700">
            <a:solidFill>
              <a:srgbClr val="A8C4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45536"/>
            <a:ext cx="292608" cy="29260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6112" y="3145536"/>
            <a:ext cx="7699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Sling Job Queue Config — org.apache.sling.event.jobs.QueueConfiguration~simplehttp.cfg.json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60120" y="34564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Name: "KPMG Simple HTTP Request Queue"  |  Type: ORDERED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0120" y="37764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Topics: [kpmg/requests/simplehttp]  |  Retries: 2  |  Retry Delay: 300,000ms (5 min)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0120" y="40965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NORM  |  Service Ranking: 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507992"/>
            <a:ext cx="8412480" cy="1664208"/>
          </a:xfrm>
          <a:prstGeom prst="roundRect">
            <a:avLst>
              <a:gd name="adj" fmla="val 3846"/>
            </a:avLst>
          </a:prstGeom>
          <a:solidFill>
            <a:srgbClr val="F5F0FF"/>
          </a:solidFill>
          <a:ln w="12700">
            <a:solidFill>
              <a:srgbClr val="9B7F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599432"/>
            <a:ext cx="292608" cy="292608"/>
          </a:xfrm>
          <a:prstGeom prst="ellipse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599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6112" y="4599432"/>
            <a:ext cx="7699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3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General Form Service — GeneralFormServiceImpl.java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60120" y="49103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3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config: isBackendProcessorEnabled — Default: true (env: Form_isBackendProcessorEnabled)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0120" y="52303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3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config: generalFormBackendProcessorEndpoint — Default DEV: https://cloud.email.kpmgus.com/CentralizedFormProcessorBackendDEV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60120" y="55504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3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(UAT): https://cloud.email.kpmgus.com/Centralized_Form_Processor_Backend_UAT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60120" y="58704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3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Logic: After Call 1 returns 200 + GUID, enqueue Sling Job with full backend URL. Redirect user immediately — no wait for Call 2 response.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6344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484174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786384" y="473659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 affiliated with KPMG International Limited, a private English company limited by guarantee. All rights reserved.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8577072" y="473659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228600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11480" y="850392"/>
            <a:ext cx="8321040" cy="2743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960120"/>
            <a:ext cx="8412480" cy="1920240"/>
          </a:xfrm>
          <a:prstGeom prst="roundRect">
            <a:avLst>
              <a:gd name="adj" fmla="val 3333"/>
            </a:avLst>
          </a:prstGeom>
          <a:solidFill>
            <a:srgbClr val="E8F7F5"/>
          </a:solidFill>
          <a:ln w="12700">
            <a:solidFill>
              <a:srgbClr val="6BBC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960120"/>
            <a:ext cx="8412480" cy="292608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1  —  Collect Web Form Data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1307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KPMG website calls the Internal Centralized Form Processor CloudPage when a form is submitted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160934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 submits a form on the KPMG website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1911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validation will be performed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2212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will be recorded in a temporary (caching) DE if validation passes, and the GUID will be returned to AEM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2514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any parameter validation fails: no record will be written and no GUID will be returned to AEM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8412480" cy="1691640"/>
          </a:xfrm>
          <a:prstGeom prst="roundRect">
            <a:avLst>
              <a:gd name="adj" fmla="val 3784"/>
            </a:avLst>
          </a:prstGeom>
          <a:solidFill>
            <a:srgbClr val="EEF4FF"/>
          </a:solidFill>
          <a:ln w="12700">
            <a:solidFill>
              <a:srgbClr val="A8C4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71800"/>
            <a:ext cx="8412480" cy="292608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71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2  —  Backend Processing of Form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3328416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Backend CloudPage is created for all processing beyond the point of data collection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3666744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 submits a form AND AEM fires Call 2 with the GUID returned from Call 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400507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Backend CloudPage retrieves the record by GUID and handles all processing: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4343400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integration (lead/contact, consent)  |  Inquiry type handling  |  Preference management  |  Subscriber updates  |  API + Journey processing  |  Error handling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6344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484174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786384" y="473659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 affiliated with KPMG International Limited, a private English company limited by guarantee. All rights reserved.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8577072" y="473659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228600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vs. Proposed Flow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11480" y="850392"/>
            <a:ext cx="8321040" cy="2743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941832"/>
            <a:ext cx="397764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94183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 —  ~20 sec wait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941832"/>
            <a:ext cx="3931920" cy="310896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9418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Flow  —  Instant confirmation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1325880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3624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 Form Submitted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1801368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911096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19476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CFP CloudPage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386584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496312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FEF2F2"/>
          </a:solidFill>
          <a:ln w="12700">
            <a:solidFill>
              <a:srgbClr val="F194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5328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11 steps run synchronously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2971800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081528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FEF2F2"/>
          </a:solidFill>
          <a:ln w="12700">
            <a:solidFill>
              <a:srgbClr val="F194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1181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waits ~20 seconds on-screen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3557016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666744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703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shown after full wait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1325880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F5F7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13624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 Form Submitted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1801368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1911096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E8F7F5"/>
          </a:solidFill>
          <a:ln w="12700">
            <a:solidFill>
              <a:srgbClr val="6BBC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19476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1 → Receiver CloudPage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+ write to caching DE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2386584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2496312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EAF3DE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25328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+ GUID returned to AEM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sees confirmation instantly ✓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2971800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3081528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EEF4FF"/>
          </a:solidFill>
          <a:ln w="12700">
            <a:solidFill>
              <a:srgbClr val="A8C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31181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2 → Backend CloudPage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 passed — fire and forget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00600" y="3557016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3666744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EEF4FF"/>
          </a:solidFill>
          <a:ln w="12700">
            <a:solidFill>
              <a:srgbClr val="A8C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0328" y="3703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11 steps run in background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6344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484174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786384" y="473659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 affiliated with KPMG International Limited, a private English company limited by guarantee. All rights reserved.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8577072" y="473659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228600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Scope &amp; Environment Plan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11480" y="850392"/>
            <a:ext cx="8321040" cy="2743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9601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Timeline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261872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E8F7F5"/>
          </a:solidFill>
          <a:ln w="12700">
            <a:solidFill>
              <a:srgbClr val="6BBC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" y="1353312"/>
            <a:ext cx="402336" cy="402336"/>
          </a:xfrm>
          <a:prstGeom prst="ellipse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18013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Sprint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" y="202996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Story Added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8912" y="2249424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story moved out; PoC slot added. AEM collaboration begins in lower environments.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496312" y="1261872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EEF4FF"/>
          </a:solidFill>
          <a:ln w="12700">
            <a:solidFill>
              <a:srgbClr val="A8C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00984" y="1353312"/>
            <a:ext cx="402336" cy="402336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00984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9464" y="18013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Envs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9464" y="202996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+ UAT Testing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69464" y="2249424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AEM team implements two-call architecture. SFMC validates end-to-end in DEV and UAT.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26864" y="1261872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EAF3DE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31536" y="1353312"/>
            <a:ext cx="402336" cy="402336"/>
          </a:xfrm>
          <a:prstGeom prst="ellipse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31536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0016" y="18013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July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0016" y="202996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in Lower Envs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00016" y="2249424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end-to-end solution working in lower environments, working toward Production.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757416" y="1261872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5F0FF"/>
          </a:solidFill>
          <a:ln w="12700">
            <a:solidFill>
              <a:srgbClr val="9B7F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62088" y="1353312"/>
            <a:ext cx="402336" cy="402336"/>
          </a:xfrm>
          <a:prstGeom prst="ellipse">
            <a:avLst/>
          </a:prstGeom>
          <a:solidFill>
            <a:srgbClr val="7B3F9E"/>
          </a:solidFill>
          <a:ln w="12700">
            <a:solidFill>
              <a:srgbClr val="7B3F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62088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30568" y="18013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3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Post-July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30568" y="202996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Release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30568" y="2249424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production rollout across all BUs once lower environment testing is signed off.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11480" y="261518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SFMC Scope  vs  AEM Scope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5760" y="2926080"/>
            <a:ext cx="4069080" cy="1755648"/>
          </a:xfrm>
          <a:prstGeom prst="roundRect">
            <a:avLst>
              <a:gd name="adj" fmla="val 3646"/>
            </a:avLst>
          </a:prstGeom>
          <a:solidFill>
            <a:srgbClr val="E8F7F5"/>
          </a:solidFill>
          <a:ln w="12700">
            <a:solidFill>
              <a:srgbClr val="6BBC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29992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SFMC Team — Himanshu / Sandeep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32735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Receiver CloudPage with parameter validation and GUID generation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35387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Create/update Backend CloudPage to accept GUID and process all 11 steps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38039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caching DE with GUID as Primary Key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40690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DEV, UAT and PROD Backend CloudPage endpoints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43342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end-to-end processing in DEV and UAT environments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9160" y="2926080"/>
            <a:ext cx="4069080" cy="1755648"/>
          </a:xfrm>
          <a:prstGeom prst="roundRect">
            <a:avLst>
              <a:gd name="adj" fmla="val 3646"/>
            </a:avLst>
          </a:prstGeom>
          <a:solidFill>
            <a:srgbClr val="EEF4FF"/>
          </a:solidFill>
          <a:ln w="12700">
            <a:solidFill>
              <a:srgbClr val="A8C4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299923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AEM Team — Chloey, Farris, Floyd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92040" y="32735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SimpleHttpGetJobConsumer.java (Sling Job Consumer)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92040" y="35387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Sling Job Queue (ordered, 2 retries, 5-min delay)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92040" y="38039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GeneralFormServiceImpl.java with two new config variables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92040" y="40690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GUID from Call 1 JSON response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92040" y="43342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Call 2 (fire-and-forget) after Call 1 returns 200 + GUID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6344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4736592"/>
            <a:ext cx="64008" cy="914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4841748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786384" y="473659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Delaware limited liability partnership and a member firm of the KPMG global organization of independent member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 affiliated with KPMG International Limited, a private English company limited by guarantee. All rights reserved.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8577072" y="473659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228600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at a Glance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11480" y="850392"/>
            <a:ext cx="8321040" cy="2743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960120"/>
            <a:ext cx="1965960" cy="987552"/>
          </a:xfrm>
          <a:prstGeom prst="roundRect">
            <a:avLst>
              <a:gd name="adj" fmla="val 6481"/>
            </a:avLst>
          </a:prstGeom>
          <a:solidFill>
            <a:srgbClr val="FEF2F2"/>
          </a:solidFill>
          <a:ln w="12700">
            <a:solidFill>
              <a:srgbClr val="F194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0058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 sec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5760" y="15361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CFP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96312" y="960120"/>
            <a:ext cx="1965960" cy="987552"/>
          </a:xfrm>
          <a:prstGeom prst="roundRect">
            <a:avLst>
              <a:gd name="adj" fmla="val 6481"/>
            </a:avLst>
          </a:prstGeom>
          <a:solidFill>
            <a:srgbClr val="E8F7F5"/>
          </a:solidFill>
          <a:ln w="12700">
            <a:solidFill>
              <a:srgbClr val="6BBC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10058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calls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496312" y="15361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architecture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(AEM-initiated)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26864" y="960120"/>
            <a:ext cx="1965960" cy="987552"/>
          </a:xfrm>
          <a:prstGeom prst="roundRect">
            <a:avLst>
              <a:gd name="adj" fmla="val 6481"/>
            </a:avLst>
          </a:prstGeom>
          <a:solidFill>
            <a:srgbClr val="EAF3DE"/>
          </a:solidFill>
          <a:ln w="12700">
            <a:solidFill>
              <a:srgbClr val="A9D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0058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sec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626864" y="15361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wait time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fix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57416" y="960120"/>
            <a:ext cx="1965960" cy="987552"/>
          </a:xfrm>
          <a:prstGeom prst="roundRect">
            <a:avLst>
              <a:gd name="adj" fmla="val 6481"/>
            </a:avLst>
          </a:prstGeom>
          <a:solidFill>
            <a:srgbClr val="EEF4FF"/>
          </a:solidFill>
          <a:ln w="12700">
            <a:solidFill>
              <a:srgbClr val="A8C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57416" y="10058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BUs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757416" y="15361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/ UAT / PROD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084832"/>
            <a:ext cx="2724912" cy="2514600"/>
          </a:xfrm>
          <a:prstGeom prst="roundRect">
            <a:avLst>
              <a:gd name="adj" fmla="val 2545"/>
            </a:avLst>
          </a:prstGeom>
          <a:solidFill>
            <a:srgbClr val="FEF2F2"/>
          </a:solidFill>
          <a:ln w="12700">
            <a:solidFill>
              <a:srgbClr val="F194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2157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the Problem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" y="2459736"/>
            <a:ext cx="2468880" cy="18288"/>
          </a:xfrm>
          <a:prstGeom prst="rect">
            <a:avLst/>
          </a:prstGeom>
          <a:solidFill>
            <a:srgbClr val="F1948A"/>
          </a:solidFill>
          <a:ln w="12700">
            <a:solidFill>
              <a:srgbClr val="F194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2542032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CFP takes ~20 sec — user blocked on-screen throughout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" y="3035808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11 steps run synchronously in one browser request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529584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GEE-42812 async attempt failed — SFMC platform limitation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" y="4023360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reliable way to trigger a CloudPage asynchronously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2084832"/>
            <a:ext cx="2724912" cy="2514600"/>
          </a:xfrm>
          <a:prstGeom prst="roundRect">
            <a:avLst>
              <a:gd name="adj" fmla="val 2545"/>
            </a:avLst>
          </a:prstGeom>
          <a:solidFill>
            <a:srgbClr val="E8F7F5"/>
          </a:solidFill>
          <a:ln w="12700">
            <a:solidFill>
              <a:srgbClr val="6BBC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2157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PoC Solves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28416" y="2459736"/>
            <a:ext cx="2468880" cy="18288"/>
          </a:xfrm>
          <a:prstGeom prst="rect">
            <a:avLst/>
          </a:prstGeom>
          <a:solidFill>
            <a:srgbClr val="6BBCB0"/>
          </a:solidFill>
          <a:ln w="12700">
            <a:solidFill>
              <a:srgbClr val="6BBC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2542032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AEM makes two calls instead of SFMC calling itself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28416" y="3035808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1: data capture + immediate 200 + GUID returned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28416" y="3529584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2: fire-and-forget — backend runs after user confirmed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28416" y="4023360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B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sees confirmation in ~1 second, not ~20 seconds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35040" y="2084832"/>
            <a:ext cx="2724912" cy="2514600"/>
          </a:xfrm>
          <a:prstGeom prst="roundRect">
            <a:avLst>
              <a:gd name="adj" fmla="val 2545"/>
            </a:avLst>
          </a:prstGeom>
          <a:solidFill>
            <a:srgbClr val="EEF4FF"/>
          </a:solidFill>
          <a:ln w="12700">
            <a:solidFill>
              <a:srgbClr val="A8C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63056" y="2157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Team Delivers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63056" y="2459736"/>
            <a:ext cx="2468880" cy="18288"/>
          </a:xfrm>
          <a:prstGeom prst="rect">
            <a:avLst/>
          </a:prstGeom>
          <a:solidFill>
            <a:srgbClr val="A8C4F0"/>
          </a:solidFill>
          <a:ln w="12700">
            <a:solidFill>
              <a:srgbClr val="A8C4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63056" y="2542032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SFMC: Receiver CloudPage + Backend CloudPage + caching DE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63056" y="3035808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AEM: Sling Job Consumer + Queue Config + GeneralFormService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63056" y="3529584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Testing: DEV → UAT → PROD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63056" y="4023360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working in lower environments by end of July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33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92024"/>
            <a:ext cx="105156" cy="1600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3951" y="192024"/>
            <a:ext cx="105156" cy="1600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3854" y="192024"/>
            <a:ext cx="105156" cy="1600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3758" y="192024"/>
            <a:ext cx="105156" cy="1600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37947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223760" y="0"/>
            <a:ext cx="1920240" cy="5143500"/>
          </a:xfrm>
          <a:prstGeom prst="rect">
            <a:avLst/>
          </a:prstGeom>
          <a:solidFill>
            <a:srgbClr val="002070"/>
          </a:solidFill>
          <a:ln w="12700">
            <a:solidFill>
              <a:srgbClr val="0020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001350"/>
          </a:solidFill>
          <a:ln w="12700">
            <a:solidFill>
              <a:srgbClr val="001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0200"/>
            <a:ext cx="6949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</a:t>
            </a: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1645920" y="3063240"/>
            <a:ext cx="5029200" cy="36576"/>
          </a:xfrm>
          <a:prstGeom prst="rect">
            <a:avLst/>
          </a:prstGeom>
          <a:solidFill>
            <a:srgbClr val="0F7B6C"/>
          </a:solidFill>
          <a:ln w="12700">
            <a:solidFill>
              <a:srgbClr val="0F7B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004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D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 |  AEM + SFMC CFP Optimization  |  End-to-End Two-Call Architecture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Himanshu  |  July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2026-07-18T06:50:49Z</dcterms:created>
  <dcterms:modified xsi:type="dcterms:W3CDTF">2026-07-18T06:50:49Z</dcterms:modified>
</cp:coreProperties>
</file>