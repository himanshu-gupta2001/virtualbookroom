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7"/>
    <p:sldId id="257" r:id="rId8"/>
    <p:sldId id="258" r:id="rId9"/>
    <p:sldId id="259" r:id="rId10"/>
    <p:sldId id="260" r:id="rId11"/>
    <p:sldId id="261" r:id="rId12"/>
    <p:sldId id="262"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79" d="100"/>
          <a:sy n="79" d="100"/>
        </p:scale>
        <p:origin x="72"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11DEE6-7685-4AA2-AA75-D4BC152DF22B}"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E6EDA8-D9CF-428B-BA60-EC9E5539E2B9}" type="slidenum">
              <a:rPr lang="en-US" smtClean="0"/>
              <a:t>‹#›</a:t>
            </a:fld>
            <a:endParaRPr lang="en-US"/>
          </a:p>
        </p:txBody>
      </p:sp>
    </p:spTree>
    <p:extLst>
      <p:ext uri="{BB962C8B-B14F-4D97-AF65-F5344CB8AC3E}">
        <p14:creationId xmlns:p14="http://schemas.microsoft.com/office/powerpoint/2010/main" val="566656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jpe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Right Vertical Window Image_Cobalt Blue">
    <p:spTree>
      <p:nvGrpSpPr>
        <p:cNvPr id="1" name=""/>
        <p:cNvGrpSpPr/>
        <p:nvPr/>
      </p:nvGrpSpPr>
      <p:grpSpPr>
        <a:xfrm>
          <a:off x="0" y="0"/>
          <a:ext cx="0" cy="0"/>
          <a:chOff x="0" y="0"/>
          <a:chExt cx="0" cy="0"/>
        </a:xfrm>
      </p:grpSpPr>
      <p:pic>
        <p:nvPicPr>
          <p:cNvPr id="7" name="Picture 6" descr="A blue background with many small dots&#10;&#10;Description automatically generated">
            <a:extLst>
              <a:ext uri="{FF2B5EF4-FFF2-40B4-BE49-F238E27FC236}">
                <a16:creationId xmlns:a16="http://schemas.microsoft.com/office/drawing/2014/main" id="{602A8B37-37B8-C0D8-25FD-8E31C5BFED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p:cNvSpPr>
            <a:spLocks noGrp="1"/>
          </p:cNvSpPr>
          <p:nvPr>
            <p:ph type="ctrTitle" hasCustomPrompt="1"/>
          </p:nvPr>
        </p:nvSpPr>
        <p:spPr>
          <a:xfrm>
            <a:off x="741302" y="1456388"/>
            <a:ext cx="5354698" cy="1686205"/>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3457743"/>
            <a:ext cx="5506648"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814A74D7-227B-3872-AB9A-C557E9955878}"/>
              </a:ext>
            </a:extLst>
          </p:cNvPr>
          <p:cNvSpPr txBox="1"/>
          <p:nvPr userDrawn="1"/>
        </p:nvSpPr>
        <p:spPr>
          <a:xfrm>
            <a:off x="741302"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515224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pic>
        <p:nvPicPr>
          <p:cNvPr id="3" name="Picture 2">
            <a:extLst>
              <a:ext uri="{FF2B5EF4-FFF2-40B4-BE49-F238E27FC236}">
                <a16:creationId xmlns:a16="http://schemas.microsoft.com/office/drawing/2014/main" id="{1990DDFC-341E-BFB0-DF32-E057A1E4BC8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18860"/>
          <a:stretch/>
        </p:blipFill>
        <p:spPr>
          <a:xfrm flipH="1">
            <a:off x="490967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152757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3726618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76797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754596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4" y="1330126"/>
            <a:ext cx="1020445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28747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136850103"/>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1852667898"/>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pic>
        <p:nvPicPr>
          <p:cNvPr id="3" name="Picture 2" descr="A blue background with many small dots&#10;&#10;Description automatically generated">
            <a:extLst>
              <a:ext uri="{FF2B5EF4-FFF2-40B4-BE49-F238E27FC236}">
                <a16:creationId xmlns:a16="http://schemas.microsoft.com/office/drawing/2014/main" id="{5704C0F3-70B4-E445-9CC2-FDD2F54AD5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 name="Rectangle 4">
            <a:extLst>
              <a:ext uri="{FF2B5EF4-FFF2-40B4-BE49-F238E27FC236}">
                <a16:creationId xmlns:a16="http://schemas.microsoft.com/office/drawing/2014/main" id="{A67EF913-3370-49A8-475B-78901BBFD544}"/>
              </a:ext>
            </a:extLst>
          </p:cNvPr>
          <p:cNvSpPr/>
          <p:nvPr userDrawn="1"/>
        </p:nvSpPr>
        <p:spPr>
          <a:xfrm>
            <a:off x="0" y="0"/>
            <a:ext cx="12192000" cy="6858000"/>
          </a:xfrm>
          <a:prstGeom prst="rect">
            <a:avLst/>
          </a:prstGeom>
          <a:solidFill>
            <a:schemeClr val="accent3">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190693"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Shape 8">
            <a:extLst>
              <a:ext uri="{FF2B5EF4-FFF2-40B4-BE49-F238E27FC236}">
                <a16:creationId xmlns:a16="http://schemas.microsoft.com/office/drawing/2014/main" id="{078BA07F-7C94-9AFA-2038-DD55FC800777}"/>
              </a:ext>
            </a:extLst>
          </p:cNvPr>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97854DF9-1BDA-1F3F-13EE-EAE053AD2E6B}"/>
              </a:ex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11" name="Graphic 8">
            <a:extLst>
              <a:ext uri="{FF2B5EF4-FFF2-40B4-BE49-F238E27FC236}">
                <a16:creationId xmlns:a16="http://schemas.microsoft.com/office/drawing/2014/main" id="{1FC56091-C280-C4A4-D6A2-A3D8FE62C196}"/>
              </a:ext>
            </a:extLst>
          </p:cNvPr>
          <p:cNvSpPr/>
          <p:nvPr userDrawn="1"/>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2" name="TextBox 11">
            <a:extLst>
              <a:ext uri="{FF2B5EF4-FFF2-40B4-BE49-F238E27FC236}">
                <a16:creationId xmlns:a16="http://schemas.microsoft.com/office/drawing/2014/main" id="{216CD36E-034D-2ED2-CA63-63D1D8D37A61}"/>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633751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57261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4087186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30737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80979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97272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76129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33165225"/>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45495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76470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pic>
        <p:nvPicPr>
          <p:cNvPr id="8" name="Picture 7" descr="A blue background with many small dots&#10;&#10;Description automatically generated">
            <a:extLst>
              <a:ext uri="{FF2B5EF4-FFF2-40B4-BE49-F238E27FC236}">
                <a16:creationId xmlns:a16="http://schemas.microsoft.com/office/drawing/2014/main" id="{E09771F7-4C4F-F83E-82B8-C73B61C4C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60834"/>
          <a:stretch/>
        </p:blipFill>
        <p:spPr>
          <a:xfrm flipH="1">
            <a:off x="0" y="0"/>
            <a:ext cx="12192000" cy="2686050"/>
          </a:xfrm>
          <a:prstGeom prst="rect">
            <a:avLst/>
          </a:prstGeom>
        </p:spPr>
      </p:pic>
      <p:sp>
        <p:nvSpPr>
          <p:cNvPr id="9" name="Text Placeholder 8"/>
          <p:cNvSpPr>
            <a:spLocks noGrp="1"/>
          </p:cNvSpPr>
          <p:nvPr>
            <p:ph type="body" sz="quarter" idx="10"/>
          </p:nvPr>
        </p:nvSpPr>
        <p:spPr>
          <a:xfrm>
            <a:off x="1003200"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0888"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18576"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176264"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9233951"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4666527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670766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12921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2"/>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2566892889"/>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6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26661465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100320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88894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3896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17DCBB23-5A32-5715-5E48-6BC8808A22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4985095"/>
            <a:ext cx="5252400" cy="569387"/>
          </a:xfrm>
        </p:spPr>
        <p:txBody>
          <a:bodyPr wrap="square" anchor="b">
            <a:spAutoFit/>
          </a:bodyPr>
          <a:lstStyle>
            <a:lvl1pPr>
              <a:defRPr sz="1600">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
        <p:nvSpPr>
          <p:cNvPr id="5" name="TextBox 4">
            <a:extLst>
              <a:ext uri="{FF2B5EF4-FFF2-40B4-BE49-F238E27FC236}">
                <a16:creationId xmlns:a16="http://schemas.microsoft.com/office/drawing/2014/main" id="{55DDFC03-3866-134B-885E-66667E0C48F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270817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9B2A8602-2F79-1DD7-18AA-AC9EC9472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4985095"/>
            <a:ext cx="5252400" cy="569387"/>
          </a:xfrm>
        </p:spPr>
        <p:txBody>
          <a:bodyPr wrap="square" anchor="b">
            <a:spAutoFit/>
          </a:bodyPr>
          <a:lstStyle>
            <a:lvl1pPr>
              <a:defRPr sz="1600">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4" name="TextBox 3">
            <a:extLst>
              <a:ext uri="{FF2B5EF4-FFF2-40B4-BE49-F238E27FC236}">
                <a16:creationId xmlns:a16="http://schemas.microsoft.com/office/drawing/2014/main" id="{FCA329AC-33F4-7DF9-9F0F-8F6C8B9596C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6681694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sp>
        <p:nvSpPr>
          <p:cNvPr id="15" name="Text Placeholder 2">
            <a:extLst>
              <a:ext uri="{FF2B5EF4-FFF2-40B4-BE49-F238E27FC236}">
                <a16:creationId xmlns:a16="http://schemas.microsoft.com/office/drawing/2014/main" id="{F1A20F0E-1C86-4DC6-957F-6F65AC8C2E29}"/>
              </a:ext>
            </a:extLst>
          </p:cNvPr>
          <p:cNvSpPr>
            <a:spLocks noGrp="1"/>
          </p:cNvSpPr>
          <p:nvPr>
            <p:ph type="body" sz="quarter" idx="14"/>
          </p:nvPr>
        </p:nvSpPr>
        <p:spPr>
          <a:xfrm>
            <a:off x="741301" y="3935061"/>
            <a:ext cx="3215651" cy="119064"/>
          </a:xfrm>
        </p:spPr>
        <p:txBody>
          <a:bodyPr/>
          <a:lstStyle>
            <a:lvl1pPr>
              <a:buFontTx/>
              <a:buNone/>
              <a:defRPr sz="11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12" name="Group 11">
            <a:extLst>
              <a:ext uri="{FF2B5EF4-FFF2-40B4-BE49-F238E27FC236}">
                <a16:creationId xmlns:a16="http://schemas.microsoft.com/office/drawing/2014/main" id="{8F4182B8-7E62-44CE-AE54-C464674E18B6}"/>
              </a:ext>
            </a:extLst>
          </p:cNvPr>
          <p:cNvGrpSpPr/>
          <p:nvPr userDrawn="1"/>
        </p:nvGrpSpPr>
        <p:grpSpPr>
          <a:xfrm>
            <a:off x="750811" y="3494012"/>
            <a:ext cx="2035175" cy="373163"/>
            <a:chOff x="1584001" y="2682350"/>
            <a:chExt cx="2094546" cy="384049"/>
          </a:xfrm>
        </p:grpSpPr>
        <p:pic>
          <p:nvPicPr>
            <p:cNvPr id="13" name="Picture 12">
              <a:extLst>
                <a:ext uri="{FF2B5EF4-FFF2-40B4-BE49-F238E27FC236}">
                  <a16:creationId xmlns:a16="http://schemas.microsoft.com/office/drawing/2014/main" id="{25DDC481-4310-4B64-9A5D-208CF9409FE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4335"/>
            <a:stretch/>
          </p:blipFill>
          <p:spPr>
            <a:xfrm>
              <a:off x="1584001" y="2682350"/>
              <a:ext cx="1273500" cy="384049"/>
            </a:xfrm>
            <a:prstGeom prst="rect">
              <a:avLst/>
            </a:prstGeom>
          </p:spPr>
        </p:pic>
        <p:pic>
          <p:nvPicPr>
            <p:cNvPr id="16" name="Picture 15">
              <a:extLst>
                <a:ext uri="{FF2B5EF4-FFF2-40B4-BE49-F238E27FC236}">
                  <a16:creationId xmlns:a16="http://schemas.microsoft.com/office/drawing/2014/main" id="{66404136-6381-48A3-932A-AC26BF0178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276023" y="2682350"/>
              <a:ext cx="402524" cy="384049"/>
            </a:xfrm>
            <a:prstGeom prst="rect">
              <a:avLst/>
            </a:prstGeom>
          </p:spPr>
        </p:pic>
        <p:grpSp>
          <p:nvGrpSpPr>
            <p:cNvPr id="17" name="Group 16">
              <a:extLst>
                <a:ext uri="{FF2B5EF4-FFF2-40B4-BE49-F238E27FC236}">
                  <a16:creationId xmlns:a16="http://schemas.microsoft.com/office/drawing/2014/main" id="{AB824263-AD0D-4152-BFED-1CCF21CB8F58}"/>
                </a:ext>
              </a:extLst>
            </p:cNvPr>
            <p:cNvGrpSpPr/>
            <p:nvPr userDrawn="1"/>
          </p:nvGrpSpPr>
          <p:grpSpPr>
            <a:xfrm>
              <a:off x="2867305" y="2682351"/>
              <a:ext cx="383774" cy="383774"/>
              <a:chOff x="3296507" y="2682351"/>
              <a:chExt cx="383774" cy="383774"/>
            </a:xfrm>
          </p:grpSpPr>
          <p:sp>
            <p:nvSpPr>
              <p:cNvPr id="19" name="Freeform 5">
                <a:extLst>
                  <a:ext uri="{FF2B5EF4-FFF2-40B4-BE49-F238E27FC236}">
                    <a16:creationId xmlns:a16="http://schemas.microsoft.com/office/drawing/2014/main" id="{F49B6BE1-732C-47F7-8AC3-AD41EB4E311F}"/>
                  </a:ext>
                </a:extLst>
              </p:cNvPr>
              <p:cNvSpPr>
                <a:spLocks noEditPoints="1"/>
              </p:cNvSpPr>
              <p:nvPr userDrawn="1"/>
            </p:nvSpPr>
            <p:spPr bwMode="auto">
              <a:xfrm>
                <a:off x="3296507" y="2682351"/>
                <a:ext cx="383774" cy="3837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6">
                <a:extLst>
                  <a:ext uri="{FF2B5EF4-FFF2-40B4-BE49-F238E27FC236}">
                    <a16:creationId xmlns:a16="http://schemas.microsoft.com/office/drawing/2014/main" id="{9C076922-9A80-4B8C-AAD2-A84504263528}"/>
                  </a:ext>
                </a:extLst>
              </p:cNvPr>
              <p:cNvSpPr>
                <a:spLocks noEditPoints="1"/>
              </p:cNvSpPr>
              <p:nvPr userDrawn="1"/>
            </p:nvSpPr>
            <p:spPr bwMode="auto">
              <a:xfrm>
                <a:off x="3389916" y="2775760"/>
                <a:ext cx="196875" cy="196875"/>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Oval 7">
                <a:extLst>
                  <a:ext uri="{FF2B5EF4-FFF2-40B4-BE49-F238E27FC236}">
                    <a16:creationId xmlns:a16="http://schemas.microsoft.com/office/drawing/2014/main" id="{C440F010-AD08-48DE-A162-07A7BB051D29}"/>
                  </a:ext>
                </a:extLst>
              </p:cNvPr>
              <p:cNvSpPr>
                <a:spLocks noChangeArrowheads="1"/>
              </p:cNvSpPr>
              <p:nvPr userDrawn="1"/>
            </p:nvSpPr>
            <p:spPr bwMode="auto">
              <a:xfrm>
                <a:off x="3567723" y="2748727"/>
                <a:ext cx="46101" cy="46101"/>
              </a:xfrm>
              <a:prstGeom prst="ellipse">
                <a:avLst/>
              </a:pr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0946870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US" sz="1000" b="0" noProof="0">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582662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blue background with many small dots&#10;&#10;Description automatically generated">
            <a:extLst>
              <a:ext uri="{FF2B5EF4-FFF2-40B4-BE49-F238E27FC236}">
                <a16:creationId xmlns:a16="http://schemas.microsoft.com/office/drawing/2014/main" id="{E349E20F-9313-4293-8F58-5EC79FE8652C}"/>
              </a:ext>
            </a:extLst>
          </p:cNvPr>
          <p:cNvPicPr>
            <a:picLocks noChangeAspect="1"/>
          </p:cNvPicPr>
          <p:nvPr userDrawn="1"/>
        </p:nvPicPr>
        <p:blipFill rotWithShape="1">
          <a:blip r:embed="rId31">
            <a:extLst>
              <a:ext uri="{28A0092B-C50C-407E-A947-70E740481C1C}">
                <a14:useLocalDpi xmlns:a14="http://schemas.microsoft.com/office/drawing/2010/main" val="0"/>
              </a:ext>
            </a:extLst>
          </a:blip>
          <a:srcRect t="92354"/>
          <a:stretch/>
        </p:blipFill>
        <p:spPr>
          <a:xfrm flipH="1">
            <a:off x="0" y="6333652"/>
            <a:ext cx="12192000" cy="524348"/>
          </a:xfrm>
          <a:prstGeom prst="rect">
            <a:avLst/>
          </a:prstGeom>
        </p:spPr>
      </p:pic>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TextBox 5">
            <a:extLst>
              <a:ext uri="{FF2B5EF4-FFF2-40B4-BE49-F238E27FC236}">
                <a16:creationId xmlns:a16="http://schemas.microsoft.com/office/drawing/2014/main" id="{539FD60A-3D83-FC03-546F-E0F543CA3942}"/>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35934606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r>
              <a:rPr sz="3200"/>
              <a:t>API Credential Encryption Tool — CloudPage</a:t>
            </a:r>
          </a:p>
        </p:txBody>
      </p:sp>
      <p:sp>
        <p:nvSpPr>
          <p:cNvPr id="3" name="Text Placeholder 2"/>
          <p:cNvSpPr>
            <a:spLocks noGrp="1"/>
          </p:cNvSpPr>
          <p:nvPr>
            <p:ph type="body" idx="11" sz="quarter"/>
          </p:nvPr>
        </p:nvSpPr>
        <p:spPr/>
        <p:txBody>
          <a:bodyPr wrap="square">
            <a:normAutofit/>
          </a:bodyPr>
          <a:lstStyle/>
          <a:p>
            <a:r>
              <a:t>Developer: Himanshu Gupta</a:t>
            </a:r>
          </a:p>
        </p:txBody>
      </p:sp>
      <p:sp>
        <p:nvSpPr>
          <p:cNvPr id="4" name="Text Placeholder 3"/>
          <p:cNvSpPr>
            <a:spLocks noGrp="1"/>
          </p:cNvSpPr>
          <p:nvPr>
            <p:ph type="body" idx="12" sz="quarter"/>
          </p:nvPr>
        </p:nvSpPr>
        <p:spPr/>
        <p:txBody>
          <a:bodyPr wrap="square">
            <a:normAutofit/>
          </a:bodyPr>
          <a:lstStyle/>
          <a:p>
            <a:r>
              <a:t>GEE-19032 (Related) | New Story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r>
              <a:rPr b="1" sz="1600"/>
              <a:t>Description</a:t>
            </a:r>
          </a:p>
          <a:p>
            <a:r>
              <a:rPr b="0" sz="1300"/>
              <a:t>As the technical product manager, I want an API credential encryption tool developed, so that it can be used to generate encrypted Marketing Cloud API credentials and manage the creation and update of client secrets. Salesforce has recently enforced a 180-day expiration for client secrets.</a:t>
            </a:r>
          </a:p>
          <a:p>
            <a:r>
              <a:rPr b="0" sz="800"/>
              <a:t/>
            </a:r>
          </a:p>
          <a:p>
            <a:r>
              <a:rPr b="1" sz="1600"/>
              <a:t>Marketing Cloud Updates</a:t>
            </a:r>
          </a:p>
          <a:p>
            <a:r>
              <a:rPr b="0" sz="1300"/>
              <a:t>• Data Extension: ENT.API_Details (Existing)</a:t>
            </a:r>
          </a:p>
          <a:p>
            <a:r>
              <a:rPr b="0" sz="1300"/>
              <a:t>• Data Extension: API_Credential_Audit_Log (New)</a:t>
            </a:r>
          </a:p>
          <a:p>
            <a:r>
              <a:rPr b="0" sz="1300"/>
              <a:t>• CloudPage: API Credential Encryption Tool (New)</a:t>
            </a:r>
          </a:p>
          <a:p>
            <a:r>
              <a:rPr b="0" sz="800"/>
              <a:t/>
            </a:r>
          </a:p>
          <a:p>
            <a:r>
              <a:rPr b="0" sz="1200"/>
              <a:t>Access is gated by verifying the entered email against an active Salesforce User record before any Add/Update action is processed.</a:t>
            </a:r>
          </a:p>
        </p:txBody>
      </p:sp>
      <p:sp>
        <p:nvSpPr>
          <p:cNvPr id="3" name="Title 2"/>
          <p:cNvSpPr>
            <a:spLocks noGrp="1"/>
          </p:cNvSpPr>
          <p:nvPr>
            <p:ph type="title"/>
          </p:nvPr>
        </p:nvSpPr>
        <p:spPr/>
        <p:txBody>
          <a:bodyPr wrap="square">
            <a:normAutofit/>
          </a:bodyPr>
          <a:lstStyle/>
          <a:p>
            <a:r>
              <a:t>API Credential Encryption Tool — Overview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r>
              <a:rPr b="0" sz="1300"/>
              <a:t>The API Credential Encryption Tool CloudPage has been configured to perform the following functions:</a:t>
            </a:r>
          </a:p>
          <a:p>
            <a:r>
              <a:rPr b="0" sz="1250"/>
              <a:t>• Capture an email address and verify it against Salesforce as an active User (RetrieveSalesforceObjects) before allowing any further action.</a:t>
            </a:r>
          </a:p>
          <a:p>
            <a:r>
              <a:rPr b="0" sz="1250"/>
              <a:t>• Present a guided flow: Verify Email → Choose Add or Update → Enter Details → Confirmation.</a:t>
            </a:r>
          </a:p>
          <a:p>
            <a:r>
              <a:rPr b="0" sz="1250"/>
              <a:t>• On Add: validate all required fields, confirm the Package Name doesn't already exist, encrypt the Client ID, Client Secret, Authentication Base URI and REST Base URI (AES, via the same EncryptSymmetric method already used across other CloudPages), and insert a new record into ENT.API_Details.</a:t>
            </a:r>
          </a:p>
          <a:p>
            <a:r>
              <a:rPr b="0" sz="1250"/>
              <a:t>• On Update: confirm the Package Name exists, encrypt only the new Client Secret, and update just the Encrypted Client Secret, Client Secret Expiration Date and Last Modified Date fields — nothing else on the record is touched.</a:t>
            </a:r>
          </a:p>
          <a:p>
            <a:r>
              <a:rPr b="0" sz="1250"/>
              <a:t>• Write an entry to the new API_Credential_Audit_Log Data Extension for every attempt — successful, failed, or denied — capturing who, what action, which package, when, and the outcome.</a:t>
            </a:r>
          </a:p>
          <a:p>
            <a:r>
              <a:rPr b="0" sz="1250"/>
              <a:t>• Redirect to a fresh page after a successful save (POST/Redirect/GET) so refreshing the browser can never resubmit or duplicate an action.</a:t>
            </a:r>
          </a:p>
          <a:p>
            <a:r>
              <a:rPr b="0" sz="1250"/>
              <a:t>• Send Cache-Control / Pragma / Expires headers so no browser, proxy, or CDN ever caches a response containing another user's result.</a:t>
            </a:r>
          </a:p>
        </p:txBody>
      </p:sp>
      <p:sp>
        <p:nvSpPr>
          <p:cNvPr id="3" name="Title 2"/>
          <p:cNvSpPr>
            <a:spLocks noGrp="1"/>
          </p:cNvSpPr>
          <p:nvPr>
            <p:ph type="title"/>
          </p:nvPr>
        </p:nvSpPr>
        <p:spPr/>
        <p:txBody>
          <a:bodyPr wrap="square">
            <a:normAutofit/>
          </a:bodyPr>
          <a:lstStyle/>
          <a:p>
            <a:r>
              <a:t>CloudPage: API Credential Encryption Tool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594360" y="1051560"/>
            <a:ext cx="5120640" cy="5120640"/>
          </a:xfrm>
        </p:spPr>
        <p:txBody>
          <a:bodyPr wrap="square"/>
          <a:lstStyle/>
          <a:p>
            <a:r>
              <a:rPr b="0" sz="1300"/>
              <a:t>The user enters their email address. On submit, the page checks it against Salesforce (RetrieveSalesforceObjects) for an active User match before anything else can happen.</a:t>
            </a:r>
          </a:p>
          <a:p>
            <a:r>
              <a:rPr b="0" sz="1050"/>
              <a:t>Preview note: these screens are rendered directly from the approved CloudPage code — there is no deployed Marketing Cloud environment yet to capture live screenshots from, so this shows exactly what the code produces rather than a staged mock-up.</a:t>
            </a:r>
          </a:p>
        </p:txBody>
      </p:sp>
      <p:sp>
        <p:nvSpPr>
          <p:cNvPr id="3" name="Title 2"/>
          <p:cNvSpPr>
            <a:spLocks noGrp="1"/>
          </p:cNvSpPr>
          <p:nvPr>
            <p:ph type="title"/>
          </p:nvPr>
        </p:nvSpPr>
        <p:spPr/>
        <p:txBody>
          <a:bodyPr wrap="square">
            <a:normAutofit/>
          </a:bodyPr>
          <a:lstStyle/>
          <a:p>
            <a:r>
              <a:t>Test Results — Step 1: Verify Email</a:t>
            </a:r>
          </a:p>
        </p:txBody>
      </p:sp>
      <p:pic>
        <p:nvPicPr>
          <p:cNvPr id="4" name="Picture 3" descr="1_email.png"/>
          <p:cNvPicPr>
            <a:picLocks noChangeAspect="1"/>
          </p:cNvPicPr>
          <p:nvPr/>
        </p:nvPicPr>
        <p:blipFill>
          <a:blip r:embed="rId2"/>
          <a:stretch>
            <a:fillRect/>
          </a:stretch>
        </p:blipFill>
        <p:spPr>
          <a:xfrm>
            <a:off x="6172200" y="1706728"/>
            <a:ext cx="5760720" cy="381030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594360" y="1051560"/>
            <a:ext cx="5120640" cy="5120640"/>
          </a:xfrm>
        </p:spPr>
        <p:txBody>
          <a:bodyPr wrap="square"/>
          <a:lstStyle/>
          <a:p>
            <a:r>
              <a:rPr b="0" sz="1300"/>
              <a:t>If the email doesn't match an active Salesforce user, an inline error is shown, the user stays on this screen, and an "Access Denied" entry is logged to the audit trail.</a:t>
            </a:r>
          </a:p>
        </p:txBody>
      </p:sp>
      <p:sp>
        <p:nvSpPr>
          <p:cNvPr id="3" name="Title 2"/>
          <p:cNvSpPr>
            <a:spLocks noGrp="1"/>
          </p:cNvSpPr>
          <p:nvPr>
            <p:ph type="title"/>
          </p:nvPr>
        </p:nvSpPr>
        <p:spPr/>
        <p:txBody>
          <a:bodyPr wrap="square">
            <a:normAutofit/>
          </a:bodyPr>
          <a:lstStyle/>
          <a:p>
            <a:r>
              <a:t>Test Results — Unverified Email</a:t>
            </a:r>
          </a:p>
        </p:txBody>
      </p:sp>
      <p:pic>
        <p:nvPicPr>
          <p:cNvPr id="4" name="Picture 3" descr="2_email_error.png"/>
          <p:cNvPicPr>
            <a:picLocks noChangeAspect="1"/>
          </p:cNvPicPr>
          <p:nvPr/>
        </p:nvPicPr>
        <p:blipFill>
          <a:blip r:embed="rId2"/>
          <a:stretch>
            <a:fillRect/>
          </a:stretch>
        </p:blipFill>
        <p:spPr>
          <a:xfrm>
            <a:off x="6172200" y="1385773"/>
            <a:ext cx="5760720" cy="445221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594360" y="1051560"/>
            <a:ext cx="5120640" cy="5120640"/>
          </a:xfrm>
        </p:spPr>
        <p:txBody>
          <a:bodyPr wrap="square"/>
          <a:lstStyle/>
          <a:p>
            <a:r>
              <a:rPr b="0" sz="1300"/>
              <a:t>Once verified, a green confirmation pill stays visible while the user chooses to either add a brand-new package or update an existing one.</a:t>
            </a:r>
          </a:p>
        </p:txBody>
      </p:sp>
      <p:sp>
        <p:nvSpPr>
          <p:cNvPr id="3" name="Title 2"/>
          <p:cNvSpPr>
            <a:spLocks noGrp="1"/>
          </p:cNvSpPr>
          <p:nvPr>
            <p:ph type="title"/>
          </p:nvPr>
        </p:nvSpPr>
        <p:spPr/>
        <p:txBody>
          <a:bodyPr wrap="square">
            <a:normAutofit/>
          </a:bodyPr>
          <a:lstStyle/>
          <a:p>
            <a:r>
              <a:t>Test Results — Step 2: Choose an Action</a:t>
            </a:r>
          </a:p>
        </p:txBody>
      </p:sp>
      <p:pic>
        <p:nvPicPr>
          <p:cNvPr id="4" name="Picture 3" descr="3_choose.png"/>
          <p:cNvPicPr>
            <a:picLocks noChangeAspect="1"/>
          </p:cNvPicPr>
          <p:nvPr/>
        </p:nvPicPr>
        <p:blipFill>
          <a:blip r:embed="rId2"/>
          <a:stretch>
            <a:fillRect/>
          </a:stretch>
        </p:blipFill>
        <p:spPr>
          <a:xfrm>
            <a:off x="6172200" y="1665580"/>
            <a:ext cx="5760720" cy="3892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594360" y="1051560"/>
            <a:ext cx="5120640" cy="5120640"/>
          </a:xfrm>
        </p:spPr>
        <p:txBody>
          <a:bodyPr wrap="square"/>
          <a:lstStyle/>
          <a:p>
            <a:r>
              <a:rPr b="0" sz="1300"/>
              <a:t>All fields are required. Client ID, Client Secret, Authentication Base URI and REST Base URI are AES-encrypted immediately before the record is saved to ENT.API_Details.</a:t>
            </a:r>
          </a:p>
        </p:txBody>
      </p:sp>
      <p:sp>
        <p:nvSpPr>
          <p:cNvPr id="3" name="Title 2"/>
          <p:cNvSpPr>
            <a:spLocks noGrp="1"/>
          </p:cNvSpPr>
          <p:nvPr>
            <p:ph type="title"/>
          </p:nvPr>
        </p:nvSpPr>
        <p:spPr/>
        <p:txBody>
          <a:bodyPr wrap="square">
            <a:normAutofit/>
          </a:bodyPr>
          <a:lstStyle/>
          <a:p>
            <a:r>
              <a:t>Test Results — Step 3a: Add New Package</a:t>
            </a:r>
          </a:p>
        </p:txBody>
      </p:sp>
      <p:pic>
        <p:nvPicPr>
          <p:cNvPr id="4" name="Picture 3" descr="4_add.png"/>
          <p:cNvPicPr>
            <a:picLocks noChangeAspect="1"/>
          </p:cNvPicPr>
          <p:nvPr/>
        </p:nvPicPr>
        <p:blipFill>
          <a:blip r:embed="rId2"/>
          <a:stretch>
            <a:fillRect/>
          </a:stretch>
        </p:blipFill>
        <p:spPr>
          <a:xfrm>
            <a:off x="6172200" y="1051560"/>
            <a:ext cx="3149778" cy="51206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594360" y="1051560"/>
            <a:ext cx="5120640" cy="5120640"/>
          </a:xfrm>
        </p:spPr>
        <p:txBody>
          <a:bodyPr wrap="square"/>
          <a:lstStyle/>
          <a:p>
            <a:r>
              <a:rPr b="0" sz="1300"/>
              <a:t>Only the Package Name, new Client Secret and new Expiration Date are captured — every other field already on that record is left untouched.</a:t>
            </a:r>
          </a:p>
        </p:txBody>
      </p:sp>
      <p:sp>
        <p:nvSpPr>
          <p:cNvPr id="3" name="Title 2"/>
          <p:cNvSpPr>
            <a:spLocks noGrp="1"/>
          </p:cNvSpPr>
          <p:nvPr>
            <p:ph type="title"/>
          </p:nvPr>
        </p:nvSpPr>
        <p:spPr/>
        <p:txBody>
          <a:bodyPr wrap="square">
            <a:normAutofit/>
          </a:bodyPr>
          <a:lstStyle/>
          <a:p>
            <a:r>
              <a:t>Test Results — Step 3b: Update Existing Package</a:t>
            </a:r>
          </a:p>
        </p:txBody>
      </p:sp>
      <p:pic>
        <p:nvPicPr>
          <p:cNvPr id="4" name="Picture 3" descr="5_update.png"/>
          <p:cNvPicPr>
            <a:picLocks noChangeAspect="1"/>
          </p:cNvPicPr>
          <p:nvPr/>
        </p:nvPicPr>
        <p:blipFill>
          <a:blip r:embed="rId2"/>
          <a:stretch>
            <a:fillRect/>
          </a:stretch>
        </p:blipFill>
        <p:spPr>
          <a:xfrm>
            <a:off x="6172200" y="1051560"/>
            <a:ext cx="5127965" cy="51206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594360" y="1051560"/>
            <a:ext cx="5120640" cy="5120640"/>
          </a:xfrm>
        </p:spPr>
        <p:txBody>
          <a:bodyPr wrap="square"/>
          <a:lstStyle/>
          <a:p>
            <a:r>
              <a:rPr b="0" sz="1300"/>
              <a:t>On success, the browser is redirected to this confirmation screen. Refreshing the browser here cannot resubmit or duplicate the action (POST/Redirect/GET).</a:t>
            </a:r>
          </a:p>
        </p:txBody>
      </p:sp>
      <p:sp>
        <p:nvSpPr>
          <p:cNvPr id="3" name="Title 2"/>
          <p:cNvSpPr>
            <a:spLocks noGrp="1"/>
          </p:cNvSpPr>
          <p:nvPr>
            <p:ph type="title"/>
          </p:nvPr>
        </p:nvSpPr>
        <p:spPr/>
        <p:txBody>
          <a:bodyPr wrap="square">
            <a:normAutofit/>
          </a:bodyPr>
          <a:lstStyle/>
          <a:p>
            <a:r>
              <a:t>Test Results — Confirmation</a:t>
            </a:r>
          </a:p>
        </p:txBody>
      </p:sp>
      <p:pic>
        <p:nvPicPr>
          <p:cNvPr id="4" name="Picture 3" descr="6_done.png"/>
          <p:cNvPicPr>
            <a:picLocks noChangeAspect="1"/>
          </p:cNvPicPr>
          <p:nvPr/>
        </p:nvPicPr>
        <p:blipFill>
          <a:blip r:embed="rId2"/>
          <a:stretch>
            <a:fillRect/>
          </a:stretch>
        </p:blipFill>
        <p:spPr>
          <a:xfrm>
            <a:off x="6172200" y="1500988"/>
            <a:ext cx="5760720" cy="4221784"/>
          </a:xfrm>
          <a:prstGeom prst="rect">
            <a:avLst/>
          </a:prstGeom>
        </p:spPr>
      </p:pic>
    </p:spTree>
  </p:cSld>
  <p:clrMapOvr>
    <a:masterClrMapping/>
  </p:clrMapOvr>
</p:sld>
</file>

<file path=ppt/theme/theme1.xml><?xml version="1.0" encoding="utf-8"?>
<a:theme xmlns:a="http://schemas.openxmlformats.org/drawingml/2006/main" name="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KPMG Widescreen Standard Template.potx" id="{383F1974-0399-428C-9939-D1E0A82C8A69}" vid="{3A2833AF-76FB-43DE-A3D4-20538A7057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2071</Words>
  <Application>Microsoft Office PowerPoint</Application>
  <PresentationFormat>Widescreen</PresentationFormat>
  <Paragraphs>184</Paragraphs>
  <Slides>39</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Narrow</vt:lpstr>
      <vt:lpstr>Arial</vt:lpstr>
      <vt:lpstr>KPMG Bold</vt:lpstr>
      <vt:lpstr>Times New Roman</vt:lpstr>
      <vt:lpstr>KPMG Widescreen [16:9] Feb 2022</vt:lpstr>
      <vt:lpstr>&lt;DEV&gt; Implement POC for Internal Centralized Form Processor backend CloudPage</vt:lpstr>
      <vt:lpstr>Overview</vt:lpstr>
      <vt:lpstr>Data Extension Changes: InternalFormProcessor_DE </vt:lpstr>
      <vt:lpstr>Cloud Page: CentralizedFormProcessor-Internal</vt:lpstr>
      <vt:lpstr>Cloud Page: CentralizedFormProcessor-Backend</vt:lpstr>
      <vt:lpstr>Test Results</vt:lpstr>
      <vt:lpstr>Test Results</vt:lpstr>
      <vt:lpstr>Test Results</vt:lpstr>
      <vt:lpstr>Test Results</vt:lpstr>
      <vt:lpstr>Test Results</vt:lpstr>
      <vt:lpstr>Test Results</vt:lpstr>
      <vt:lpstr>Test Results</vt:lpstr>
      <vt:lpstr>Test Results</vt:lpstr>
      <vt:lpstr>Test Results</vt:lpstr>
      <vt:lpstr>Test Results</vt:lpstr>
      <vt:lpstr>Test Results</vt:lpstr>
      <vt:lpstr>Update Opt In Pending Statuses to "Opt In" when subscribers engage via - Preference Page</vt:lpstr>
      <vt:lpstr>Overview</vt:lpstr>
      <vt:lpstr>Cloud Page: Preferences-Processor </vt:lpstr>
      <vt:lpstr>Test Results</vt:lpstr>
      <vt:lpstr>Test Results</vt:lpstr>
      <vt:lpstr>Test Results</vt:lpstr>
      <vt:lpstr>Test Results</vt:lpstr>
      <vt:lpstr>Test Results</vt:lpstr>
      <vt:lpstr>Test Results</vt:lpstr>
      <vt:lpstr>Update Source to "Preference Page" for existing self-enrolled preferences if Source is null</vt:lpstr>
      <vt:lpstr>Overview</vt:lpstr>
      <vt:lpstr>Cloud Page: Preferences-Processor </vt:lpstr>
      <vt:lpstr>Test Results</vt:lpstr>
      <vt:lpstr>Test Results</vt:lpstr>
      <vt:lpstr>Test Results</vt:lpstr>
      <vt:lpstr>Test Results</vt:lpstr>
      <vt:lpstr>Test Results</vt:lpstr>
      <vt:lpstr>Test Results</vt:lpstr>
      <vt:lpstr>Test Results</vt:lpstr>
      <vt:lpstr>Test Results</vt:lpstr>
      <vt:lpstr>Test Results</vt:lpstr>
      <vt:lpstr>Test Results</vt:lpstr>
      <vt:lpstr>Test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Gupta, Himanshu</dc:creator>
  <cp:lastModifiedBy>Gupta, Himanshu</cp:lastModifiedBy>
  <cp:revision>1</cp:revision>
  <dcterms:created xsi:type="dcterms:W3CDTF">2026-08-17T08:19:47Z</dcterms:created>
  <dcterms:modified xsi:type="dcterms:W3CDTF">2026-08-17T08:22:05Z</dcterms:modified>
</cp:coreProperties>
</file>