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7498080" cy="5148072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2377440"/>
            <a:ext cx="749808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Deletion Phase 2: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Contact Deletion Automation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Gupta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Marketing Cloud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Engage Enhancement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Delivery — GEE-55805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4389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 |  Himanshu Gupta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data management lead, I want a new weekly contact deletion automation that covers all criteria for deletion and addresses new opt-ins of deleted contacts.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automation replaces the existing monthly ContactDelete_Combined automation and the Duplicate Delete Data Archive automation.</a:t>
            </a:r>
            <a:endParaRPr lang="en-US" sz="1300" dirty="0"/>
          </a:p>
          <a:p>
            <a:pPr marL="254000" indent="-254000">
              <a:buSzPct val="100000"/>
              <a:buChar char="•"/>
            </a:pPr>
            <a:endParaRPr lang="en-US" sz="1300" dirty="0"/>
          </a:p>
          <a:p>
            <a:pPr marL="254000" indent="-254000">
              <a:buSzPct val="100000"/>
              <a:buChar char="•"/>
            </a:pPr>
            <a:r>
              <a:rPr lang="en-US" sz="13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Cloud Updates:</a:t>
            </a:r>
            <a:endParaRPr lang="en-US" sz="1300" dirty="0"/>
          </a:p>
          <a:p>
            <a:pPr lvl="1" marL="1016000" indent="-5080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(New):  GEE-55805 — Weekly Contact Deletion</a:t>
            </a:r>
            <a:endParaRPr lang="en-US" sz="1300" dirty="0"/>
          </a:p>
          <a:p>
            <a:pPr lvl="1" marL="1016000" indent="-5080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DEs (New):  DeleteEmailExclusionList, SubsCache, MasterSentLog_DistinctEmails, DuplicateEmailstoDelete, Duplicate Emails to Delete Temp, Duplicate Emails to Delete ACTUAL, Duplicate Emails to Delete EXCLUDED, Duplicate Emails Summary</a:t>
            </a:r>
            <a:endParaRPr lang="en-US" sz="1300" dirty="0"/>
          </a:p>
          <a:p>
            <a:pPr lvl="1" marL="1016000" indent="-5080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DE (Existing):  ContactDeleteArchive_PreviouslyDeleted</a:t>
            </a:r>
            <a:endParaRPr lang="en-US" sz="1300" dirty="0"/>
          </a:p>
          <a:p>
            <a:pPr marL="254000" indent="-254000">
              <a:buSzPct val="100000"/>
              <a:buChar char="•"/>
            </a:pPr>
            <a:endParaRPr lang="en-US" sz="1300" dirty="0"/>
          </a:p>
          <a:p>
            <a:pPr marL="254000" indent="-254000">
              <a:buSzPct val="100000"/>
              <a:buChar char="•"/>
            </a:pPr>
            <a:r>
              <a:rPr lang="en-US" sz="13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</a:t>
            </a:r>
            <a:endParaRPr lang="en-US" sz="1300" dirty="0"/>
          </a:p>
          <a:p>
            <a:pPr lvl="1" marL="1016000" indent="-5080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GEE-53015 — One-time Contact Deletion (Prerequisite)</a:t>
            </a:r>
            <a:endParaRPr lang="en-US" sz="1300" dirty="0"/>
          </a:p>
          <a:p>
            <a:pPr lvl="1" marL="1016000" indent="-5080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GEE-58044 — Auto-Suppression List Creation (Prerequisite)</a:t>
            </a:r>
            <a:endParaRPr lang="en-US" sz="1300" dirty="0"/>
          </a:p>
          <a:p>
            <a:pPr lvl="1" marL="1016000" indent="-5080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Update Automation  |  Hard Bounce Suppression Automation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Criteria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meeting ANY of the following 7 criteria are included in the weekly deletion run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1 —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 — No Channel Address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is in 'Contacts without Channel Addresses' DE (email orphan @, User orphan 005%, Contact orphan 003%, Lead orphan 00Q%)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 — No Longer Synchronized from Sales Cloud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ContactKey (003/00Q/005) has no match in Contact_Salesforce_5, Lead_Salesforce_5, or User_Salesforce_5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3 — Duplicate Email Key, Active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email appears &gt; 1 time in _Subscribers, Status = Active, no CPE SF ID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4 — Duplicate Email Key, Not Active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Criterion 3 but Status = Unsubscribed / Held / Bounced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5 — 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6002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5 — Single Email Key, Active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appears once in _Subscribers, Status = Active, no CPE SF ID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 — Single Email Key, Not Active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Criterion 5 but Status = Unsubscribed / Held / Bounced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7 — Not Sent to in Last 180 Days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subscriber, no CPE SF ID, no send event in MasterSentLog in last 180 days, not already in deletion staging DE, not Held or Unsubscribed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Exclusion: Any contact on DeleteEmailExclusionList is protected from deletion regardless of criterion match.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Design — Step Sequence (Steps 1–17)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— Weekly Contact Deletion  |  Scheduled: Sunday 3:30 AM  |  49 total steps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389120"/>
                <a:gridCol w="2194560"/>
                <a:gridCol w="4206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— All Working 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Activity (SSJS)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Clears 8 working DEs via WSProxy ClearData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— Exclusion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DeleteEmailExclusionList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— MasterSentLog Distinct Emails (180 days)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MasterSentLog_DistinctEmails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— Subscriber Count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SubsCache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Dup Email Active  (Criterion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Dup Email Not Active  (Criterion 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Email Orphans @ in ContactKey  (Crit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User Orphans 005%  (Criteria 1+2)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Contact Orphans 003%  (Criteria 1+2)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Lead Orphans 00Q%  (Criteria 1+2)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Email Active, No SF ID  (Criterion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Email Not Active, No SF ID  (Crit 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— 5 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DE commit before stale email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— Stale Emails not sent in 180 days (Crit 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DuplicateEmailstoDelete  |  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— Apply Exclusion List → Temp 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 Emails to Delete Temp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— ACTUAL  (Active = 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 Emails to Delete ACTUAL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— EXCLUDED  (Active = 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 Emails to Delete EXCLUDED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— Count by Origin  (QA)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Duplicate Emails Summary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Design — Step Sequence (Steps 18–49)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— Weekly Contact Deletion  |  Continuation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389120"/>
                <a:gridCol w="2194560"/>
                <a:gridCol w="4206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AUTO-SUPPRESS — Add Not-Active contacts to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Activity (SSJS)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UpsertData into Auto-Suppression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AUTO-SUPPRESS — Remove re-activated contacts from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Activity (SSJS)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DeleteData from Auto-Suppression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— Subscribers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Subcribers_Archive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— 25 Business DEs  (replaces DDDA automation)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Queries ×25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Respective _ARCHIVE DEs  | 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 — Append to ContactDeleteArchive_PreviouslyDeleted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ContactDeleteArchive_PreviouslyDeleted  |  Append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— SFTP File Transfer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Transfer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SFTP → Marketing Cloud Exports (Temp DE + Summary)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— REST API Contact Delete  (Temp DE)  ← 0-day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Activity (SSJS)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/contacts/v1/contacts/actions/delete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changes from the reference automation (David's code) — do not revert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cadence (was monthly)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per-run volume, tighter hygiene, faster runtime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consolidated automation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both DDDA and Duplicate Emails to Delete automations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list applied centrally at Step 14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 EXISTS filter covers all 8 collection queries — not scattered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180-day window corrected on stale email query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automation had NO date filter on _Sent join — corrected to DATEADD(DAY,-180,GETDATE())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MasterSentLog used for stale check (Step 13)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than _Sent data view — immune to subscriber overwrite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6002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Bounce + Unsubscribe DEs as status source of truth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Hard_Bounce_Suppression_List (Held) + Unsubscribe_From_All_Preferences (Unsubscribed) used instead of _Subscribers.Status in Step 13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join uses OR condition in Step 13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both SF-ID-keyed and email-address-keyed subscribers to prevent false positives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DE used in Step 48 (not ACTUAL)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DE has both Active=Y and Active=N — ensures all candidates are deleted not just active ones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49 removed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candidates consolidated into single Temp DE — second delete call redundant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credentials as placeholders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reuse reference automation credentials — BU-specific values must be confirmed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Auto-Suppression List Management  &amp;  Scheduling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GEE-58044 alignment  |  Scenario 4 — Consent and Hard Bounce dependency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Auto-Suppression (Steps 18–19)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18 — Add Not-Active contacts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contacts in EXCLUDED DE (Active = N) are added to the enterprise auto-suppression list via UpsertData before deletion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19 — Remove re-activated contacts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on suppression list that are now Active in _Subscribers AND not in current deletion set are removed — handles 'new opt-ins of deleted contacts' requirement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Cloud is NOT affected at any point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48 deletes from SFMC All Contacts only — ContactAndAttributes operation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ContactDeleteArchive_PreviouslyDeleted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before deletion (Step 46) — permanent audit trail — never cleared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6616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(3:30 AM Sunday)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6002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Update Automation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1:07 AM, every 6 hours, avg runtime 1hr 5min → completes ~2:12 AM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Bounce Automation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12:11 AM, every 2 hours, avg runtime 30min → 2:11 AM cycle completes ~2:41 AM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starts at 3:30 AM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min after Consent Update complete. 49 min after Hard Bounce complete.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edge case — accepted by business</a:t>
            </a:r>
            <a:endParaRPr lang="en-US" sz="1100" dirty="0"/>
          </a:p>
          <a:p>
            <a:pPr lvl="1" marL="381000" indent="-1905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unsubscribing between 2:12 AM–2:41 AM have extremely low probability of being in deletion set. Documented and accepted by Bill, Clark, and Gavin 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18872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Snapshots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DEs populated before automation run — staging DE contains test records for all 7 deletion criteria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DuplicateEmailstoDelete staging DE — test records inserted for all origins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DeleteEmailExclusionList — test exclusion record inserted (test.excluded@kpmg.com)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MasterSentLog_DistinctEmails built (Step 2.5) and SubsCache populated (Step 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MasterSentLog_DistinctEmails — distinct emails sent in last 180 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SubsCache — EmailAddress and Counter populated from _Subscribers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Emails to Delete EXCLUDED DE populated (Active = N records) before Step 18 runs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EXCLUDED DE — test.delete@kpmg.com present with Active = N before suppression step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Auto-Suppression List — test.delete@kpmg.com NOT yet present (before Step 18)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18872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Snapshots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TC-001 / TC-002 — Exclusion list filter (Step 14) working correctly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Duplicate Emails to Delete Temp — test.excluded@kpmg.com ABSENT (excluded correctly)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Duplicate Emails to Delete Temp — test.delete@kpmg.com PRESENT (non-excluded record passes through)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TC-003 — Step 18 SSJS script successfully adds Not-Active contacts to Auto-Suppression List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Step 18 script activity log — Added count &gt; 0, Errors =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Auto-Suppression List — test.delete@kpmg.com NOW present after Step 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TC-004 — Step 46 archive appended before deletion — ContactDeleteArchive_PreviouslyDeleted populated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ContactDeleteArchive_PreviouslyDeleted — test.delete@kpmg.com with correct DeleteDate and DeleteReason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SFTP export — Duplicate Emails to Delete Temp CSV file present in Marketing Cloud Exports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TC-004 — Step 48 REST API Contact Delete — contacts removed from SFMC All Contacts with 0-day suppression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Step 48 script activity log — API returns 200 OK / 202 Accepted response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All Contacts (Contact Builder) — test.delete@kpmg.com ABSENT after deletion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1887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Snapshots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Cloud record untouched + Temp DE cleared after deletion (deleteListContentsWhenCompleted = true)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Sales Cloud — Contact/Lead/User record intact and unmodified after Step 48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5486400" cy="3520440"/>
          </a:xfrm>
          <a:prstGeom prst="rect">
            <a:avLst/>
          </a:prstGeom>
          <a:solidFill>
            <a:srgbClr val="F4F9FF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Duplicate Emails to Delete Temp DE — empty after deletion completes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11887200" cy="3017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64608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  |  Capgemini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51480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3172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1188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188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GEE-55805  |  Contact Deletion Phase 2 — Weekly Contact Deletion Automation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329184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Gupta  |  Capgemini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Capgemini / 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Himanshu Gupta</dc:creator>
  <cp:lastModifiedBy>Himanshu Gupta</cp:lastModifiedBy>
  <cp:revision>1</cp:revision>
  <dcterms:created xsi:type="dcterms:W3CDTF">2026-07-15T07:14:47Z</dcterms:created>
  <dcterms:modified xsi:type="dcterms:W3CDTF">2026-07-15T07:14:47Z</dcterms:modified>
</cp:coreProperties>
</file>