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F4E79"/>
          </a:solidFill>
          <a:ln/>
        </p:spPr>
      </p:sp>
      <p:sp>
        <p:nvSpPr>
          <p:cNvPr id="3" name="Shape 1"/>
          <p:cNvSpPr/>
          <p:nvPr/>
        </p:nvSpPr>
        <p:spPr>
          <a:xfrm>
            <a:off x="0" y="3017520"/>
            <a:ext cx="12188952" cy="64008"/>
          </a:xfrm>
          <a:prstGeom prst="rect">
            <a:avLst/>
          </a:prstGeom>
          <a:solidFill>
            <a:srgbClr val="2E75B6"/>
          </a:solidFill>
          <a:ln/>
        </p:spPr>
      </p:sp>
      <p:sp>
        <p:nvSpPr>
          <p:cNvPr id="4" name="Shape 2"/>
          <p:cNvSpPr/>
          <p:nvPr/>
        </p:nvSpPr>
        <p:spPr>
          <a:xfrm>
            <a:off x="0" y="6217920"/>
            <a:ext cx="12188952" cy="54864"/>
          </a:xfrm>
          <a:prstGeom prst="rect">
            <a:avLst/>
          </a:prstGeom>
          <a:solidFill>
            <a:srgbClr val="2E75B6"/>
          </a:solidFill>
          <a:ln/>
        </p:spPr>
      </p:sp>
      <p:sp>
        <p:nvSpPr>
          <p:cNvPr id="5" name="Text 3"/>
          <p:cNvSpPr/>
          <p:nvPr/>
        </p:nvSpPr>
        <p:spPr>
          <a:xfrm>
            <a:off x="548640" y="2377440"/>
            <a:ext cx="10972800" cy="109728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Contact Deletion</a:t>
            </a:r>
            <a:endParaRPr lang="en-US" sz="4000" dirty="0"/>
          </a:p>
        </p:txBody>
      </p:sp>
      <p:sp>
        <p:nvSpPr>
          <p:cNvPr id="6" name="Text 4"/>
          <p:cNvSpPr/>
          <p:nvPr/>
        </p:nvSpPr>
        <p:spPr>
          <a:xfrm>
            <a:off x="548640" y="6263640"/>
            <a:ext cx="3657600" cy="320040"/>
          </a:xfrm>
          <a:prstGeom prst="rect">
            <a:avLst/>
          </a:prstGeom>
          <a:noFill/>
          <a:ln/>
        </p:spPr>
        <p:txBody>
          <a:bodyPr wrap="square" rtlCol="0" anchor="ctr"/>
          <a:lstStyle/>
          <a:p>
            <a:pPr indent="0" marL="0">
              <a:buNone/>
            </a:pPr>
            <a:r>
              <a:rPr lang="en-US" sz="1000" b="1" dirty="0">
                <a:solidFill>
                  <a:srgbClr val="2E75B6"/>
                </a:solidFill>
                <a:latin typeface="Calibri" pitchFamily="34" charset="0"/>
                <a:ea typeface="Calibri" pitchFamily="34" charset="-122"/>
                <a:cs typeface="Calibri" pitchFamily="34" charset="-120"/>
              </a:rPr>
              <a:t>#DigitalExcellence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1F4E79"/>
          </a:solidFill>
          <a:ln/>
        </p:spPr>
      </p:sp>
      <p:sp>
        <p:nvSpPr>
          <p:cNvPr id="3" name="Shape 1"/>
          <p:cNvSpPr/>
          <p:nvPr/>
        </p:nvSpPr>
        <p:spPr>
          <a:xfrm>
            <a:off x="0" y="1005840"/>
            <a:ext cx="12188952" cy="54864"/>
          </a:xfrm>
          <a:prstGeom prst="rect">
            <a:avLst/>
          </a:prstGeom>
          <a:solidFill>
            <a:srgbClr val="2E75B6"/>
          </a:solidFill>
          <a:ln/>
        </p:spPr>
      </p:sp>
      <p:sp>
        <p:nvSpPr>
          <p:cNvPr id="4" name="Text 2"/>
          <p:cNvSpPr/>
          <p:nvPr/>
        </p:nvSpPr>
        <p:spPr>
          <a:xfrm>
            <a:off x="320040" y="137160"/>
            <a:ext cx="1152144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Contact Deletion — Overview</a:t>
            </a:r>
            <a:endParaRPr lang="en-US" sz="2200" dirty="0"/>
          </a:p>
        </p:txBody>
      </p:sp>
      <p:sp>
        <p:nvSpPr>
          <p:cNvPr id="5" name="Text 3"/>
          <p:cNvSpPr/>
          <p:nvPr/>
        </p:nvSpPr>
        <p:spPr>
          <a:xfrm>
            <a:off x="320040" y="621792"/>
            <a:ext cx="11521440" cy="320040"/>
          </a:xfrm>
          <a:prstGeom prst="rect">
            <a:avLst/>
          </a:prstGeom>
          <a:noFill/>
          <a:ln/>
        </p:spPr>
        <p:txBody>
          <a:bodyPr wrap="square" rtlCol="0" anchor="ctr"/>
          <a:lstStyle/>
          <a:p>
            <a:pPr indent="0" marL="0">
              <a:buNone/>
            </a:pPr>
            <a:r>
              <a:rPr lang="en-US" sz="1200" dirty="0">
                <a:solidFill>
                  <a:srgbClr val="BDD7EE"/>
                </a:solidFill>
                <a:latin typeface="Calibri" pitchFamily="34" charset="0"/>
                <a:ea typeface="Calibri" pitchFamily="34" charset="-122"/>
                <a:cs typeface="Calibri" pitchFamily="34" charset="-120"/>
              </a:rPr>
              <a:t>Weekly automation ensuring SFMC All Contacts remains accurate, clean, and aligned with Sales Cloud</a:t>
            </a:r>
            <a:endParaRPr lang="en-US" sz="1200" dirty="0"/>
          </a:p>
        </p:txBody>
      </p:sp>
      <p:sp>
        <p:nvSpPr>
          <p:cNvPr id="6" name="Shape 4"/>
          <p:cNvSpPr/>
          <p:nvPr/>
        </p:nvSpPr>
        <p:spPr>
          <a:xfrm>
            <a:off x="0" y="6556248"/>
            <a:ext cx="12188952" cy="301752"/>
          </a:xfrm>
          <a:prstGeom prst="rect">
            <a:avLst/>
          </a:prstGeom>
          <a:solidFill>
            <a:srgbClr val="F2F2F2"/>
          </a:solidFill>
          <a:ln/>
        </p:spPr>
      </p:sp>
      <p:sp>
        <p:nvSpPr>
          <p:cNvPr id="7" name="Text 5"/>
          <p:cNvSpPr/>
          <p:nvPr/>
        </p:nvSpPr>
        <p:spPr>
          <a:xfrm>
            <a:off x="182880" y="6574536"/>
            <a:ext cx="3657600" cy="228600"/>
          </a:xfrm>
          <a:prstGeom prst="rect">
            <a:avLst/>
          </a:prstGeom>
          <a:noFill/>
          <a:ln/>
        </p:spPr>
        <p:txBody>
          <a:bodyPr wrap="square" rtlCol="0" anchor="ctr"/>
          <a:lstStyle/>
          <a:p>
            <a:pPr indent="0" marL="0">
              <a:buNone/>
            </a:pPr>
            <a:r>
              <a:rPr lang="en-US" sz="800" b="1" dirty="0">
                <a:solidFill>
                  <a:srgbClr val="2E75B6"/>
                </a:solidFill>
                <a:latin typeface="Calibri" pitchFamily="34" charset="0"/>
                <a:ea typeface="Calibri" pitchFamily="34" charset="-122"/>
                <a:cs typeface="Calibri" pitchFamily="34" charset="-120"/>
              </a:rPr>
              <a:t>#DigitalExcellence</a:t>
            </a:r>
            <a:endParaRPr lang="en-US" sz="800" dirty="0"/>
          </a:p>
        </p:txBody>
      </p:sp>
      <p:sp>
        <p:nvSpPr>
          <p:cNvPr id="8" name="Text 6"/>
          <p:cNvSpPr/>
          <p:nvPr/>
        </p:nvSpPr>
        <p:spPr>
          <a:xfrm>
            <a:off x="3840480" y="6574536"/>
            <a:ext cx="8229600" cy="228600"/>
          </a:xfrm>
          <a:prstGeom prst="rect">
            <a:avLst/>
          </a:prstGeom>
          <a:noFill/>
          <a:ln/>
        </p:spPr>
        <p:txBody>
          <a:bodyPr wrap="square" rtlCol="0" anchor="ctr"/>
          <a:lstStyle/>
          <a:p>
            <a:pPr algn="r" indent="0" marL="0">
              <a:buNone/>
            </a:pPr>
            <a:r>
              <a:rPr lang="en-US" sz="800" dirty="0">
                <a:solidFill>
                  <a:srgbClr val="666666"/>
                </a:solidFill>
                <a:latin typeface="Calibri" pitchFamily="34" charset="0"/>
                <a:ea typeface="Calibri" pitchFamily="34" charset="-122"/>
                <a:cs typeface="Calibri" pitchFamily="34" charset="-120"/>
              </a:rPr>
              <a:t>Contact Deletion  |  KPMG Marketing Cloud Engage  |  Himanshu Gupta</a:t>
            </a:r>
            <a:endParaRPr lang="en-US" sz="800" dirty="0"/>
          </a:p>
        </p:txBody>
      </p:sp>
      <p:sp>
        <p:nvSpPr>
          <p:cNvPr id="9" name="Shape 7"/>
          <p:cNvSpPr/>
          <p:nvPr/>
        </p:nvSpPr>
        <p:spPr>
          <a:xfrm>
            <a:off x="320040" y="1143000"/>
            <a:ext cx="5394960" cy="5166360"/>
          </a:xfrm>
          <a:prstGeom prst="rect">
            <a:avLst/>
          </a:prstGeom>
          <a:solidFill>
            <a:srgbClr val="F2F7FC"/>
          </a:solidFill>
          <a:ln w="6350">
            <a:solidFill>
              <a:srgbClr val="D0E4F5"/>
            </a:solidFill>
            <a:prstDash val="solid"/>
          </a:ln>
        </p:spPr>
      </p:sp>
      <p:sp>
        <p:nvSpPr>
          <p:cNvPr id="10" name="Text 8"/>
          <p:cNvSpPr/>
          <p:nvPr/>
        </p:nvSpPr>
        <p:spPr>
          <a:xfrm>
            <a:off x="457200" y="1234440"/>
            <a:ext cx="5120640" cy="411480"/>
          </a:xfrm>
          <a:prstGeom prst="rect">
            <a:avLst/>
          </a:prstGeom>
          <a:noFill/>
          <a:ln/>
        </p:spPr>
        <p:txBody>
          <a:bodyPr wrap="square" rtlCol="0" anchor="ctr"/>
          <a:lstStyle/>
          <a:p>
            <a:pPr indent="0" marL="0">
              <a:buNone/>
            </a:pPr>
            <a:r>
              <a:rPr lang="en-US" sz="1300" b="1" dirty="0">
                <a:solidFill>
                  <a:srgbClr val="1F4E79"/>
                </a:solidFill>
                <a:latin typeface="Calibri" pitchFamily="34" charset="0"/>
                <a:ea typeface="Calibri" pitchFamily="34" charset="-122"/>
                <a:cs typeface="Calibri" pitchFamily="34" charset="-120"/>
              </a:rPr>
              <a:t>What the Process Accomplishes</a:t>
            </a:r>
            <a:endParaRPr lang="en-US" sz="1300" dirty="0"/>
          </a:p>
        </p:txBody>
      </p:sp>
      <p:sp>
        <p:nvSpPr>
          <p:cNvPr id="11" name="Text 9"/>
          <p:cNvSpPr/>
          <p:nvPr/>
        </p:nvSpPr>
        <p:spPr>
          <a:xfrm>
            <a:off x="502920" y="1737360"/>
            <a:ext cx="5029200" cy="658368"/>
          </a:xfrm>
          <a:prstGeom prst="rect">
            <a:avLst/>
          </a:prstGeom>
          <a:noFill/>
          <a:ln/>
        </p:spPr>
        <p:txBody>
          <a:bodyPr wrap="square" rtlCol="0" anchor="t"/>
          <a:lstStyle/>
          <a:p>
            <a:pPr indent="0" marL="0">
              <a:buNone/>
            </a:pPr>
            <a:r>
              <a:rPr lang="en-US" sz="1100" b="1" dirty="0">
                <a:solidFill>
                  <a:srgbClr val="2E75B6"/>
                </a:solidFill>
                <a:latin typeface="Calibri" pitchFamily="34" charset="0"/>
                <a:ea typeface="Calibri" pitchFamily="34" charset="-122"/>
                <a:cs typeface="Calibri" pitchFamily="34" charset="-120"/>
              </a:rPr>
              <a:t>• </a:t>
            </a:r>
            <a:pPr indent="0" marL="0">
              <a:buNone/>
            </a:pPr>
            <a:r>
              <a:rPr lang="en-US" sz="1100" dirty="0">
                <a:solidFill>
                  <a:srgbClr val="404040"/>
                </a:solidFill>
                <a:latin typeface="Calibri" pitchFamily="34" charset="0"/>
                <a:ea typeface="Calibri" pitchFamily="34" charset="-122"/>
                <a:cs typeface="Calibri" pitchFamily="34" charset="-120"/>
              </a:rPr>
              <a:t>Runs weekly every Sunday at 3:30 AM, replacing the previous monthly ContactDelete_Combined automation and the Duplicate Delete Data Archive automation.</a:t>
            </a:r>
            <a:endParaRPr lang="en-US" sz="1100" dirty="0"/>
          </a:p>
        </p:txBody>
      </p:sp>
      <p:sp>
        <p:nvSpPr>
          <p:cNvPr id="12" name="Text 10"/>
          <p:cNvSpPr/>
          <p:nvPr/>
        </p:nvSpPr>
        <p:spPr>
          <a:xfrm>
            <a:off x="502920" y="2450592"/>
            <a:ext cx="5029200" cy="658368"/>
          </a:xfrm>
          <a:prstGeom prst="rect">
            <a:avLst/>
          </a:prstGeom>
          <a:noFill/>
          <a:ln/>
        </p:spPr>
        <p:txBody>
          <a:bodyPr wrap="square" rtlCol="0" anchor="t"/>
          <a:lstStyle/>
          <a:p>
            <a:pPr indent="0" marL="0">
              <a:buNone/>
            </a:pPr>
            <a:r>
              <a:rPr lang="en-US" sz="1100" b="1" dirty="0">
                <a:solidFill>
                  <a:srgbClr val="2E75B6"/>
                </a:solidFill>
                <a:latin typeface="Calibri" pitchFamily="34" charset="0"/>
                <a:ea typeface="Calibri" pitchFamily="34" charset="-122"/>
                <a:cs typeface="Calibri" pitchFamily="34" charset="-120"/>
              </a:rPr>
              <a:t>• </a:t>
            </a:r>
            <a:pPr indent="0" marL="0">
              <a:buNone/>
            </a:pPr>
            <a:r>
              <a:rPr lang="en-US" sz="1100" dirty="0">
                <a:solidFill>
                  <a:srgbClr val="404040"/>
                </a:solidFill>
                <a:latin typeface="Calibri" pitchFamily="34" charset="0"/>
                <a:ea typeface="Calibri" pitchFamily="34" charset="-122"/>
                <a:cs typeface="Calibri" pitchFamily="34" charset="-120"/>
              </a:rPr>
              <a:t>Identifies contacts across seven distinct deletion criteria covering duplicate email-keyed subscribers, contacts no longer synchronized from Sales Cloud, contacts without channel addresses, and contacts not emailed in the last 180 days.</a:t>
            </a:r>
            <a:endParaRPr lang="en-US" sz="1100" dirty="0"/>
          </a:p>
        </p:txBody>
      </p:sp>
      <p:sp>
        <p:nvSpPr>
          <p:cNvPr id="13" name="Text 11"/>
          <p:cNvSpPr/>
          <p:nvPr/>
        </p:nvSpPr>
        <p:spPr>
          <a:xfrm>
            <a:off x="502920" y="3163824"/>
            <a:ext cx="5029200" cy="658368"/>
          </a:xfrm>
          <a:prstGeom prst="rect">
            <a:avLst/>
          </a:prstGeom>
          <a:noFill/>
          <a:ln/>
        </p:spPr>
        <p:txBody>
          <a:bodyPr wrap="square" rtlCol="0" anchor="t"/>
          <a:lstStyle/>
          <a:p>
            <a:pPr indent="0" marL="0">
              <a:buNone/>
            </a:pPr>
            <a:r>
              <a:rPr lang="en-US" sz="1100" b="1" dirty="0">
                <a:solidFill>
                  <a:srgbClr val="2E75B6"/>
                </a:solidFill>
                <a:latin typeface="Calibri" pitchFamily="34" charset="0"/>
                <a:ea typeface="Calibri" pitchFamily="34" charset="-122"/>
                <a:cs typeface="Calibri" pitchFamily="34" charset="-120"/>
              </a:rPr>
              <a:t>• </a:t>
            </a:r>
            <a:pPr indent="0" marL="0">
              <a:buNone/>
            </a:pPr>
            <a:r>
              <a:rPr lang="en-US" sz="1100" dirty="0">
                <a:solidFill>
                  <a:srgbClr val="404040"/>
                </a:solidFill>
                <a:latin typeface="Calibri" pitchFamily="34" charset="0"/>
                <a:ea typeface="Calibri" pitchFamily="34" charset="-122"/>
                <a:cs typeface="Calibri" pitchFamily="34" charset="-120"/>
              </a:rPr>
              <a:t>Applies a central exclusion list to protect test groups, seed lists, internal notification lists, and journey source contacts from accidental deletion.</a:t>
            </a:r>
            <a:endParaRPr lang="en-US" sz="1100" dirty="0"/>
          </a:p>
        </p:txBody>
      </p:sp>
      <p:sp>
        <p:nvSpPr>
          <p:cNvPr id="14" name="Text 12"/>
          <p:cNvSpPr/>
          <p:nvPr/>
        </p:nvSpPr>
        <p:spPr>
          <a:xfrm>
            <a:off x="502920" y="3877056"/>
            <a:ext cx="5029200" cy="658368"/>
          </a:xfrm>
          <a:prstGeom prst="rect">
            <a:avLst/>
          </a:prstGeom>
          <a:noFill/>
          <a:ln/>
        </p:spPr>
        <p:txBody>
          <a:bodyPr wrap="square" rtlCol="0" anchor="t"/>
          <a:lstStyle/>
          <a:p>
            <a:pPr indent="0" marL="0">
              <a:buNone/>
            </a:pPr>
            <a:r>
              <a:rPr lang="en-US" sz="1100" b="1" dirty="0">
                <a:solidFill>
                  <a:srgbClr val="2E75B6"/>
                </a:solidFill>
                <a:latin typeface="Calibri" pitchFamily="34" charset="0"/>
                <a:ea typeface="Calibri" pitchFamily="34" charset="-122"/>
                <a:cs typeface="Calibri" pitchFamily="34" charset="-120"/>
              </a:rPr>
              <a:t>• </a:t>
            </a:r>
            <a:pPr indent="0" marL="0">
              <a:buNone/>
            </a:pPr>
            <a:r>
              <a:rPr lang="en-US" sz="1100" dirty="0">
                <a:solidFill>
                  <a:srgbClr val="404040"/>
                </a:solidFill>
                <a:latin typeface="Calibri" pitchFamily="34" charset="0"/>
                <a:ea typeface="Calibri" pitchFamily="34" charset="-122"/>
                <a:cs typeface="Calibri" pitchFamily="34" charset="-120"/>
              </a:rPr>
              <a:t>Manages the enterprise auto-suppression list — adding unsubscribed and held contacts before deletion and removing re-opted-in contacts automatically.</a:t>
            </a:r>
            <a:endParaRPr lang="en-US" sz="1100" dirty="0"/>
          </a:p>
        </p:txBody>
      </p:sp>
      <p:sp>
        <p:nvSpPr>
          <p:cNvPr id="15" name="Text 13"/>
          <p:cNvSpPr/>
          <p:nvPr/>
        </p:nvSpPr>
        <p:spPr>
          <a:xfrm>
            <a:off x="502920" y="4590288"/>
            <a:ext cx="5029200" cy="658368"/>
          </a:xfrm>
          <a:prstGeom prst="rect">
            <a:avLst/>
          </a:prstGeom>
          <a:noFill/>
          <a:ln/>
        </p:spPr>
        <p:txBody>
          <a:bodyPr wrap="square" rtlCol="0" anchor="t"/>
          <a:lstStyle/>
          <a:p>
            <a:pPr indent="0" marL="0">
              <a:buNone/>
            </a:pPr>
            <a:r>
              <a:rPr lang="en-US" sz="1100" b="1" dirty="0">
                <a:solidFill>
                  <a:srgbClr val="2E75B6"/>
                </a:solidFill>
                <a:latin typeface="Calibri" pitchFamily="34" charset="0"/>
                <a:ea typeface="Calibri" pitchFamily="34" charset="-122"/>
                <a:cs typeface="Calibri" pitchFamily="34" charset="-120"/>
              </a:rPr>
              <a:t>• </a:t>
            </a:r>
            <a:pPr indent="0" marL="0">
              <a:buNone/>
            </a:pPr>
            <a:r>
              <a:rPr lang="en-US" sz="1100" dirty="0">
                <a:solidFill>
                  <a:srgbClr val="404040"/>
                </a:solidFill>
                <a:latin typeface="Calibri" pitchFamily="34" charset="0"/>
                <a:ea typeface="Calibri" pitchFamily="34" charset="-122"/>
                <a:cs typeface="Calibri" pitchFamily="34" charset="-120"/>
              </a:rPr>
              <a:t>Backs up 26 business data extensions before every deletion run and exports the deletion candidate set to SFTP for business review.</a:t>
            </a:r>
            <a:endParaRPr lang="en-US" sz="1100" dirty="0"/>
          </a:p>
        </p:txBody>
      </p:sp>
      <p:sp>
        <p:nvSpPr>
          <p:cNvPr id="16" name="Text 14"/>
          <p:cNvSpPr/>
          <p:nvPr/>
        </p:nvSpPr>
        <p:spPr>
          <a:xfrm>
            <a:off x="502920" y="5303520"/>
            <a:ext cx="5029200" cy="658368"/>
          </a:xfrm>
          <a:prstGeom prst="rect">
            <a:avLst/>
          </a:prstGeom>
          <a:noFill/>
          <a:ln/>
        </p:spPr>
        <p:txBody>
          <a:bodyPr wrap="square" rtlCol="0" anchor="t"/>
          <a:lstStyle/>
          <a:p>
            <a:pPr indent="0" marL="0">
              <a:buNone/>
            </a:pPr>
            <a:r>
              <a:rPr lang="en-US" sz="1100" b="1" dirty="0">
                <a:solidFill>
                  <a:srgbClr val="2E75B6"/>
                </a:solidFill>
                <a:latin typeface="Calibri" pitchFamily="34" charset="0"/>
                <a:ea typeface="Calibri" pitchFamily="34" charset="-122"/>
                <a:cs typeface="Calibri" pitchFamily="34" charset="-120"/>
              </a:rPr>
              <a:t>• </a:t>
            </a:r>
            <a:pPr indent="0" marL="0">
              <a:buNone/>
            </a:pPr>
            <a:r>
              <a:rPr lang="en-US" sz="1100" dirty="0">
                <a:solidFill>
                  <a:srgbClr val="404040"/>
                </a:solidFill>
                <a:latin typeface="Calibri" pitchFamily="34" charset="0"/>
                <a:ea typeface="Calibri" pitchFamily="34" charset="-122"/>
                <a:cs typeface="Calibri" pitchFamily="34" charset="-120"/>
              </a:rPr>
              <a:t>Deletes contacts from SFMC All Contacts with 0-day suppression using the REST API Contact Delete endpoint. Sales Cloud is not affected.</a:t>
            </a:r>
            <a:endParaRPr lang="en-US" sz="1100" dirty="0"/>
          </a:p>
        </p:txBody>
      </p:sp>
      <p:sp>
        <p:nvSpPr>
          <p:cNvPr id="17" name="Shape 15"/>
          <p:cNvSpPr/>
          <p:nvPr/>
        </p:nvSpPr>
        <p:spPr>
          <a:xfrm>
            <a:off x="6080760" y="1143000"/>
            <a:ext cx="5788152" cy="5166360"/>
          </a:xfrm>
          <a:prstGeom prst="rect">
            <a:avLst/>
          </a:prstGeom>
          <a:solidFill>
            <a:srgbClr val="F2F7FC"/>
          </a:solidFill>
          <a:ln w="6350">
            <a:solidFill>
              <a:srgbClr val="D0E4F5"/>
            </a:solidFill>
            <a:prstDash val="solid"/>
          </a:ln>
        </p:spPr>
      </p:sp>
      <p:sp>
        <p:nvSpPr>
          <p:cNvPr id="18" name="Text 16"/>
          <p:cNvSpPr/>
          <p:nvPr/>
        </p:nvSpPr>
        <p:spPr>
          <a:xfrm>
            <a:off x="6217920" y="1234440"/>
            <a:ext cx="5486400" cy="411480"/>
          </a:xfrm>
          <a:prstGeom prst="rect">
            <a:avLst/>
          </a:prstGeom>
          <a:noFill/>
          <a:ln/>
        </p:spPr>
        <p:txBody>
          <a:bodyPr wrap="square" rtlCol="0" anchor="ctr"/>
          <a:lstStyle/>
          <a:p>
            <a:pPr indent="0" marL="0">
              <a:buNone/>
            </a:pPr>
            <a:r>
              <a:rPr lang="en-US" sz="1300" b="1" dirty="0">
                <a:solidFill>
                  <a:srgbClr val="1F4E79"/>
                </a:solidFill>
                <a:latin typeface="Calibri" pitchFamily="34" charset="0"/>
                <a:ea typeface="Calibri" pitchFamily="34" charset="-122"/>
                <a:cs typeface="Calibri" pitchFamily="34" charset="-120"/>
              </a:rPr>
              <a:t>Key Components</a:t>
            </a:r>
            <a:endParaRPr lang="en-US" sz="1300" dirty="0"/>
          </a:p>
        </p:txBody>
      </p:sp>
      <p:sp>
        <p:nvSpPr>
          <p:cNvPr id="19" name="Text 17"/>
          <p:cNvSpPr/>
          <p:nvPr/>
        </p:nvSpPr>
        <p:spPr>
          <a:xfrm>
            <a:off x="6217920" y="1737360"/>
            <a:ext cx="1645920" cy="502920"/>
          </a:xfrm>
          <a:prstGeom prst="rect">
            <a:avLst/>
          </a:prstGeom>
          <a:noFill/>
          <a:ln/>
        </p:spPr>
        <p:txBody>
          <a:bodyPr wrap="square" rtlCol="0" anchor="t"/>
          <a:lstStyle/>
          <a:p>
            <a:pPr indent="0" marL="0">
              <a:buNone/>
            </a:pPr>
            <a:r>
              <a:rPr lang="en-US" sz="1000" b="1" dirty="0">
                <a:solidFill>
                  <a:srgbClr val="2E75B6"/>
                </a:solidFill>
                <a:latin typeface="Calibri" pitchFamily="34" charset="0"/>
                <a:ea typeface="Calibri" pitchFamily="34" charset="-122"/>
                <a:cs typeface="Calibri" pitchFamily="34" charset="-120"/>
              </a:rPr>
              <a:t>Automation</a:t>
            </a:r>
            <a:endParaRPr lang="en-US" sz="1000" dirty="0"/>
          </a:p>
        </p:txBody>
      </p:sp>
      <p:sp>
        <p:nvSpPr>
          <p:cNvPr id="20" name="Text 18"/>
          <p:cNvSpPr/>
          <p:nvPr/>
        </p:nvSpPr>
        <p:spPr>
          <a:xfrm>
            <a:off x="7863840" y="1737360"/>
            <a:ext cx="3840480" cy="502920"/>
          </a:xfrm>
          <a:prstGeom prst="rect">
            <a:avLst/>
          </a:prstGeom>
          <a:noFill/>
          <a:ln/>
        </p:spPr>
        <p:txBody>
          <a:bodyPr wrap="square" rtlCol="0" anchor="t"/>
          <a:lstStyle/>
          <a:p>
            <a:pPr indent="0" marL="0">
              <a:buNone/>
            </a:pPr>
            <a:r>
              <a:rPr lang="en-US" sz="1000" dirty="0">
                <a:solidFill>
                  <a:srgbClr val="404040"/>
                </a:solidFill>
                <a:latin typeface="Calibri" pitchFamily="34" charset="0"/>
                <a:ea typeface="Calibri" pitchFamily="34" charset="-122"/>
                <a:cs typeface="Calibri" pitchFamily="34" charset="-120"/>
              </a:rPr>
              <a:t>GEE-55805 — Weekly Contact Deletion  |  49 steps</a:t>
            </a:r>
            <a:endParaRPr lang="en-US" sz="1000" dirty="0"/>
          </a:p>
        </p:txBody>
      </p:sp>
      <p:sp>
        <p:nvSpPr>
          <p:cNvPr id="21" name="Text 19"/>
          <p:cNvSpPr/>
          <p:nvPr/>
        </p:nvSpPr>
        <p:spPr>
          <a:xfrm>
            <a:off x="6217920" y="2304288"/>
            <a:ext cx="1645920" cy="502920"/>
          </a:xfrm>
          <a:prstGeom prst="rect">
            <a:avLst/>
          </a:prstGeom>
          <a:noFill/>
          <a:ln/>
        </p:spPr>
        <p:txBody>
          <a:bodyPr wrap="square" rtlCol="0" anchor="t"/>
          <a:lstStyle/>
          <a:p>
            <a:pPr indent="0" marL="0">
              <a:buNone/>
            </a:pPr>
            <a:r>
              <a:rPr lang="en-US" sz="1000" b="1" dirty="0">
                <a:solidFill>
                  <a:srgbClr val="2E75B6"/>
                </a:solidFill>
                <a:latin typeface="Calibri" pitchFamily="34" charset="0"/>
                <a:ea typeface="Calibri" pitchFamily="34" charset="-122"/>
                <a:cs typeface="Calibri" pitchFamily="34" charset="-120"/>
              </a:rPr>
              <a:t>Schedule</a:t>
            </a:r>
            <a:endParaRPr lang="en-US" sz="1000" dirty="0"/>
          </a:p>
        </p:txBody>
      </p:sp>
      <p:sp>
        <p:nvSpPr>
          <p:cNvPr id="22" name="Text 20"/>
          <p:cNvSpPr/>
          <p:nvPr/>
        </p:nvSpPr>
        <p:spPr>
          <a:xfrm>
            <a:off x="7863840" y="2304288"/>
            <a:ext cx="3840480" cy="502920"/>
          </a:xfrm>
          <a:prstGeom prst="rect">
            <a:avLst/>
          </a:prstGeom>
          <a:noFill/>
          <a:ln/>
        </p:spPr>
        <p:txBody>
          <a:bodyPr wrap="square" rtlCol="0" anchor="t"/>
          <a:lstStyle/>
          <a:p>
            <a:pPr indent="0" marL="0">
              <a:buNone/>
            </a:pPr>
            <a:r>
              <a:rPr lang="en-US" sz="1000" dirty="0">
                <a:solidFill>
                  <a:srgbClr val="404040"/>
                </a:solidFill>
                <a:latin typeface="Calibri" pitchFamily="34" charset="0"/>
                <a:ea typeface="Calibri" pitchFamily="34" charset="-122"/>
                <a:cs typeface="Calibri" pitchFamily="34" charset="-120"/>
              </a:rPr>
              <a:t>Weekly — Sunday 3:30 AM  |  Replaces monthly ContactDelete_Combined</a:t>
            </a:r>
            <a:endParaRPr lang="en-US" sz="1000" dirty="0"/>
          </a:p>
        </p:txBody>
      </p:sp>
      <p:sp>
        <p:nvSpPr>
          <p:cNvPr id="23" name="Text 21"/>
          <p:cNvSpPr/>
          <p:nvPr/>
        </p:nvSpPr>
        <p:spPr>
          <a:xfrm>
            <a:off x="6217920" y="2871216"/>
            <a:ext cx="1645920" cy="502920"/>
          </a:xfrm>
          <a:prstGeom prst="rect">
            <a:avLst/>
          </a:prstGeom>
          <a:noFill/>
          <a:ln/>
        </p:spPr>
        <p:txBody>
          <a:bodyPr wrap="square" rtlCol="0" anchor="t"/>
          <a:lstStyle/>
          <a:p>
            <a:pPr indent="0" marL="0">
              <a:buNone/>
            </a:pPr>
            <a:r>
              <a:rPr lang="en-US" sz="1000" b="1" dirty="0">
                <a:solidFill>
                  <a:srgbClr val="2E75B6"/>
                </a:solidFill>
                <a:latin typeface="Calibri" pitchFamily="34" charset="0"/>
                <a:ea typeface="Calibri" pitchFamily="34" charset="-122"/>
                <a:cs typeface="Calibri" pitchFamily="34" charset="-120"/>
              </a:rPr>
              <a:t>Working DEs</a:t>
            </a:r>
            <a:endParaRPr lang="en-US" sz="1000" dirty="0"/>
          </a:p>
        </p:txBody>
      </p:sp>
      <p:sp>
        <p:nvSpPr>
          <p:cNvPr id="24" name="Text 22"/>
          <p:cNvSpPr/>
          <p:nvPr/>
        </p:nvSpPr>
        <p:spPr>
          <a:xfrm>
            <a:off x="7863840" y="2871216"/>
            <a:ext cx="3840480" cy="502920"/>
          </a:xfrm>
          <a:prstGeom prst="rect">
            <a:avLst/>
          </a:prstGeom>
          <a:noFill/>
          <a:ln/>
        </p:spPr>
        <p:txBody>
          <a:bodyPr wrap="square" rtlCol="0" anchor="t"/>
          <a:lstStyle/>
          <a:p>
            <a:pPr indent="0" marL="0">
              <a:buNone/>
            </a:pPr>
            <a:r>
              <a:rPr lang="en-US" sz="1000" dirty="0">
                <a:solidFill>
                  <a:srgbClr val="404040"/>
                </a:solidFill>
                <a:latin typeface="Calibri" pitchFamily="34" charset="0"/>
                <a:ea typeface="Calibri" pitchFamily="34" charset="-122"/>
                <a:cs typeface="Calibri" pitchFamily="34" charset="-120"/>
              </a:rPr>
              <a:t>8 new DEs — exclusion list, subscriber cache, staging, Temp, ACTUAL, EXCLUDED, Summary</a:t>
            </a:r>
            <a:endParaRPr lang="en-US" sz="1000" dirty="0"/>
          </a:p>
        </p:txBody>
      </p:sp>
      <p:sp>
        <p:nvSpPr>
          <p:cNvPr id="25" name="Text 23"/>
          <p:cNvSpPr/>
          <p:nvPr/>
        </p:nvSpPr>
        <p:spPr>
          <a:xfrm>
            <a:off x="6217920" y="3438144"/>
            <a:ext cx="1645920" cy="502920"/>
          </a:xfrm>
          <a:prstGeom prst="rect">
            <a:avLst/>
          </a:prstGeom>
          <a:noFill/>
          <a:ln/>
        </p:spPr>
        <p:txBody>
          <a:bodyPr wrap="square" rtlCol="0" anchor="t"/>
          <a:lstStyle/>
          <a:p>
            <a:pPr indent="0" marL="0">
              <a:buNone/>
            </a:pPr>
            <a:r>
              <a:rPr lang="en-US" sz="1000" b="1" dirty="0">
                <a:solidFill>
                  <a:srgbClr val="2E75B6"/>
                </a:solidFill>
                <a:latin typeface="Calibri" pitchFamily="34" charset="0"/>
                <a:ea typeface="Calibri" pitchFamily="34" charset="-122"/>
                <a:cs typeface="Calibri" pitchFamily="34" charset="-120"/>
              </a:rPr>
              <a:t>Auto-Suppression</a:t>
            </a:r>
            <a:endParaRPr lang="en-US" sz="1000" dirty="0"/>
          </a:p>
        </p:txBody>
      </p:sp>
      <p:sp>
        <p:nvSpPr>
          <p:cNvPr id="26" name="Text 24"/>
          <p:cNvSpPr/>
          <p:nvPr/>
        </p:nvSpPr>
        <p:spPr>
          <a:xfrm>
            <a:off x="7863840" y="3438144"/>
            <a:ext cx="3840480" cy="502920"/>
          </a:xfrm>
          <a:prstGeom prst="rect">
            <a:avLst/>
          </a:prstGeom>
          <a:noFill/>
          <a:ln/>
        </p:spPr>
        <p:txBody>
          <a:bodyPr wrap="square" rtlCol="0" anchor="t"/>
          <a:lstStyle/>
          <a:p>
            <a:pPr indent="0" marL="0">
              <a:buNone/>
            </a:pPr>
            <a:r>
              <a:rPr lang="en-US" sz="1000" dirty="0">
                <a:solidFill>
                  <a:srgbClr val="404040"/>
                </a:solidFill>
                <a:latin typeface="Calibri" pitchFamily="34" charset="0"/>
                <a:ea typeface="Calibri" pitchFamily="34" charset="-122"/>
                <a:cs typeface="Calibri" pitchFamily="34" charset="-120"/>
              </a:rPr>
              <a:t>Global_Suppression_List — managed as part of the weekly run</a:t>
            </a:r>
            <a:endParaRPr lang="en-US" sz="1000" dirty="0"/>
          </a:p>
        </p:txBody>
      </p:sp>
      <p:sp>
        <p:nvSpPr>
          <p:cNvPr id="27" name="Text 25"/>
          <p:cNvSpPr/>
          <p:nvPr/>
        </p:nvSpPr>
        <p:spPr>
          <a:xfrm>
            <a:off x="6217920" y="4005072"/>
            <a:ext cx="1645920" cy="502920"/>
          </a:xfrm>
          <a:prstGeom prst="rect">
            <a:avLst/>
          </a:prstGeom>
          <a:noFill/>
          <a:ln/>
        </p:spPr>
        <p:txBody>
          <a:bodyPr wrap="square" rtlCol="0" anchor="t"/>
          <a:lstStyle/>
          <a:p>
            <a:pPr indent="0" marL="0">
              <a:buNone/>
            </a:pPr>
            <a:r>
              <a:rPr lang="en-US" sz="1000" b="1" dirty="0">
                <a:solidFill>
                  <a:srgbClr val="2E75B6"/>
                </a:solidFill>
                <a:latin typeface="Calibri" pitchFamily="34" charset="0"/>
                <a:ea typeface="Calibri" pitchFamily="34" charset="-122"/>
                <a:cs typeface="Calibri" pitchFamily="34" charset="-120"/>
              </a:rPr>
              <a:t>Archive DE</a:t>
            </a:r>
            <a:endParaRPr lang="en-US" sz="1000" dirty="0"/>
          </a:p>
        </p:txBody>
      </p:sp>
      <p:sp>
        <p:nvSpPr>
          <p:cNvPr id="28" name="Text 26"/>
          <p:cNvSpPr/>
          <p:nvPr/>
        </p:nvSpPr>
        <p:spPr>
          <a:xfrm>
            <a:off x="7863840" y="4005072"/>
            <a:ext cx="3840480" cy="502920"/>
          </a:xfrm>
          <a:prstGeom prst="rect">
            <a:avLst/>
          </a:prstGeom>
          <a:noFill/>
          <a:ln/>
        </p:spPr>
        <p:txBody>
          <a:bodyPr wrap="square" rtlCol="0" anchor="t"/>
          <a:lstStyle/>
          <a:p>
            <a:pPr indent="0" marL="0">
              <a:buNone/>
            </a:pPr>
            <a:r>
              <a:rPr lang="en-US" sz="1000" dirty="0">
                <a:solidFill>
                  <a:srgbClr val="404040"/>
                </a:solidFill>
                <a:latin typeface="Calibri" pitchFamily="34" charset="0"/>
                <a:ea typeface="Calibri" pitchFamily="34" charset="-122"/>
                <a:cs typeface="Calibri" pitchFamily="34" charset="-120"/>
              </a:rPr>
              <a:t>ContactDeleteArchive_PreviouslyDeleted — permanent audit trail, never cleared</a:t>
            </a:r>
            <a:endParaRPr lang="en-US" sz="1000" dirty="0"/>
          </a:p>
        </p:txBody>
      </p:sp>
      <p:sp>
        <p:nvSpPr>
          <p:cNvPr id="29" name="Text 27"/>
          <p:cNvSpPr/>
          <p:nvPr/>
        </p:nvSpPr>
        <p:spPr>
          <a:xfrm>
            <a:off x="6217920" y="4572000"/>
            <a:ext cx="1645920" cy="502920"/>
          </a:xfrm>
          <a:prstGeom prst="rect">
            <a:avLst/>
          </a:prstGeom>
          <a:noFill/>
          <a:ln/>
        </p:spPr>
        <p:txBody>
          <a:bodyPr wrap="square" rtlCol="0" anchor="t"/>
          <a:lstStyle/>
          <a:p>
            <a:pPr indent="0" marL="0">
              <a:buNone/>
            </a:pPr>
            <a:r>
              <a:rPr lang="en-US" sz="1000" b="1" dirty="0">
                <a:solidFill>
                  <a:srgbClr val="2E75B6"/>
                </a:solidFill>
                <a:latin typeface="Calibri" pitchFamily="34" charset="0"/>
                <a:ea typeface="Calibri" pitchFamily="34" charset="-122"/>
                <a:cs typeface="Calibri" pitchFamily="34" charset="-120"/>
              </a:rPr>
              <a:t>SFTP Export</a:t>
            </a:r>
            <a:endParaRPr lang="en-US" sz="1000" dirty="0"/>
          </a:p>
        </p:txBody>
      </p:sp>
      <p:sp>
        <p:nvSpPr>
          <p:cNvPr id="30" name="Text 28"/>
          <p:cNvSpPr/>
          <p:nvPr/>
        </p:nvSpPr>
        <p:spPr>
          <a:xfrm>
            <a:off x="7863840" y="4572000"/>
            <a:ext cx="3840480" cy="502920"/>
          </a:xfrm>
          <a:prstGeom prst="rect">
            <a:avLst/>
          </a:prstGeom>
          <a:noFill/>
          <a:ln/>
        </p:spPr>
        <p:txBody>
          <a:bodyPr wrap="square" rtlCol="0" anchor="t"/>
          <a:lstStyle/>
          <a:p>
            <a:pPr indent="0" marL="0">
              <a:buNone/>
            </a:pPr>
            <a:r>
              <a:rPr lang="en-US" sz="1000" dirty="0">
                <a:solidFill>
                  <a:srgbClr val="404040"/>
                </a:solidFill>
                <a:latin typeface="Calibri" pitchFamily="34" charset="0"/>
                <a:ea typeface="Calibri" pitchFamily="34" charset="-122"/>
                <a:cs typeface="Calibri" pitchFamily="34" charset="-120"/>
              </a:rPr>
              <a:t>Deletion candidate set exported to Marketing Cloud Exports before delete runs</a:t>
            </a:r>
            <a:endParaRPr lang="en-US" sz="1000" dirty="0"/>
          </a:p>
        </p:txBody>
      </p:sp>
      <p:sp>
        <p:nvSpPr>
          <p:cNvPr id="31" name="Text 29"/>
          <p:cNvSpPr/>
          <p:nvPr/>
        </p:nvSpPr>
        <p:spPr>
          <a:xfrm>
            <a:off x="6217920" y="5138928"/>
            <a:ext cx="1645920" cy="502920"/>
          </a:xfrm>
          <a:prstGeom prst="rect">
            <a:avLst/>
          </a:prstGeom>
          <a:noFill/>
          <a:ln/>
        </p:spPr>
        <p:txBody>
          <a:bodyPr wrap="square" rtlCol="0" anchor="t"/>
          <a:lstStyle/>
          <a:p>
            <a:pPr indent="0" marL="0">
              <a:buNone/>
            </a:pPr>
            <a:r>
              <a:rPr lang="en-US" sz="1000" b="1" dirty="0">
                <a:solidFill>
                  <a:srgbClr val="2E75B6"/>
                </a:solidFill>
                <a:latin typeface="Calibri" pitchFamily="34" charset="0"/>
                <a:ea typeface="Calibri" pitchFamily="34" charset="-122"/>
                <a:cs typeface="Calibri" pitchFamily="34" charset="-120"/>
              </a:rPr>
              <a:t>Dependencies</a:t>
            </a:r>
            <a:endParaRPr lang="en-US" sz="1000" dirty="0"/>
          </a:p>
        </p:txBody>
      </p:sp>
      <p:sp>
        <p:nvSpPr>
          <p:cNvPr id="32" name="Text 30"/>
          <p:cNvSpPr/>
          <p:nvPr/>
        </p:nvSpPr>
        <p:spPr>
          <a:xfrm>
            <a:off x="7863840" y="5138928"/>
            <a:ext cx="3840480" cy="502920"/>
          </a:xfrm>
          <a:prstGeom prst="rect">
            <a:avLst/>
          </a:prstGeom>
          <a:noFill/>
          <a:ln/>
        </p:spPr>
        <p:txBody>
          <a:bodyPr wrap="square" rtlCol="0" anchor="t"/>
          <a:lstStyle/>
          <a:p>
            <a:pPr indent="0" marL="0">
              <a:buNone/>
            </a:pPr>
            <a:r>
              <a:rPr lang="en-US" sz="1000" dirty="0">
                <a:solidFill>
                  <a:srgbClr val="404040"/>
                </a:solidFill>
                <a:latin typeface="Calibri" pitchFamily="34" charset="0"/>
                <a:ea typeface="Calibri" pitchFamily="34" charset="-122"/>
                <a:cs typeface="Calibri" pitchFamily="34" charset="-120"/>
              </a:rPr>
              <a:t>GEE-53015 (one-time purge)  |  GEE-58044 (suppression list creation)</a:t>
            </a:r>
            <a:endParaRPr lang="en-US" sz="1000" dirty="0"/>
          </a:p>
        </p:txBody>
      </p:sp>
      <p:sp>
        <p:nvSpPr>
          <p:cNvPr id="33" name="Text 31"/>
          <p:cNvSpPr/>
          <p:nvPr/>
        </p:nvSpPr>
        <p:spPr>
          <a:xfrm>
            <a:off x="6217920" y="5705856"/>
            <a:ext cx="1645920" cy="502920"/>
          </a:xfrm>
          <a:prstGeom prst="rect">
            <a:avLst/>
          </a:prstGeom>
          <a:noFill/>
          <a:ln/>
        </p:spPr>
        <p:txBody>
          <a:bodyPr wrap="square" rtlCol="0" anchor="t"/>
          <a:lstStyle/>
          <a:p>
            <a:pPr indent="0" marL="0">
              <a:buNone/>
            </a:pPr>
            <a:r>
              <a:rPr lang="en-US" sz="1000" b="1" dirty="0">
                <a:solidFill>
                  <a:srgbClr val="2E75B6"/>
                </a:solidFill>
                <a:latin typeface="Calibri" pitchFamily="34" charset="0"/>
                <a:ea typeface="Calibri" pitchFamily="34" charset="-122"/>
                <a:cs typeface="Calibri" pitchFamily="34" charset="-120"/>
              </a:rPr>
              <a:t>Platform impact</a:t>
            </a:r>
            <a:endParaRPr lang="en-US" sz="1000" dirty="0"/>
          </a:p>
        </p:txBody>
      </p:sp>
      <p:sp>
        <p:nvSpPr>
          <p:cNvPr id="34" name="Text 32"/>
          <p:cNvSpPr/>
          <p:nvPr/>
        </p:nvSpPr>
        <p:spPr>
          <a:xfrm>
            <a:off x="7863840" y="5705856"/>
            <a:ext cx="3840480" cy="502920"/>
          </a:xfrm>
          <a:prstGeom prst="rect">
            <a:avLst/>
          </a:prstGeom>
          <a:noFill/>
          <a:ln/>
        </p:spPr>
        <p:txBody>
          <a:bodyPr wrap="square" rtlCol="0" anchor="t"/>
          <a:lstStyle/>
          <a:p>
            <a:pPr indent="0" marL="0">
              <a:buNone/>
            </a:pPr>
            <a:r>
              <a:rPr lang="en-US" sz="1000" dirty="0">
                <a:solidFill>
                  <a:srgbClr val="404040"/>
                </a:solidFill>
                <a:latin typeface="Calibri" pitchFamily="34" charset="0"/>
                <a:ea typeface="Calibri" pitchFamily="34" charset="-122"/>
                <a:cs typeface="Calibri" pitchFamily="34" charset="-120"/>
              </a:rPr>
              <a:t>SFMC All Contacts and All Subscribers only — Sales Cloud is completely untouched</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1F4E79"/>
          </a:solidFill>
          <a:ln/>
        </p:spPr>
      </p:sp>
      <p:sp>
        <p:nvSpPr>
          <p:cNvPr id="3" name="Shape 1"/>
          <p:cNvSpPr/>
          <p:nvPr/>
        </p:nvSpPr>
        <p:spPr>
          <a:xfrm>
            <a:off x="0" y="1005840"/>
            <a:ext cx="12188952" cy="54864"/>
          </a:xfrm>
          <a:prstGeom prst="rect">
            <a:avLst/>
          </a:prstGeom>
          <a:solidFill>
            <a:srgbClr val="2E75B6"/>
          </a:solidFill>
          <a:ln/>
        </p:spPr>
      </p:sp>
      <p:sp>
        <p:nvSpPr>
          <p:cNvPr id="4" name="Text 2"/>
          <p:cNvSpPr/>
          <p:nvPr/>
        </p:nvSpPr>
        <p:spPr>
          <a:xfrm>
            <a:off x="320040" y="137160"/>
            <a:ext cx="1152144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Deletion Criteria</a:t>
            </a:r>
            <a:endParaRPr lang="en-US" sz="2200" dirty="0"/>
          </a:p>
        </p:txBody>
      </p:sp>
      <p:sp>
        <p:nvSpPr>
          <p:cNvPr id="5" name="Text 3"/>
          <p:cNvSpPr/>
          <p:nvPr/>
        </p:nvSpPr>
        <p:spPr>
          <a:xfrm>
            <a:off x="320040" y="621792"/>
            <a:ext cx="11521440" cy="320040"/>
          </a:xfrm>
          <a:prstGeom prst="rect">
            <a:avLst/>
          </a:prstGeom>
          <a:noFill/>
          <a:ln/>
        </p:spPr>
        <p:txBody>
          <a:bodyPr wrap="square" rtlCol="0" anchor="ctr"/>
          <a:lstStyle/>
          <a:p>
            <a:pPr indent="0" marL="0">
              <a:buNone/>
            </a:pPr>
            <a:r>
              <a:rPr lang="en-US" sz="1200" dirty="0">
                <a:solidFill>
                  <a:srgbClr val="BDD7EE"/>
                </a:solidFill>
                <a:latin typeface="Calibri" pitchFamily="34" charset="0"/>
                <a:ea typeface="Calibri" pitchFamily="34" charset="-122"/>
                <a:cs typeface="Calibri" pitchFamily="34" charset="-120"/>
              </a:rPr>
              <a:t>Contacts meeting any one of the following seven criteria are included in the weekly deletion run</a:t>
            </a:r>
            <a:endParaRPr lang="en-US" sz="1200" dirty="0"/>
          </a:p>
        </p:txBody>
      </p:sp>
      <p:sp>
        <p:nvSpPr>
          <p:cNvPr id="6" name="Shape 4"/>
          <p:cNvSpPr/>
          <p:nvPr/>
        </p:nvSpPr>
        <p:spPr>
          <a:xfrm>
            <a:off x="0" y="6556248"/>
            <a:ext cx="12188952" cy="301752"/>
          </a:xfrm>
          <a:prstGeom prst="rect">
            <a:avLst/>
          </a:prstGeom>
          <a:solidFill>
            <a:srgbClr val="F2F2F2"/>
          </a:solidFill>
          <a:ln/>
        </p:spPr>
      </p:sp>
      <p:sp>
        <p:nvSpPr>
          <p:cNvPr id="7" name="Text 5"/>
          <p:cNvSpPr/>
          <p:nvPr/>
        </p:nvSpPr>
        <p:spPr>
          <a:xfrm>
            <a:off x="182880" y="6574536"/>
            <a:ext cx="3657600" cy="228600"/>
          </a:xfrm>
          <a:prstGeom prst="rect">
            <a:avLst/>
          </a:prstGeom>
          <a:noFill/>
          <a:ln/>
        </p:spPr>
        <p:txBody>
          <a:bodyPr wrap="square" rtlCol="0" anchor="ctr"/>
          <a:lstStyle/>
          <a:p>
            <a:pPr indent="0" marL="0">
              <a:buNone/>
            </a:pPr>
            <a:r>
              <a:rPr lang="en-US" sz="800" b="1" dirty="0">
                <a:solidFill>
                  <a:srgbClr val="2E75B6"/>
                </a:solidFill>
                <a:latin typeface="Calibri" pitchFamily="34" charset="0"/>
                <a:ea typeface="Calibri" pitchFamily="34" charset="-122"/>
                <a:cs typeface="Calibri" pitchFamily="34" charset="-120"/>
              </a:rPr>
              <a:t>#DigitalExcellence</a:t>
            </a:r>
            <a:endParaRPr lang="en-US" sz="800" dirty="0"/>
          </a:p>
        </p:txBody>
      </p:sp>
      <p:sp>
        <p:nvSpPr>
          <p:cNvPr id="8" name="Text 6"/>
          <p:cNvSpPr/>
          <p:nvPr/>
        </p:nvSpPr>
        <p:spPr>
          <a:xfrm>
            <a:off x="3840480" y="6574536"/>
            <a:ext cx="8229600" cy="228600"/>
          </a:xfrm>
          <a:prstGeom prst="rect">
            <a:avLst/>
          </a:prstGeom>
          <a:noFill/>
          <a:ln/>
        </p:spPr>
        <p:txBody>
          <a:bodyPr wrap="square" rtlCol="0" anchor="ctr"/>
          <a:lstStyle/>
          <a:p>
            <a:pPr algn="r" indent="0" marL="0">
              <a:buNone/>
            </a:pPr>
            <a:r>
              <a:rPr lang="en-US" sz="800" dirty="0">
                <a:solidFill>
                  <a:srgbClr val="666666"/>
                </a:solidFill>
                <a:latin typeface="Calibri" pitchFamily="34" charset="0"/>
                <a:ea typeface="Calibri" pitchFamily="34" charset="-122"/>
                <a:cs typeface="Calibri" pitchFamily="34" charset="-120"/>
              </a:rPr>
              <a:t>Contact Deletion  |  KPMG Marketing Cloud Engage  |  Himanshu Gupta</a:t>
            </a:r>
            <a:endParaRPr lang="en-US" sz="800" dirty="0"/>
          </a:p>
        </p:txBody>
      </p:sp>
      <p:sp>
        <p:nvSpPr>
          <p:cNvPr id="9" name="Shape 7"/>
          <p:cNvSpPr/>
          <p:nvPr/>
        </p:nvSpPr>
        <p:spPr>
          <a:xfrm>
            <a:off x="320040" y="1170432"/>
            <a:ext cx="5577840" cy="1298448"/>
          </a:xfrm>
          <a:prstGeom prst="rect">
            <a:avLst/>
          </a:prstGeom>
          <a:solidFill>
            <a:srgbClr val="F2F7FC"/>
          </a:solidFill>
          <a:ln w="6350">
            <a:solidFill>
              <a:srgbClr val="D0E4F5"/>
            </a:solidFill>
            <a:prstDash val="solid"/>
          </a:ln>
        </p:spPr>
      </p:sp>
      <p:sp>
        <p:nvSpPr>
          <p:cNvPr id="10" name="Shape 8"/>
          <p:cNvSpPr/>
          <p:nvPr/>
        </p:nvSpPr>
        <p:spPr>
          <a:xfrm>
            <a:off x="320040" y="1170432"/>
            <a:ext cx="411480" cy="1298448"/>
          </a:xfrm>
          <a:prstGeom prst="rect">
            <a:avLst/>
          </a:prstGeom>
          <a:solidFill>
            <a:srgbClr val="2E75B6"/>
          </a:solidFill>
          <a:ln/>
        </p:spPr>
      </p:sp>
      <p:sp>
        <p:nvSpPr>
          <p:cNvPr id="11" name="Text 9"/>
          <p:cNvSpPr/>
          <p:nvPr/>
        </p:nvSpPr>
        <p:spPr>
          <a:xfrm>
            <a:off x="320040" y="1581912"/>
            <a:ext cx="41148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2" name="Text 10"/>
          <p:cNvSpPr/>
          <p:nvPr/>
        </p:nvSpPr>
        <p:spPr>
          <a:xfrm>
            <a:off x="795528" y="1225296"/>
            <a:ext cx="5029200" cy="320040"/>
          </a:xfrm>
          <a:prstGeom prst="rect">
            <a:avLst/>
          </a:prstGeom>
          <a:noFill/>
          <a:ln/>
        </p:spPr>
        <p:txBody>
          <a:bodyPr wrap="square" rtlCol="0" anchor="ctr"/>
          <a:lstStyle/>
          <a:p>
            <a:pPr indent="0" marL="0">
              <a:buNone/>
            </a:pPr>
            <a:r>
              <a:rPr lang="en-US" sz="1100" b="1" dirty="0">
                <a:solidFill>
                  <a:srgbClr val="1F4E79"/>
                </a:solidFill>
                <a:latin typeface="Calibri" pitchFamily="34" charset="0"/>
                <a:ea typeface="Calibri" pitchFamily="34" charset="-122"/>
                <a:cs typeface="Calibri" pitchFamily="34" charset="-120"/>
              </a:rPr>
              <a:t>No Channel Address</a:t>
            </a:r>
            <a:endParaRPr lang="en-US" sz="1100" dirty="0"/>
          </a:p>
        </p:txBody>
      </p:sp>
      <p:sp>
        <p:nvSpPr>
          <p:cNvPr id="13" name="Text 11"/>
          <p:cNvSpPr/>
          <p:nvPr/>
        </p:nvSpPr>
        <p:spPr>
          <a:xfrm>
            <a:off x="795528" y="1554480"/>
            <a:ext cx="5029200" cy="868680"/>
          </a:xfrm>
          <a:prstGeom prst="rect">
            <a:avLst/>
          </a:prstGeom>
          <a:noFill/>
          <a:ln/>
        </p:spPr>
        <p:txBody>
          <a:bodyPr wrap="square" rtlCol="0" anchor="t"/>
          <a:lstStyle/>
          <a:p>
            <a:pPr indent="0" marL="0">
              <a:buNone/>
            </a:pPr>
            <a:r>
              <a:rPr lang="en-US" sz="950" dirty="0">
                <a:solidFill>
                  <a:srgbClr val="404040"/>
                </a:solidFill>
                <a:latin typeface="Calibri" pitchFamily="34" charset="0"/>
                <a:ea typeface="Calibri" pitchFamily="34" charset="-122"/>
                <a:cs typeface="Calibri" pitchFamily="34" charset="-120"/>
              </a:rPr>
              <a:t>Contact appears in 'Contacts without Channel Addresses' — registered in SFMC All Contacts with no email, mobile, or push channel address attached. Covers email-keyed (@), User (005%), Contact (003%), and Lead (00Q%) ContactKey formats.</a:t>
            </a:r>
            <a:endParaRPr lang="en-US" sz="950" dirty="0"/>
          </a:p>
        </p:txBody>
      </p:sp>
      <p:sp>
        <p:nvSpPr>
          <p:cNvPr id="14" name="Shape 12"/>
          <p:cNvSpPr/>
          <p:nvPr/>
        </p:nvSpPr>
        <p:spPr>
          <a:xfrm>
            <a:off x="320040" y="2560320"/>
            <a:ext cx="5577840" cy="1298448"/>
          </a:xfrm>
          <a:prstGeom prst="rect">
            <a:avLst/>
          </a:prstGeom>
          <a:solidFill>
            <a:srgbClr val="F2F7FC"/>
          </a:solidFill>
          <a:ln w="6350">
            <a:solidFill>
              <a:srgbClr val="D0E4F5"/>
            </a:solidFill>
            <a:prstDash val="solid"/>
          </a:ln>
        </p:spPr>
      </p:sp>
      <p:sp>
        <p:nvSpPr>
          <p:cNvPr id="15" name="Shape 13"/>
          <p:cNvSpPr/>
          <p:nvPr/>
        </p:nvSpPr>
        <p:spPr>
          <a:xfrm>
            <a:off x="320040" y="2560320"/>
            <a:ext cx="411480" cy="1298448"/>
          </a:xfrm>
          <a:prstGeom prst="rect">
            <a:avLst/>
          </a:prstGeom>
          <a:solidFill>
            <a:srgbClr val="2E75B6"/>
          </a:solidFill>
          <a:ln/>
        </p:spPr>
      </p:sp>
      <p:sp>
        <p:nvSpPr>
          <p:cNvPr id="16" name="Text 14"/>
          <p:cNvSpPr/>
          <p:nvPr/>
        </p:nvSpPr>
        <p:spPr>
          <a:xfrm>
            <a:off x="320040" y="2971800"/>
            <a:ext cx="41148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5"/>
          <p:cNvSpPr/>
          <p:nvPr/>
        </p:nvSpPr>
        <p:spPr>
          <a:xfrm>
            <a:off x="795528" y="2615184"/>
            <a:ext cx="5029200" cy="320040"/>
          </a:xfrm>
          <a:prstGeom prst="rect">
            <a:avLst/>
          </a:prstGeom>
          <a:noFill/>
          <a:ln/>
        </p:spPr>
        <p:txBody>
          <a:bodyPr wrap="square" rtlCol="0" anchor="ctr"/>
          <a:lstStyle/>
          <a:p>
            <a:pPr indent="0" marL="0">
              <a:buNone/>
            </a:pPr>
            <a:r>
              <a:rPr lang="en-US" sz="1100" b="1" dirty="0">
                <a:solidFill>
                  <a:srgbClr val="1F4E79"/>
                </a:solidFill>
                <a:latin typeface="Calibri" pitchFamily="34" charset="0"/>
                <a:ea typeface="Calibri" pitchFamily="34" charset="-122"/>
                <a:cs typeface="Calibri" pitchFamily="34" charset="-120"/>
              </a:rPr>
              <a:t>No Longer Synchronized from Sales Cloud</a:t>
            </a:r>
            <a:endParaRPr lang="en-US" sz="1100" dirty="0"/>
          </a:p>
        </p:txBody>
      </p:sp>
      <p:sp>
        <p:nvSpPr>
          <p:cNvPr id="18" name="Text 16"/>
          <p:cNvSpPr/>
          <p:nvPr/>
        </p:nvSpPr>
        <p:spPr>
          <a:xfrm>
            <a:off x="795528" y="2944368"/>
            <a:ext cx="5029200" cy="868680"/>
          </a:xfrm>
          <a:prstGeom prst="rect">
            <a:avLst/>
          </a:prstGeom>
          <a:noFill/>
          <a:ln/>
        </p:spPr>
        <p:txBody>
          <a:bodyPr wrap="square" rtlCol="0" anchor="t"/>
          <a:lstStyle/>
          <a:p>
            <a:pPr indent="0" marL="0">
              <a:buNone/>
            </a:pPr>
            <a:r>
              <a:rPr lang="en-US" sz="950" dirty="0">
                <a:solidFill>
                  <a:srgbClr val="404040"/>
                </a:solidFill>
                <a:latin typeface="Calibri" pitchFamily="34" charset="0"/>
                <a:ea typeface="Calibri" pitchFamily="34" charset="-122"/>
                <a:cs typeface="Calibri" pitchFamily="34" charset="-120"/>
              </a:rPr>
              <a:t>ContactKey starting 003, 00Q, or 005 has no matching record in Contact_Salesforce_5, Lead_Salesforce_5, or User_Salesforce_5. The Sales Cloud record has been deleted or converted but the SFMC contact remains.</a:t>
            </a:r>
            <a:endParaRPr lang="en-US" sz="950" dirty="0"/>
          </a:p>
        </p:txBody>
      </p:sp>
      <p:sp>
        <p:nvSpPr>
          <p:cNvPr id="19" name="Shape 17"/>
          <p:cNvSpPr/>
          <p:nvPr/>
        </p:nvSpPr>
        <p:spPr>
          <a:xfrm>
            <a:off x="320040" y="3950208"/>
            <a:ext cx="5577840" cy="1298448"/>
          </a:xfrm>
          <a:prstGeom prst="rect">
            <a:avLst/>
          </a:prstGeom>
          <a:solidFill>
            <a:srgbClr val="F2F7FC"/>
          </a:solidFill>
          <a:ln w="6350">
            <a:solidFill>
              <a:srgbClr val="D0E4F5"/>
            </a:solidFill>
            <a:prstDash val="solid"/>
          </a:ln>
        </p:spPr>
      </p:sp>
      <p:sp>
        <p:nvSpPr>
          <p:cNvPr id="20" name="Shape 18"/>
          <p:cNvSpPr/>
          <p:nvPr/>
        </p:nvSpPr>
        <p:spPr>
          <a:xfrm>
            <a:off x="320040" y="3950208"/>
            <a:ext cx="411480" cy="1298448"/>
          </a:xfrm>
          <a:prstGeom prst="rect">
            <a:avLst/>
          </a:prstGeom>
          <a:solidFill>
            <a:srgbClr val="2E75B6"/>
          </a:solidFill>
          <a:ln/>
        </p:spPr>
      </p:sp>
      <p:sp>
        <p:nvSpPr>
          <p:cNvPr id="21" name="Text 19"/>
          <p:cNvSpPr/>
          <p:nvPr/>
        </p:nvSpPr>
        <p:spPr>
          <a:xfrm>
            <a:off x="320040" y="4361688"/>
            <a:ext cx="41148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20"/>
          <p:cNvSpPr/>
          <p:nvPr/>
        </p:nvSpPr>
        <p:spPr>
          <a:xfrm>
            <a:off x="795528" y="4005072"/>
            <a:ext cx="5029200" cy="320040"/>
          </a:xfrm>
          <a:prstGeom prst="rect">
            <a:avLst/>
          </a:prstGeom>
          <a:noFill/>
          <a:ln/>
        </p:spPr>
        <p:txBody>
          <a:bodyPr wrap="square" rtlCol="0" anchor="ctr"/>
          <a:lstStyle/>
          <a:p>
            <a:pPr indent="0" marL="0">
              <a:buNone/>
            </a:pPr>
            <a:r>
              <a:rPr lang="en-US" sz="1100" b="1" dirty="0">
                <a:solidFill>
                  <a:srgbClr val="1F4E79"/>
                </a:solidFill>
                <a:latin typeface="Calibri" pitchFamily="34" charset="0"/>
                <a:ea typeface="Calibri" pitchFamily="34" charset="-122"/>
                <a:cs typeface="Calibri" pitchFamily="34" charset="-120"/>
              </a:rPr>
              <a:t>Duplicate Email Key — Active</a:t>
            </a:r>
            <a:endParaRPr lang="en-US" sz="1100" dirty="0"/>
          </a:p>
        </p:txBody>
      </p:sp>
      <p:sp>
        <p:nvSpPr>
          <p:cNvPr id="23" name="Text 21"/>
          <p:cNvSpPr/>
          <p:nvPr/>
        </p:nvSpPr>
        <p:spPr>
          <a:xfrm>
            <a:off x="795528" y="4334256"/>
            <a:ext cx="5029200" cy="868680"/>
          </a:xfrm>
          <a:prstGeom prst="rect">
            <a:avLst/>
          </a:prstGeom>
          <a:noFill/>
          <a:ln/>
        </p:spPr>
        <p:txBody>
          <a:bodyPr wrap="square" rtlCol="0" anchor="t"/>
          <a:lstStyle/>
          <a:p>
            <a:pPr indent="0" marL="0">
              <a:buNone/>
            </a:pPr>
            <a:r>
              <a:rPr lang="en-US" sz="950" dirty="0">
                <a:solidFill>
                  <a:srgbClr val="404040"/>
                </a:solidFill>
                <a:latin typeface="Calibri" pitchFamily="34" charset="0"/>
                <a:ea typeface="Calibri" pitchFamily="34" charset="-122"/>
                <a:cs typeface="Calibri" pitchFamily="34" charset="-120"/>
              </a:rPr>
              <a:t>The same email address appears more than once in All Subscribers, the subscriber is Active, and there is no matching Salesforce ID in ContactPointEmail_Salesforce_5.</a:t>
            </a:r>
            <a:endParaRPr lang="en-US" sz="950" dirty="0"/>
          </a:p>
        </p:txBody>
      </p:sp>
      <p:sp>
        <p:nvSpPr>
          <p:cNvPr id="24" name="Shape 22"/>
          <p:cNvSpPr/>
          <p:nvPr/>
        </p:nvSpPr>
        <p:spPr>
          <a:xfrm>
            <a:off x="320040" y="5340096"/>
            <a:ext cx="5577840" cy="1298448"/>
          </a:xfrm>
          <a:prstGeom prst="rect">
            <a:avLst/>
          </a:prstGeom>
          <a:solidFill>
            <a:srgbClr val="F2F7FC"/>
          </a:solidFill>
          <a:ln w="6350">
            <a:solidFill>
              <a:srgbClr val="D0E4F5"/>
            </a:solidFill>
            <a:prstDash val="solid"/>
          </a:ln>
        </p:spPr>
      </p:sp>
      <p:sp>
        <p:nvSpPr>
          <p:cNvPr id="25" name="Shape 23"/>
          <p:cNvSpPr/>
          <p:nvPr/>
        </p:nvSpPr>
        <p:spPr>
          <a:xfrm>
            <a:off x="320040" y="5340096"/>
            <a:ext cx="411480" cy="1298448"/>
          </a:xfrm>
          <a:prstGeom prst="rect">
            <a:avLst/>
          </a:prstGeom>
          <a:solidFill>
            <a:srgbClr val="2E75B6"/>
          </a:solidFill>
          <a:ln/>
        </p:spPr>
      </p:sp>
      <p:sp>
        <p:nvSpPr>
          <p:cNvPr id="26" name="Text 24"/>
          <p:cNvSpPr/>
          <p:nvPr/>
        </p:nvSpPr>
        <p:spPr>
          <a:xfrm>
            <a:off x="320040" y="5751576"/>
            <a:ext cx="41148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7" name="Text 25"/>
          <p:cNvSpPr/>
          <p:nvPr/>
        </p:nvSpPr>
        <p:spPr>
          <a:xfrm>
            <a:off x="795528" y="5394960"/>
            <a:ext cx="5029200" cy="320040"/>
          </a:xfrm>
          <a:prstGeom prst="rect">
            <a:avLst/>
          </a:prstGeom>
          <a:noFill/>
          <a:ln/>
        </p:spPr>
        <p:txBody>
          <a:bodyPr wrap="square" rtlCol="0" anchor="ctr"/>
          <a:lstStyle/>
          <a:p>
            <a:pPr indent="0" marL="0">
              <a:buNone/>
            </a:pPr>
            <a:r>
              <a:rPr lang="en-US" sz="1100" b="1" dirty="0">
                <a:solidFill>
                  <a:srgbClr val="1F4E79"/>
                </a:solidFill>
                <a:latin typeface="Calibri" pitchFamily="34" charset="0"/>
                <a:ea typeface="Calibri" pitchFamily="34" charset="-122"/>
                <a:cs typeface="Calibri" pitchFamily="34" charset="-120"/>
              </a:rPr>
              <a:t>Duplicate Email Key — Not Active</a:t>
            </a:r>
            <a:endParaRPr lang="en-US" sz="1100" dirty="0"/>
          </a:p>
        </p:txBody>
      </p:sp>
      <p:sp>
        <p:nvSpPr>
          <p:cNvPr id="28" name="Text 26"/>
          <p:cNvSpPr/>
          <p:nvPr/>
        </p:nvSpPr>
        <p:spPr>
          <a:xfrm>
            <a:off x="795528" y="5724144"/>
            <a:ext cx="5029200" cy="868680"/>
          </a:xfrm>
          <a:prstGeom prst="rect">
            <a:avLst/>
          </a:prstGeom>
          <a:noFill/>
          <a:ln/>
        </p:spPr>
        <p:txBody>
          <a:bodyPr wrap="square" rtlCol="0" anchor="t"/>
          <a:lstStyle/>
          <a:p>
            <a:pPr indent="0" marL="0">
              <a:buNone/>
            </a:pPr>
            <a:r>
              <a:rPr lang="en-US" sz="950" dirty="0">
                <a:solidFill>
                  <a:srgbClr val="404040"/>
                </a:solidFill>
                <a:latin typeface="Calibri" pitchFamily="34" charset="0"/>
                <a:ea typeface="Calibri" pitchFamily="34" charset="-122"/>
                <a:cs typeface="Calibri" pitchFamily="34" charset="-120"/>
              </a:rPr>
              <a:t>Same as Criterion 3 but the subscriber status is Unsubscribed, Held, or Bounced.</a:t>
            </a:r>
            <a:endParaRPr lang="en-US" sz="950" dirty="0"/>
          </a:p>
        </p:txBody>
      </p:sp>
      <p:sp>
        <p:nvSpPr>
          <p:cNvPr id="29" name="Shape 27"/>
          <p:cNvSpPr/>
          <p:nvPr/>
        </p:nvSpPr>
        <p:spPr>
          <a:xfrm>
            <a:off x="6236208" y="1170432"/>
            <a:ext cx="5577840" cy="1298448"/>
          </a:xfrm>
          <a:prstGeom prst="rect">
            <a:avLst/>
          </a:prstGeom>
          <a:solidFill>
            <a:srgbClr val="F2F7FC"/>
          </a:solidFill>
          <a:ln w="6350">
            <a:solidFill>
              <a:srgbClr val="D0E4F5"/>
            </a:solidFill>
            <a:prstDash val="solid"/>
          </a:ln>
        </p:spPr>
      </p:sp>
      <p:sp>
        <p:nvSpPr>
          <p:cNvPr id="30" name="Shape 28"/>
          <p:cNvSpPr/>
          <p:nvPr/>
        </p:nvSpPr>
        <p:spPr>
          <a:xfrm>
            <a:off x="6236208" y="1170432"/>
            <a:ext cx="411480" cy="1298448"/>
          </a:xfrm>
          <a:prstGeom prst="rect">
            <a:avLst/>
          </a:prstGeom>
          <a:solidFill>
            <a:srgbClr val="2E75B6"/>
          </a:solidFill>
          <a:ln/>
        </p:spPr>
      </p:sp>
      <p:sp>
        <p:nvSpPr>
          <p:cNvPr id="31" name="Text 29"/>
          <p:cNvSpPr/>
          <p:nvPr/>
        </p:nvSpPr>
        <p:spPr>
          <a:xfrm>
            <a:off x="6236208" y="1581912"/>
            <a:ext cx="41148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2" name="Text 30"/>
          <p:cNvSpPr/>
          <p:nvPr/>
        </p:nvSpPr>
        <p:spPr>
          <a:xfrm>
            <a:off x="6711696" y="1225296"/>
            <a:ext cx="5029200" cy="320040"/>
          </a:xfrm>
          <a:prstGeom prst="rect">
            <a:avLst/>
          </a:prstGeom>
          <a:noFill/>
          <a:ln/>
        </p:spPr>
        <p:txBody>
          <a:bodyPr wrap="square" rtlCol="0" anchor="ctr"/>
          <a:lstStyle/>
          <a:p>
            <a:pPr indent="0" marL="0">
              <a:buNone/>
            </a:pPr>
            <a:r>
              <a:rPr lang="en-US" sz="1100" b="1" dirty="0">
                <a:solidFill>
                  <a:srgbClr val="1F4E79"/>
                </a:solidFill>
                <a:latin typeface="Calibri" pitchFamily="34" charset="0"/>
                <a:ea typeface="Calibri" pitchFamily="34" charset="-122"/>
                <a:cs typeface="Calibri" pitchFamily="34" charset="-120"/>
              </a:rPr>
              <a:t>Single Email Key — Active</a:t>
            </a:r>
            <a:endParaRPr lang="en-US" sz="1100" dirty="0"/>
          </a:p>
        </p:txBody>
      </p:sp>
      <p:sp>
        <p:nvSpPr>
          <p:cNvPr id="33" name="Text 31"/>
          <p:cNvSpPr/>
          <p:nvPr/>
        </p:nvSpPr>
        <p:spPr>
          <a:xfrm>
            <a:off x="6711696" y="1554480"/>
            <a:ext cx="5029200" cy="868680"/>
          </a:xfrm>
          <a:prstGeom prst="rect">
            <a:avLst/>
          </a:prstGeom>
          <a:noFill/>
          <a:ln/>
        </p:spPr>
        <p:txBody>
          <a:bodyPr wrap="square" rtlCol="0" anchor="t"/>
          <a:lstStyle/>
          <a:p>
            <a:pPr indent="0" marL="0">
              <a:buNone/>
            </a:pPr>
            <a:r>
              <a:rPr lang="en-US" sz="950" dirty="0">
                <a:solidFill>
                  <a:srgbClr val="404040"/>
                </a:solidFill>
                <a:latin typeface="Calibri" pitchFamily="34" charset="0"/>
                <a:ea typeface="Calibri" pitchFamily="34" charset="-122"/>
                <a:cs typeface="Calibri" pitchFamily="34" charset="-120"/>
              </a:rPr>
              <a:t>Email appears once in All Subscribers, the subscriber is Active, and there is no Salesforce ID in CPE. The contact has no Sales Cloud identity at all.</a:t>
            </a:r>
            <a:endParaRPr lang="en-US" sz="950" dirty="0"/>
          </a:p>
        </p:txBody>
      </p:sp>
      <p:sp>
        <p:nvSpPr>
          <p:cNvPr id="34" name="Shape 32"/>
          <p:cNvSpPr/>
          <p:nvPr/>
        </p:nvSpPr>
        <p:spPr>
          <a:xfrm>
            <a:off x="6236208" y="2560320"/>
            <a:ext cx="5577840" cy="1298448"/>
          </a:xfrm>
          <a:prstGeom prst="rect">
            <a:avLst/>
          </a:prstGeom>
          <a:solidFill>
            <a:srgbClr val="F2F7FC"/>
          </a:solidFill>
          <a:ln w="6350">
            <a:solidFill>
              <a:srgbClr val="D0E4F5"/>
            </a:solidFill>
            <a:prstDash val="solid"/>
          </a:ln>
        </p:spPr>
      </p:sp>
      <p:sp>
        <p:nvSpPr>
          <p:cNvPr id="35" name="Shape 33"/>
          <p:cNvSpPr/>
          <p:nvPr/>
        </p:nvSpPr>
        <p:spPr>
          <a:xfrm>
            <a:off x="6236208" y="2560320"/>
            <a:ext cx="411480" cy="1298448"/>
          </a:xfrm>
          <a:prstGeom prst="rect">
            <a:avLst/>
          </a:prstGeom>
          <a:solidFill>
            <a:srgbClr val="2E75B6"/>
          </a:solidFill>
          <a:ln/>
        </p:spPr>
      </p:sp>
      <p:sp>
        <p:nvSpPr>
          <p:cNvPr id="36" name="Text 34"/>
          <p:cNvSpPr/>
          <p:nvPr/>
        </p:nvSpPr>
        <p:spPr>
          <a:xfrm>
            <a:off x="6236208" y="2971800"/>
            <a:ext cx="41148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7" name="Text 35"/>
          <p:cNvSpPr/>
          <p:nvPr/>
        </p:nvSpPr>
        <p:spPr>
          <a:xfrm>
            <a:off x="6711696" y="2615184"/>
            <a:ext cx="5029200" cy="320040"/>
          </a:xfrm>
          <a:prstGeom prst="rect">
            <a:avLst/>
          </a:prstGeom>
          <a:noFill/>
          <a:ln/>
        </p:spPr>
        <p:txBody>
          <a:bodyPr wrap="square" rtlCol="0" anchor="ctr"/>
          <a:lstStyle/>
          <a:p>
            <a:pPr indent="0" marL="0">
              <a:buNone/>
            </a:pPr>
            <a:r>
              <a:rPr lang="en-US" sz="1100" b="1" dirty="0">
                <a:solidFill>
                  <a:srgbClr val="1F4E79"/>
                </a:solidFill>
                <a:latin typeface="Calibri" pitchFamily="34" charset="0"/>
                <a:ea typeface="Calibri" pitchFamily="34" charset="-122"/>
                <a:cs typeface="Calibri" pitchFamily="34" charset="-120"/>
              </a:rPr>
              <a:t>Single Email Key — Not Active</a:t>
            </a:r>
            <a:endParaRPr lang="en-US" sz="1100" dirty="0"/>
          </a:p>
        </p:txBody>
      </p:sp>
      <p:sp>
        <p:nvSpPr>
          <p:cNvPr id="38" name="Text 36"/>
          <p:cNvSpPr/>
          <p:nvPr/>
        </p:nvSpPr>
        <p:spPr>
          <a:xfrm>
            <a:off x="6711696" y="2944368"/>
            <a:ext cx="5029200" cy="868680"/>
          </a:xfrm>
          <a:prstGeom prst="rect">
            <a:avLst/>
          </a:prstGeom>
          <a:noFill/>
          <a:ln/>
        </p:spPr>
        <p:txBody>
          <a:bodyPr wrap="square" rtlCol="0" anchor="t"/>
          <a:lstStyle/>
          <a:p>
            <a:pPr indent="0" marL="0">
              <a:buNone/>
            </a:pPr>
            <a:r>
              <a:rPr lang="en-US" sz="950" dirty="0">
                <a:solidFill>
                  <a:srgbClr val="404040"/>
                </a:solidFill>
                <a:latin typeface="Calibri" pitchFamily="34" charset="0"/>
                <a:ea typeface="Calibri" pitchFamily="34" charset="-122"/>
                <a:cs typeface="Calibri" pitchFamily="34" charset="-120"/>
              </a:rPr>
              <a:t>Same as Criterion 5 but status is Unsubscribed, Held, or Bounced.</a:t>
            </a:r>
            <a:endParaRPr lang="en-US" sz="950" dirty="0"/>
          </a:p>
        </p:txBody>
      </p:sp>
      <p:sp>
        <p:nvSpPr>
          <p:cNvPr id="39" name="Shape 37"/>
          <p:cNvSpPr/>
          <p:nvPr/>
        </p:nvSpPr>
        <p:spPr>
          <a:xfrm>
            <a:off x="6236208" y="3950208"/>
            <a:ext cx="5577840" cy="1298448"/>
          </a:xfrm>
          <a:prstGeom prst="rect">
            <a:avLst/>
          </a:prstGeom>
          <a:solidFill>
            <a:srgbClr val="F2F7FC"/>
          </a:solidFill>
          <a:ln w="6350">
            <a:solidFill>
              <a:srgbClr val="D0E4F5"/>
            </a:solidFill>
            <a:prstDash val="solid"/>
          </a:ln>
        </p:spPr>
      </p:sp>
      <p:sp>
        <p:nvSpPr>
          <p:cNvPr id="40" name="Shape 38"/>
          <p:cNvSpPr/>
          <p:nvPr/>
        </p:nvSpPr>
        <p:spPr>
          <a:xfrm>
            <a:off x="6236208" y="3950208"/>
            <a:ext cx="411480" cy="1298448"/>
          </a:xfrm>
          <a:prstGeom prst="rect">
            <a:avLst/>
          </a:prstGeom>
          <a:solidFill>
            <a:srgbClr val="2E75B6"/>
          </a:solidFill>
          <a:ln/>
        </p:spPr>
      </p:sp>
      <p:sp>
        <p:nvSpPr>
          <p:cNvPr id="41" name="Text 39"/>
          <p:cNvSpPr/>
          <p:nvPr/>
        </p:nvSpPr>
        <p:spPr>
          <a:xfrm>
            <a:off x="6236208" y="4361688"/>
            <a:ext cx="41148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42" name="Text 40"/>
          <p:cNvSpPr/>
          <p:nvPr/>
        </p:nvSpPr>
        <p:spPr>
          <a:xfrm>
            <a:off x="6711696" y="4005072"/>
            <a:ext cx="5029200" cy="320040"/>
          </a:xfrm>
          <a:prstGeom prst="rect">
            <a:avLst/>
          </a:prstGeom>
          <a:noFill/>
          <a:ln/>
        </p:spPr>
        <p:txBody>
          <a:bodyPr wrap="square" rtlCol="0" anchor="ctr"/>
          <a:lstStyle/>
          <a:p>
            <a:pPr indent="0" marL="0">
              <a:buNone/>
            </a:pPr>
            <a:r>
              <a:rPr lang="en-US" sz="1100" b="1" dirty="0">
                <a:solidFill>
                  <a:srgbClr val="1F4E79"/>
                </a:solidFill>
                <a:latin typeface="Calibri" pitchFamily="34" charset="0"/>
                <a:ea typeface="Calibri" pitchFamily="34" charset="-122"/>
                <a:cs typeface="Calibri" pitchFamily="34" charset="-120"/>
              </a:rPr>
              <a:t>Not Emailed in Last 180 Days</a:t>
            </a:r>
            <a:endParaRPr lang="en-US" sz="1100" dirty="0"/>
          </a:p>
        </p:txBody>
      </p:sp>
      <p:sp>
        <p:nvSpPr>
          <p:cNvPr id="43" name="Text 41"/>
          <p:cNvSpPr/>
          <p:nvPr/>
        </p:nvSpPr>
        <p:spPr>
          <a:xfrm>
            <a:off x="6711696" y="4334256"/>
            <a:ext cx="5029200" cy="868680"/>
          </a:xfrm>
          <a:prstGeom prst="rect">
            <a:avLst/>
          </a:prstGeom>
          <a:noFill/>
          <a:ln/>
        </p:spPr>
        <p:txBody>
          <a:bodyPr wrap="square" rtlCol="0" anchor="t"/>
          <a:lstStyle/>
          <a:p>
            <a:pPr indent="0" marL="0">
              <a:buNone/>
            </a:pPr>
            <a:r>
              <a:rPr lang="en-US" sz="950" dirty="0">
                <a:solidFill>
                  <a:srgbClr val="404040"/>
                </a:solidFill>
                <a:latin typeface="Calibri" pitchFamily="34" charset="0"/>
                <a:ea typeface="Calibri" pitchFamily="34" charset="-122"/>
                <a:cs typeface="Calibri" pitchFamily="34" charset="-120"/>
              </a:rPr>
              <a:t>Active subscriber with no Salesforce ID and no send event in MasterSentLog in the last 180 days. Not already in the deletion staging DE, not Held, and not Unsubscribed.</a:t>
            </a:r>
            <a:endParaRPr lang="en-US" sz="950" dirty="0"/>
          </a:p>
        </p:txBody>
      </p:sp>
      <p:sp>
        <p:nvSpPr>
          <p:cNvPr id="44" name="Shape 42"/>
          <p:cNvSpPr/>
          <p:nvPr/>
        </p:nvSpPr>
        <p:spPr>
          <a:xfrm>
            <a:off x="6236208" y="5056632"/>
            <a:ext cx="5577840" cy="1298448"/>
          </a:xfrm>
          <a:prstGeom prst="rect">
            <a:avLst/>
          </a:prstGeom>
          <a:solidFill>
            <a:srgbClr val="F2F7FC"/>
          </a:solidFill>
          <a:ln w="6350">
            <a:solidFill>
              <a:srgbClr val="D0E4F5"/>
            </a:solidFill>
            <a:prstDash val="solid"/>
          </a:ln>
        </p:spPr>
      </p:sp>
      <p:sp>
        <p:nvSpPr>
          <p:cNvPr id="45" name="Shape 43"/>
          <p:cNvSpPr/>
          <p:nvPr/>
        </p:nvSpPr>
        <p:spPr>
          <a:xfrm>
            <a:off x="6236208" y="5056632"/>
            <a:ext cx="411480" cy="1298448"/>
          </a:xfrm>
          <a:prstGeom prst="rect">
            <a:avLst/>
          </a:prstGeom>
          <a:solidFill>
            <a:srgbClr val="2E75B6"/>
          </a:solidFill>
          <a:ln/>
        </p:spPr>
      </p:sp>
      <p:sp>
        <p:nvSpPr>
          <p:cNvPr id="46" name="Text 44"/>
          <p:cNvSpPr/>
          <p:nvPr/>
        </p:nvSpPr>
        <p:spPr>
          <a:xfrm>
            <a:off x="6236208" y="5468112"/>
            <a:ext cx="41148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47" name="Text 45"/>
          <p:cNvSpPr/>
          <p:nvPr/>
        </p:nvSpPr>
        <p:spPr>
          <a:xfrm>
            <a:off x="6720840" y="5111496"/>
            <a:ext cx="5029200" cy="320040"/>
          </a:xfrm>
          <a:prstGeom prst="rect">
            <a:avLst/>
          </a:prstGeom>
          <a:noFill/>
          <a:ln/>
        </p:spPr>
        <p:txBody>
          <a:bodyPr wrap="square" rtlCol="0" anchor="ctr"/>
          <a:lstStyle/>
          <a:p>
            <a:pPr indent="0" marL="0">
              <a:buNone/>
            </a:pPr>
            <a:r>
              <a:rPr lang="en-US" sz="1100" b="1" dirty="0">
                <a:solidFill>
                  <a:srgbClr val="1F4E79"/>
                </a:solidFill>
                <a:latin typeface="Calibri" pitchFamily="34" charset="0"/>
                <a:ea typeface="Calibri" pitchFamily="34" charset="-122"/>
                <a:cs typeface="Calibri" pitchFamily="34" charset="-120"/>
              </a:rPr>
              <a:t>Not Emailed in Last 180 Days</a:t>
            </a:r>
            <a:endParaRPr lang="en-US" sz="1100" dirty="0"/>
          </a:p>
        </p:txBody>
      </p:sp>
      <p:sp>
        <p:nvSpPr>
          <p:cNvPr id="48" name="Text 46"/>
          <p:cNvSpPr/>
          <p:nvPr/>
        </p:nvSpPr>
        <p:spPr>
          <a:xfrm>
            <a:off x="6720840" y="5440680"/>
            <a:ext cx="5029200" cy="868680"/>
          </a:xfrm>
          <a:prstGeom prst="rect">
            <a:avLst/>
          </a:prstGeom>
          <a:noFill/>
          <a:ln/>
        </p:spPr>
        <p:txBody>
          <a:bodyPr wrap="square" rtlCol="0" anchor="t"/>
          <a:lstStyle/>
          <a:p>
            <a:pPr indent="0" marL="0">
              <a:buNone/>
            </a:pPr>
            <a:r>
              <a:rPr lang="en-US" sz="950" dirty="0">
                <a:solidFill>
                  <a:srgbClr val="404040"/>
                </a:solidFill>
                <a:latin typeface="Calibri" pitchFamily="34" charset="0"/>
                <a:ea typeface="Calibri" pitchFamily="34" charset="-122"/>
                <a:cs typeface="Calibri" pitchFamily="34" charset="-120"/>
              </a:rPr>
              <a:t>Active subscriber with no Salesforce ID and no send event in MasterSentLog in the last 180 days. Not already in the deletion staging DE, not Held, and not Unsubscribed.</a:t>
            </a:r>
            <a:endParaRPr lang="en-US" sz="950" dirty="0"/>
          </a:p>
        </p:txBody>
      </p:sp>
      <p:sp>
        <p:nvSpPr>
          <p:cNvPr id="49" name="Shape 47"/>
          <p:cNvSpPr/>
          <p:nvPr/>
        </p:nvSpPr>
        <p:spPr>
          <a:xfrm>
            <a:off x="320040" y="6053328"/>
            <a:ext cx="5577840" cy="384048"/>
          </a:xfrm>
          <a:prstGeom prst="rect">
            <a:avLst/>
          </a:prstGeom>
          <a:solidFill>
            <a:srgbClr val="FFF2CC"/>
          </a:solidFill>
          <a:ln w="6350">
            <a:solidFill>
              <a:srgbClr val="FFD966"/>
            </a:solidFill>
            <a:prstDash val="solid"/>
          </a:ln>
        </p:spPr>
      </p:sp>
      <p:sp>
        <p:nvSpPr>
          <p:cNvPr id="50" name="Text 48"/>
          <p:cNvSpPr/>
          <p:nvPr/>
        </p:nvSpPr>
        <p:spPr>
          <a:xfrm>
            <a:off x="457200" y="6080760"/>
            <a:ext cx="5303520" cy="329184"/>
          </a:xfrm>
          <a:prstGeom prst="rect">
            <a:avLst/>
          </a:prstGeom>
          <a:noFill/>
          <a:ln/>
        </p:spPr>
        <p:txBody>
          <a:bodyPr wrap="square" rtlCol="0" anchor="ctr"/>
          <a:lstStyle/>
          <a:p>
            <a:pPr indent="0" marL="0">
              <a:buNone/>
            </a:pPr>
            <a:r>
              <a:rPr lang="en-US" sz="900" b="1" dirty="0">
                <a:solidFill>
                  <a:srgbClr val="7F6000"/>
                </a:solidFill>
                <a:latin typeface="Calibri" pitchFamily="34" charset="0"/>
                <a:ea typeface="Calibri" pitchFamily="34" charset="-122"/>
                <a:cs typeface="Calibri" pitchFamily="34" charset="-120"/>
              </a:rPr>
              <a:t>Exclusion: Any contact on the Delete_Email_Exclusion_List is protected from deletion regardless of which criterion they match.</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1F4E79"/>
          </a:solidFill>
          <a:ln/>
        </p:spPr>
      </p:sp>
      <p:sp>
        <p:nvSpPr>
          <p:cNvPr id="3" name="Shape 1"/>
          <p:cNvSpPr/>
          <p:nvPr/>
        </p:nvSpPr>
        <p:spPr>
          <a:xfrm>
            <a:off x="0" y="1005840"/>
            <a:ext cx="12188952" cy="54864"/>
          </a:xfrm>
          <a:prstGeom prst="rect">
            <a:avLst/>
          </a:prstGeom>
          <a:solidFill>
            <a:srgbClr val="2E75B6"/>
          </a:solidFill>
          <a:ln/>
        </p:spPr>
      </p:sp>
      <p:sp>
        <p:nvSpPr>
          <p:cNvPr id="4" name="Text 2"/>
          <p:cNvSpPr/>
          <p:nvPr/>
        </p:nvSpPr>
        <p:spPr>
          <a:xfrm>
            <a:off x="320040" y="137160"/>
            <a:ext cx="1152144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End-to-End Process Flow</a:t>
            </a:r>
            <a:endParaRPr lang="en-US" sz="2200" dirty="0"/>
          </a:p>
        </p:txBody>
      </p:sp>
      <p:sp>
        <p:nvSpPr>
          <p:cNvPr id="5" name="Text 3"/>
          <p:cNvSpPr/>
          <p:nvPr/>
        </p:nvSpPr>
        <p:spPr>
          <a:xfrm>
            <a:off x="320040" y="621792"/>
            <a:ext cx="11521440" cy="320040"/>
          </a:xfrm>
          <a:prstGeom prst="rect">
            <a:avLst/>
          </a:prstGeom>
          <a:noFill/>
          <a:ln/>
        </p:spPr>
        <p:txBody>
          <a:bodyPr wrap="square" rtlCol="0" anchor="ctr"/>
          <a:lstStyle/>
          <a:p>
            <a:pPr indent="0" marL="0">
              <a:buNone/>
            </a:pPr>
            <a:r>
              <a:rPr lang="en-US" sz="1200" dirty="0">
                <a:solidFill>
                  <a:srgbClr val="BDD7EE"/>
                </a:solidFill>
                <a:latin typeface="Calibri" pitchFamily="34" charset="0"/>
                <a:ea typeface="Calibri" pitchFamily="34" charset="-122"/>
                <a:cs typeface="Calibri" pitchFamily="34" charset="-120"/>
              </a:rPr>
              <a:t>GEE-55805 — Weekly Contact Deletion  |  Sunday 3:30 AM  |  49 steps across 8 phases</a:t>
            </a:r>
            <a:endParaRPr lang="en-US" sz="1200" dirty="0"/>
          </a:p>
        </p:txBody>
      </p:sp>
      <p:sp>
        <p:nvSpPr>
          <p:cNvPr id="6" name="Shape 4"/>
          <p:cNvSpPr/>
          <p:nvPr/>
        </p:nvSpPr>
        <p:spPr>
          <a:xfrm>
            <a:off x="0" y="6556248"/>
            <a:ext cx="12188952" cy="301752"/>
          </a:xfrm>
          <a:prstGeom prst="rect">
            <a:avLst/>
          </a:prstGeom>
          <a:solidFill>
            <a:srgbClr val="F2F2F2"/>
          </a:solidFill>
          <a:ln/>
        </p:spPr>
      </p:sp>
      <p:sp>
        <p:nvSpPr>
          <p:cNvPr id="7" name="Text 5"/>
          <p:cNvSpPr/>
          <p:nvPr/>
        </p:nvSpPr>
        <p:spPr>
          <a:xfrm>
            <a:off x="182880" y="6574536"/>
            <a:ext cx="3657600" cy="228600"/>
          </a:xfrm>
          <a:prstGeom prst="rect">
            <a:avLst/>
          </a:prstGeom>
          <a:noFill/>
          <a:ln/>
        </p:spPr>
        <p:txBody>
          <a:bodyPr wrap="square" rtlCol="0" anchor="ctr"/>
          <a:lstStyle/>
          <a:p>
            <a:pPr indent="0" marL="0">
              <a:buNone/>
            </a:pPr>
            <a:r>
              <a:rPr lang="en-US" sz="800" b="1" dirty="0">
                <a:solidFill>
                  <a:srgbClr val="2E75B6"/>
                </a:solidFill>
                <a:latin typeface="Calibri" pitchFamily="34" charset="0"/>
                <a:ea typeface="Calibri" pitchFamily="34" charset="-122"/>
                <a:cs typeface="Calibri" pitchFamily="34" charset="-120"/>
              </a:rPr>
              <a:t>#DigitalExcellence</a:t>
            </a:r>
            <a:endParaRPr lang="en-US" sz="800" dirty="0"/>
          </a:p>
        </p:txBody>
      </p:sp>
      <p:sp>
        <p:nvSpPr>
          <p:cNvPr id="8" name="Text 6"/>
          <p:cNvSpPr/>
          <p:nvPr/>
        </p:nvSpPr>
        <p:spPr>
          <a:xfrm>
            <a:off x="3840480" y="6574536"/>
            <a:ext cx="8229600" cy="228600"/>
          </a:xfrm>
          <a:prstGeom prst="rect">
            <a:avLst/>
          </a:prstGeom>
          <a:noFill/>
          <a:ln/>
        </p:spPr>
        <p:txBody>
          <a:bodyPr wrap="square" rtlCol="0" anchor="ctr"/>
          <a:lstStyle/>
          <a:p>
            <a:pPr algn="r" indent="0" marL="0">
              <a:buNone/>
            </a:pPr>
            <a:r>
              <a:rPr lang="en-US" sz="800" dirty="0">
                <a:solidFill>
                  <a:srgbClr val="666666"/>
                </a:solidFill>
                <a:latin typeface="Calibri" pitchFamily="34" charset="0"/>
                <a:ea typeface="Calibri" pitchFamily="34" charset="-122"/>
                <a:cs typeface="Calibri" pitchFamily="34" charset="-120"/>
              </a:rPr>
              <a:t>Contact Deletion  |  KPMG Marketing Cloud Engage  |  Himanshu Gupta</a:t>
            </a:r>
            <a:endParaRPr lang="en-US" sz="800" dirty="0"/>
          </a:p>
        </p:txBody>
      </p:sp>
      <p:sp>
        <p:nvSpPr>
          <p:cNvPr id="9" name="Shape 7"/>
          <p:cNvSpPr/>
          <p:nvPr/>
        </p:nvSpPr>
        <p:spPr>
          <a:xfrm>
            <a:off x="320040" y="1143000"/>
            <a:ext cx="1353312" cy="502920"/>
          </a:xfrm>
          <a:prstGeom prst="rect">
            <a:avLst/>
          </a:prstGeom>
          <a:solidFill>
            <a:srgbClr val="2E75B6"/>
          </a:solidFill>
          <a:ln/>
        </p:spPr>
      </p:sp>
      <p:sp>
        <p:nvSpPr>
          <p:cNvPr id="10" name="Text 8"/>
          <p:cNvSpPr/>
          <p:nvPr/>
        </p:nvSpPr>
        <p:spPr>
          <a:xfrm>
            <a:off x="320040" y="1143000"/>
            <a:ext cx="1353312" cy="5029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 Initialise</a:t>
            </a:r>
            <a:endParaRPr lang="en-US" sz="900" dirty="0"/>
          </a:p>
        </p:txBody>
      </p:sp>
      <p:sp>
        <p:nvSpPr>
          <p:cNvPr id="11" name="Shape 9"/>
          <p:cNvSpPr/>
          <p:nvPr/>
        </p:nvSpPr>
        <p:spPr>
          <a:xfrm>
            <a:off x="1673352" y="1316736"/>
            <a:ext cx="82296" cy="164592"/>
          </a:xfrm>
          <a:prstGeom prst="rect">
            <a:avLst/>
          </a:prstGeom>
          <a:solidFill>
            <a:srgbClr val="CCCCCC"/>
          </a:solidFill>
          <a:ln/>
        </p:spPr>
      </p:sp>
      <p:sp>
        <p:nvSpPr>
          <p:cNvPr id="12" name="Shape 10"/>
          <p:cNvSpPr/>
          <p:nvPr/>
        </p:nvSpPr>
        <p:spPr>
          <a:xfrm>
            <a:off x="320040" y="1719072"/>
            <a:ext cx="1353312" cy="4526280"/>
          </a:xfrm>
          <a:prstGeom prst="rect">
            <a:avLst/>
          </a:prstGeom>
          <a:solidFill>
            <a:srgbClr val="F2F7FC"/>
          </a:solidFill>
          <a:ln w="6350">
            <a:solidFill>
              <a:srgbClr val="D0E4F5"/>
            </a:solidFill>
            <a:prstDash val="solid"/>
          </a:ln>
        </p:spPr>
      </p:sp>
      <p:sp>
        <p:nvSpPr>
          <p:cNvPr id="13" name="Shape 11"/>
          <p:cNvSpPr/>
          <p:nvPr/>
        </p:nvSpPr>
        <p:spPr>
          <a:xfrm>
            <a:off x="320040" y="1719072"/>
            <a:ext cx="1353312" cy="54864"/>
          </a:xfrm>
          <a:prstGeom prst="rect">
            <a:avLst/>
          </a:prstGeom>
          <a:solidFill>
            <a:srgbClr val="2E75B6"/>
          </a:solidFill>
          <a:ln/>
        </p:spPr>
      </p:sp>
      <p:sp>
        <p:nvSpPr>
          <p:cNvPr id="14" name="Text 12"/>
          <p:cNvSpPr/>
          <p:nvPr/>
        </p:nvSpPr>
        <p:spPr>
          <a:xfrm>
            <a:off x="374904" y="1810512"/>
            <a:ext cx="1243584" cy="4343400"/>
          </a:xfrm>
          <a:prstGeom prst="rect">
            <a:avLst/>
          </a:prstGeom>
          <a:noFill/>
          <a:ln/>
        </p:spPr>
        <p:txBody>
          <a:bodyPr wrap="square" rtlCol="0" anchor="t"/>
          <a:lstStyle/>
          <a:p>
            <a:pPr indent="0" marL="0">
              <a:buNone/>
            </a:pPr>
            <a:r>
              <a:rPr lang="en-US" sz="900" dirty="0">
                <a:solidFill>
                  <a:srgbClr val="404040"/>
                </a:solidFill>
                <a:latin typeface="Calibri" pitchFamily="34" charset="0"/>
                <a:ea typeface="Calibri" pitchFamily="34" charset="-122"/>
                <a:cs typeface="Calibri" pitchFamily="34" charset="-120"/>
              </a:rPr>
              <a:t>Step 1</a:t>
            </a:r>
            <a:endParaRPr lang="en-US" sz="900" dirty="0"/>
          </a:p>
          <a:p>
            <a:pPr indent="0" marL="0">
              <a:buNone/>
            </a:pPr>
            <a:r>
              <a:rPr lang="en-US" sz="900" dirty="0">
                <a:solidFill>
                  <a:srgbClr val="404040"/>
                </a:solidFill>
                <a:latin typeface="Calibri" pitchFamily="34" charset="0"/>
                <a:ea typeface="Calibri" pitchFamily="34" charset="-122"/>
                <a:cs typeface="Calibri" pitchFamily="34" charset="-120"/>
              </a:rPr>
              <a:t>Clear all 8 working DEs via WSProxy ClearData</a:t>
            </a:r>
            <a:endParaRPr lang="en-US" sz="900" dirty="0"/>
          </a:p>
        </p:txBody>
      </p:sp>
      <p:sp>
        <p:nvSpPr>
          <p:cNvPr id="15" name="Shape 13"/>
          <p:cNvSpPr/>
          <p:nvPr/>
        </p:nvSpPr>
        <p:spPr>
          <a:xfrm>
            <a:off x="1764792" y="1143000"/>
            <a:ext cx="1353312" cy="502920"/>
          </a:xfrm>
          <a:prstGeom prst="rect">
            <a:avLst/>
          </a:prstGeom>
          <a:solidFill>
            <a:srgbClr val="2E86AB"/>
          </a:solidFill>
          <a:ln/>
        </p:spPr>
      </p:sp>
      <p:sp>
        <p:nvSpPr>
          <p:cNvPr id="16" name="Text 14"/>
          <p:cNvSpPr/>
          <p:nvPr/>
        </p:nvSpPr>
        <p:spPr>
          <a:xfrm>
            <a:off x="1764792" y="1143000"/>
            <a:ext cx="1353312" cy="5029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 Exclusion List</a:t>
            </a:r>
            <a:endParaRPr lang="en-US" sz="900" dirty="0"/>
          </a:p>
        </p:txBody>
      </p:sp>
      <p:sp>
        <p:nvSpPr>
          <p:cNvPr id="17" name="Shape 15"/>
          <p:cNvSpPr/>
          <p:nvPr/>
        </p:nvSpPr>
        <p:spPr>
          <a:xfrm>
            <a:off x="3118104" y="1316736"/>
            <a:ext cx="82296" cy="164592"/>
          </a:xfrm>
          <a:prstGeom prst="rect">
            <a:avLst/>
          </a:prstGeom>
          <a:solidFill>
            <a:srgbClr val="CCCCCC"/>
          </a:solidFill>
          <a:ln/>
        </p:spPr>
      </p:sp>
      <p:sp>
        <p:nvSpPr>
          <p:cNvPr id="18" name="Shape 16"/>
          <p:cNvSpPr/>
          <p:nvPr/>
        </p:nvSpPr>
        <p:spPr>
          <a:xfrm>
            <a:off x="1764792" y="1719072"/>
            <a:ext cx="1353312" cy="4526280"/>
          </a:xfrm>
          <a:prstGeom prst="rect">
            <a:avLst/>
          </a:prstGeom>
          <a:solidFill>
            <a:srgbClr val="F2F7FC"/>
          </a:solidFill>
          <a:ln w="6350">
            <a:solidFill>
              <a:srgbClr val="D0E4F5"/>
            </a:solidFill>
            <a:prstDash val="solid"/>
          </a:ln>
        </p:spPr>
      </p:sp>
      <p:sp>
        <p:nvSpPr>
          <p:cNvPr id="19" name="Shape 17"/>
          <p:cNvSpPr/>
          <p:nvPr/>
        </p:nvSpPr>
        <p:spPr>
          <a:xfrm>
            <a:off x="1764792" y="1719072"/>
            <a:ext cx="1353312" cy="54864"/>
          </a:xfrm>
          <a:prstGeom prst="rect">
            <a:avLst/>
          </a:prstGeom>
          <a:solidFill>
            <a:srgbClr val="2E86AB"/>
          </a:solidFill>
          <a:ln/>
        </p:spPr>
      </p:sp>
      <p:sp>
        <p:nvSpPr>
          <p:cNvPr id="20" name="Text 18"/>
          <p:cNvSpPr/>
          <p:nvPr/>
        </p:nvSpPr>
        <p:spPr>
          <a:xfrm>
            <a:off x="1819656" y="1810512"/>
            <a:ext cx="1243584" cy="4343400"/>
          </a:xfrm>
          <a:prstGeom prst="rect">
            <a:avLst/>
          </a:prstGeom>
          <a:noFill/>
          <a:ln/>
        </p:spPr>
        <p:txBody>
          <a:bodyPr wrap="square" rtlCol="0" anchor="t"/>
          <a:lstStyle/>
          <a:p>
            <a:pPr indent="0" marL="0">
              <a:buNone/>
            </a:pPr>
            <a:r>
              <a:rPr lang="en-US" sz="900" dirty="0">
                <a:solidFill>
                  <a:srgbClr val="404040"/>
                </a:solidFill>
                <a:latin typeface="Calibri" pitchFamily="34" charset="0"/>
                <a:ea typeface="Calibri" pitchFamily="34" charset="-122"/>
                <a:cs typeface="Calibri" pitchFamily="34" charset="-120"/>
              </a:rPr>
              <a:t>Step 2</a:t>
            </a:r>
            <a:endParaRPr lang="en-US" sz="900" dirty="0"/>
          </a:p>
          <a:p>
            <a:pPr indent="0" marL="0">
              <a:buNone/>
            </a:pPr>
            <a:r>
              <a:rPr lang="en-US" sz="900" dirty="0">
                <a:solidFill>
                  <a:srgbClr val="404040"/>
                </a:solidFill>
                <a:latin typeface="Calibri" pitchFamily="34" charset="0"/>
                <a:ea typeface="Calibri" pitchFamily="34" charset="-122"/>
                <a:cs typeface="Calibri" pitchFamily="34" charset="-120"/>
              </a:rPr>
              <a:t>Build Delete_Email_Exclusion_List from all protected sources</a:t>
            </a:r>
            <a:endParaRPr lang="en-US" sz="900" dirty="0"/>
          </a:p>
        </p:txBody>
      </p:sp>
      <p:sp>
        <p:nvSpPr>
          <p:cNvPr id="21" name="Shape 19"/>
          <p:cNvSpPr/>
          <p:nvPr/>
        </p:nvSpPr>
        <p:spPr>
          <a:xfrm>
            <a:off x="3209544" y="1143000"/>
            <a:ext cx="1353312" cy="502920"/>
          </a:xfrm>
          <a:prstGeom prst="rect">
            <a:avLst/>
          </a:prstGeom>
          <a:solidFill>
            <a:srgbClr val="1B7A4E"/>
          </a:solidFill>
          <a:ln/>
        </p:spPr>
      </p:sp>
      <p:sp>
        <p:nvSpPr>
          <p:cNvPr id="22" name="Text 20"/>
          <p:cNvSpPr/>
          <p:nvPr/>
        </p:nvSpPr>
        <p:spPr>
          <a:xfrm>
            <a:off x="3209544" y="1143000"/>
            <a:ext cx="1353312" cy="5029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 Collect Candidates</a:t>
            </a:r>
            <a:endParaRPr lang="en-US" sz="900" dirty="0"/>
          </a:p>
        </p:txBody>
      </p:sp>
      <p:sp>
        <p:nvSpPr>
          <p:cNvPr id="23" name="Shape 21"/>
          <p:cNvSpPr/>
          <p:nvPr/>
        </p:nvSpPr>
        <p:spPr>
          <a:xfrm>
            <a:off x="4562856" y="1316736"/>
            <a:ext cx="82296" cy="164592"/>
          </a:xfrm>
          <a:prstGeom prst="rect">
            <a:avLst/>
          </a:prstGeom>
          <a:solidFill>
            <a:srgbClr val="CCCCCC"/>
          </a:solidFill>
          <a:ln/>
        </p:spPr>
      </p:sp>
      <p:sp>
        <p:nvSpPr>
          <p:cNvPr id="24" name="Shape 22"/>
          <p:cNvSpPr/>
          <p:nvPr/>
        </p:nvSpPr>
        <p:spPr>
          <a:xfrm>
            <a:off x="3209544" y="1719072"/>
            <a:ext cx="1353312" cy="4526280"/>
          </a:xfrm>
          <a:prstGeom prst="rect">
            <a:avLst/>
          </a:prstGeom>
          <a:solidFill>
            <a:srgbClr val="F2F7FC"/>
          </a:solidFill>
          <a:ln w="6350">
            <a:solidFill>
              <a:srgbClr val="D0E4F5"/>
            </a:solidFill>
            <a:prstDash val="solid"/>
          </a:ln>
        </p:spPr>
      </p:sp>
      <p:sp>
        <p:nvSpPr>
          <p:cNvPr id="25" name="Shape 23"/>
          <p:cNvSpPr/>
          <p:nvPr/>
        </p:nvSpPr>
        <p:spPr>
          <a:xfrm>
            <a:off x="3209544" y="1719072"/>
            <a:ext cx="1353312" cy="54864"/>
          </a:xfrm>
          <a:prstGeom prst="rect">
            <a:avLst/>
          </a:prstGeom>
          <a:solidFill>
            <a:srgbClr val="1B7A4E"/>
          </a:solidFill>
          <a:ln/>
        </p:spPr>
      </p:sp>
      <p:sp>
        <p:nvSpPr>
          <p:cNvPr id="26" name="Text 24"/>
          <p:cNvSpPr/>
          <p:nvPr/>
        </p:nvSpPr>
        <p:spPr>
          <a:xfrm>
            <a:off x="3264408" y="1810512"/>
            <a:ext cx="1243584" cy="4343400"/>
          </a:xfrm>
          <a:prstGeom prst="rect">
            <a:avLst/>
          </a:prstGeom>
          <a:noFill/>
          <a:ln/>
        </p:spPr>
        <p:txBody>
          <a:bodyPr wrap="square" rtlCol="0" anchor="t"/>
          <a:lstStyle/>
          <a:p>
            <a:pPr indent="0" marL="0">
              <a:buNone/>
            </a:pPr>
            <a:r>
              <a:rPr lang="en-US" sz="900" dirty="0">
                <a:solidFill>
                  <a:srgbClr val="404040"/>
                </a:solidFill>
                <a:latin typeface="Calibri" pitchFamily="34" charset="0"/>
                <a:ea typeface="Calibri" pitchFamily="34" charset="-122"/>
                <a:cs typeface="Calibri" pitchFamily="34" charset="-120"/>
              </a:rPr>
              <a:t>Steps 3–13</a:t>
            </a:r>
            <a:endParaRPr lang="en-US" sz="900" dirty="0"/>
          </a:p>
          <a:p>
            <a:pPr indent="0" marL="0">
              <a:buNone/>
            </a:pPr>
            <a:r>
              <a:rPr lang="en-US" sz="900" dirty="0">
                <a:solidFill>
                  <a:srgbClr val="404040"/>
                </a:solidFill>
                <a:latin typeface="Calibri" pitchFamily="34" charset="0"/>
                <a:ea typeface="Calibri" pitchFamily="34" charset="-122"/>
                <a:cs typeface="Calibri" pitchFamily="34" charset="-120"/>
              </a:rPr>
              <a:t>SubsCache → 8 collection queries (all 7 criteria) → 5-min wait → Stale email check</a:t>
            </a:r>
            <a:endParaRPr lang="en-US" sz="900" dirty="0"/>
          </a:p>
        </p:txBody>
      </p:sp>
      <p:sp>
        <p:nvSpPr>
          <p:cNvPr id="27" name="Shape 25"/>
          <p:cNvSpPr/>
          <p:nvPr/>
        </p:nvSpPr>
        <p:spPr>
          <a:xfrm>
            <a:off x="4654296" y="1143000"/>
            <a:ext cx="1353312" cy="502920"/>
          </a:xfrm>
          <a:prstGeom prst="rect">
            <a:avLst/>
          </a:prstGeom>
          <a:solidFill>
            <a:srgbClr val="C55A11"/>
          </a:solidFill>
          <a:ln/>
        </p:spPr>
      </p:sp>
      <p:sp>
        <p:nvSpPr>
          <p:cNvPr id="28" name="Text 26"/>
          <p:cNvSpPr/>
          <p:nvPr/>
        </p:nvSpPr>
        <p:spPr>
          <a:xfrm>
            <a:off x="4654296" y="1143000"/>
            <a:ext cx="1353312" cy="5029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 Filter &amp; Split</a:t>
            </a:r>
            <a:endParaRPr lang="en-US" sz="900" dirty="0"/>
          </a:p>
        </p:txBody>
      </p:sp>
      <p:sp>
        <p:nvSpPr>
          <p:cNvPr id="29" name="Shape 27"/>
          <p:cNvSpPr/>
          <p:nvPr/>
        </p:nvSpPr>
        <p:spPr>
          <a:xfrm>
            <a:off x="6007608" y="1316736"/>
            <a:ext cx="82296" cy="164592"/>
          </a:xfrm>
          <a:prstGeom prst="rect">
            <a:avLst/>
          </a:prstGeom>
          <a:solidFill>
            <a:srgbClr val="CCCCCC"/>
          </a:solidFill>
          <a:ln/>
        </p:spPr>
      </p:sp>
      <p:sp>
        <p:nvSpPr>
          <p:cNvPr id="30" name="Shape 28"/>
          <p:cNvSpPr/>
          <p:nvPr/>
        </p:nvSpPr>
        <p:spPr>
          <a:xfrm>
            <a:off x="4654296" y="1719072"/>
            <a:ext cx="1353312" cy="4526280"/>
          </a:xfrm>
          <a:prstGeom prst="rect">
            <a:avLst/>
          </a:prstGeom>
          <a:solidFill>
            <a:srgbClr val="F2F7FC"/>
          </a:solidFill>
          <a:ln w="6350">
            <a:solidFill>
              <a:srgbClr val="D0E4F5"/>
            </a:solidFill>
            <a:prstDash val="solid"/>
          </a:ln>
        </p:spPr>
      </p:sp>
      <p:sp>
        <p:nvSpPr>
          <p:cNvPr id="31" name="Shape 29"/>
          <p:cNvSpPr/>
          <p:nvPr/>
        </p:nvSpPr>
        <p:spPr>
          <a:xfrm>
            <a:off x="4654296" y="1719072"/>
            <a:ext cx="1353312" cy="54864"/>
          </a:xfrm>
          <a:prstGeom prst="rect">
            <a:avLst/>
          </a:prstGeom>
          <a:solidFill>
            <a:srgbClr val="C55A11"/>
          </a:solidFill>
          <a:ln/>
        </p:spPr>
      </p:sp>
      <p:sp>
        <p:nvSpPr>
          <p:cNvPr id="32" name="Text 30"/>
          <p:cNvSpPr/>
          <p:nvPr/>
        </p:nvSpPr>
        <p:spPr>
          <a:xfrm>
            <a:off x="4709160" y="1810512"/>
            <a:ext cx="1243584" cy="4343400"/>
          </a:xfrm>
          <a:prstGeom prst="rect">
            <a:avLst/>
          </a:prstGeom>
          <a:noFill/>
          <a:ln/>
        </p:spPr>
        <p:txBody>
          <a:bodyPr wrap="square" rtlCol="0" anchor="t"/>
          <a:lstStyle/>
          <a:p>
            <a:pPr indent="0" marL="0">
              <a:buNone/>
            </a:pPr>
            <a:r>
              <a:rPr lang="en-US" sz="900" dirty="0">
                <a:solidFill>
                  <a:srgbClr val="404040"/>
                </a:solidFill>
                <a:latin typeface="Calibri" pitchFamily="34" charset="0"/>
                <a:ea typeface="Calibri" pitchFamily="34" charset="-122"/>
                <a:cs typeface="Calibri" pitchFamily="34" charset="-120"/>
              </a:rPr>
              <a:t>Steps 14–17</a:t>
            </a:r>
            <a:endParaRPr lang="en-US" sz="900" dirty="0"/>
          </a:p>
          <a:p>
            <a:pPr indent="0" marL="0">
              <a:buNone/>
            </a:pPr>
            <a:r>
              <a:rPr lang="en-US" sz="900" dirty="0">
                <a:solidFill>
                  <a:srgbClr val="404040"/>
                </a:solidFill>
                <a:latin typeface="Calibri" pitchFamily="34" charset="0"/>
                <a:ea typeface="Calibri" pitchFamily="34" charset="-122"/>
                <a:cs typeface="Calibri" pitchFamily="34" charset="-120"/>
              </a:rPr>
              <a:t>Apply exclusion → Temp DE → Split ACTUAL (Y) / EXCLUDED (N) → QA Summary</a:t>
            </a:r>
            <a:endParaRPr lang="en-US" sz="900" dirty="0"/>
          </a:p>
        </p:txBody>
      </p:sp>
      <p:sp>
        <p:nvSpPr>
          <p:cNvPr id="33" name="Shape 31"/>
          <p:cNvSpPr/>
          <p:nvPr/>
        </p:nvSpPr>
        <p:spPr>
          <a:xfrm>
            <a:off x="6099048" y="1143000"/>
            <a:ext cx="1353312" cy="502920"/>
          </a:xfrm>
          <a:prstGeom prst="rect">
            <a:avLst/>
          </a:prstGeom>
          <a:solidFill>
            <a:srgbClr val="8E3A59"/>
          </a:solidFill>
          <a:ln/>
        </p:spPr>
      </p:sp>
      <p:sp>
        <p:nvSpPr>
          <p:cNvPr id="34" name="Text 32"/>
          <p:cNvSpPr/>
          <p:nvPr/>
        </p:nvSpPr>
        <p:spPr>
          <a:xfrm>
            <a:off x="6099048" y="1143000"/>
            <a:ext cx="1353312" cy="5029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 Auto-Suppression</a:t>
            </a:r>
            <a:endParaRPr lang="en-US" sz="900" dirty="0"/>
          </a:p>
        </p:txBody>
      </p:sp>
      <p:sp>
        <p:nvSpPr>
          <p:cNvPr id="35" name="Shape 33"/>
          <p:cNvSpPr/>
          <p:nvPr/>
        </p:nvSpPr>
        <p:spPr>
          <a:xfrm>
            <a:off x="7452360" y="1316736"/>
            <a:ext cx="82296" cy="164592"/>
          </a:xfrm>
          <a:prstGeom prst="rect">
            <a:avLst/>
          </a:prstGeom>
          <a:solidFill>
            <a:srgbClr val="CCCCCC"/>
          </a:solidFill>
          <a:ln/>
        </p:spPr>
      </p:sp>
      <p:sp>
        <p:nvSpPr>
          <p:cNvPr id="36" name="Shape 34"/>
          <p:cNvSpPr/>
          <p:nvPr/>
        </p:nvSpPr>
        <p:spPr>
          <a:xfrm>
            <a:off x="6099048" y="1719072"/>
            <a:ext cx="1353312" cy="4526280"/>
          </a:xfrm>
          <a:prstGeom prst="rect">
            <a:avLst/>
          </a:prstGeom>
          <a:solidFill>
            <a:srgbClr val="F2F7FC"/>
          </a:solidFill>
          <a:ln w="6350">
            <a:solidFill>
              <a:srgbClr val="D0E4F5"/>
            </a:solidFill>
            <a:prstDash val="solid"/>
          </a:ln>
        </p:spPr>
      </p:sp>
      <p:sp>
        <p:nvSpPr>
          <p:cNvPr id="37" name="Shape 35"/>
          <p:cNvSpPr/>
          <p:nvPr/>
        </p:nvSpPr>
        <p:spPr>
          <a:xfrm>
            <a:off x="6099048" y="1719072"/>
            <a:ext cx="1353312" cy="54864"/>
          </a:xfrm>
          <a:prstGeom prst="rect">
            <a:avLst/>
          </a:prstGeom>
          <a:solidFill>
            <a:srgbClr val="8E3A59"/>
          </a:solidFill>
          <a:ln/>
        </p:spPr>
      </p:sp>
      <p:sp>
        <p:nvSpPr>
          <p:cNvPr id="38" name="Text 36"/>
          <p:cNvSpPr/>
          <p:nvPr/>
        </p:nvSpPr>
        <p:spPr>
          <a:xfrm>
            <a:off x="6153912" y="1810512"/>
            <a:ext cx="1243584" cy="4343400"/>
          </a:xfrm>
          <a:prstGeom prst="rect">
            <a:avLst/>
          </a:prstGeom>
          <a:noFill/>
          <a:ln/>
        </p:spPr>
        <p:txBody>
          <a:bodyPr wrap="square" rtlCol="0" anchor="t"/>
          <a:lstStyle/>
          <a:p>
            <a:pPr indent="0" marL="0">
              <a:buNone/>
            </a:pPr>
            <a:r>
              <a:rPr lang="en-US" sz="900" dirty="0">
                <a:solidFill>
                  <a:srgbClr val="404040"/>
                </a:solidFill>
                <a:latin typeface="Calibri" pitchFamily="34" charset="0"/>
                <a:ea typeface="Calibri" pitchFamily="34" charset="-122"/>
                <a:cs typeface="Calibri" pitchFamily="34" charset="-120"/>
              </a:rPr>
              <a:t>Steps 18–19</a:t>
            </a:r>
            <a:endParaRPr lang="en-US" sz="900" dirty="0"/>
          </a:p>
          <a:p>
            <a:pPr indent="0" marL="0">
              <a:buNone/>
            </a:pPr>
            <a:r>
              <a:rPr lang="en-US" sz="900" dirty="0">
                <a:solidFill>
                  <a:srgbClr val="404040"/>
                </a:solidFill>
                <a:latin typeface="Calibri" pitchFamily="34" charset="0"/>
                <a:ea typeface="Calibri" pitchFamily="34" charset="-122"/>
                <a:cs typeface="Calibri" pitchFamily="34" charset="-120"/>
              </a:rPr>
              <a:t>Add EXCLUDED emails to suppression list → Remove re-activated contacts</a:t>
            </a:r>
            <a:endParaRPr lang="en-US" sz="900" dirty="0"/>
          </a:p>
        </p:txBody>
      </p:sp>
      <p:sp>
        <p:nvSpPr>
          <p:cNvPr id="39" name="Shape 37"/>
          <p:cNvSpPr/>
          <p:nvPr/>
        </p:nvSpPr>
        <p:spPr>
          <a:xfrm>
            <a:off x="7543800" y="1143000"/>
            <a:ext cx="1353312" cy="502920"/>
          </a:xfrm>
          <a:prstGeom prst="rect">
            <a:avLst/>
          </a:prstGeom>
          <a:solidFill>
            <a:srgbClr val="4D6741"/>
          </a:solidFill>
          <a:ln/>
        </p:spPr>
      </p:sp>
      <p:sp>
        <p:nvSpPr>
          <p:cNvPr id="40" name="Text 38"/>
          <p:cNvSpPr/>
          <p:nvPr/>
        </p:nvSpPr>
        <p:spPr>
          <a:xfrm>
            <a:off x="7543800" y="1143000"/>
            <a:ext cx="1353312" cy="5029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 Backup &amp; Archive</a:t>
            </a:r>
            <a:endParaRPr lang="en-US" sz="900" dirty="0"/>
          </a:p>
        </p:txBody>
      </p:sp>
      <p:sp>
        <p:nvSpPr>
          <p:cNvPr id="41" name="Shape 39"/>
          <p:cNvSpPr/>
          <p:nvPr/>
        </p:nvSpPr>
        <p:spPr>
          <a:xfrm>
            <a:off x="8897112" y="1316736"/>
            <a:ext cx="82296" cy="164592"/>
          </a:xfrm>
          <a:prstGeom prst="rect">
            <a:avLst/>
          </a:prstGeom>
          <a:solidFill>
            <a:srgbClr val="CCCCCC"/>
          </a:solidFill>
          <a:ln/>
        </p:spPr>
      </p:sp>
      <p:sp>
        <p:nvSpPr>
          <p:cNvPr id="42" name="Shape 40"/>
          <p:cNvSpPr/>
          <p:nvPr/>
        </p:nvSpPr>
        <p:spPr>
          <a:xfrm>
            <a:off x="7543800" y="1719072"/>
            <a:ext cx="1353312" cy="4526280"/>
          </a:xfrm>
          <a:prstGeom prst="rect">
            <a:avLst/>
          </a:prstGeom>
          <a:solidFill>
            <a:srgbClr val="F2F7FC"/>
          </a:solidFill>
          <a:ln w="6350">
            <a:solidFill>
              <a:srgbClr val="D0E4F5"/>
            </a:solidFill>
            <a:prstDash val="solid"/>
          </a:ln>
        </p:spPr>
      </p:sp>
      <p:sp>
        <p:nvSpPr>
          <p:cNvPr id="43" name="Shape 41"/>
          <p:cNvSpPr/>
          <p:nvPr/>
        </p:nvSpPr>
        <p:spPr>
          <a:xfrm>
            <a:off x="7543800" y="1719072"/>
            <a:ext cx="1353312" cy="54864"/>
          </a:xfrm>
          <a:prstGeom prst="rect">
            <a:avLst/>
          </a:prstGeom>
          <a:solidFill>
            <a:srgbClr val="4D6741"/>
          </a:solidFill>
          <a:ln/>
        </p:spPr>
      </p:sp>
      <p:sp>
        <p:nvSpPr>
          <p:cNvPr id="44" name="Text 42"/>
          <p:cNvSpPr/>
          <p:nvPr/>
        </p:nvSpPr>
        <p:spPr>
          <a:xfrm>
            <a:off x="7598664" y="1810512"/>
            <a:ext cx="1243584" cy="4343400"/>
          </a:xfrm>
          <a:prstGeom prst="rect">
            <a:avLst/>
          </a:prstGeom>
          <a:noFill/>
          <a:ln/>
        </p:spPr>
        <p:txBody>
          <a:bodyPr wrap="square" rtlCol="0" anchor="t"/>
          <a:lstStyle/>
          <a:p>
            <a:pPr indent="0" marL="0">
              <a:buNone/>
            </a:pPr>
            <a:r>
              <a:rPr lang="en-US" sz="900" dirty="0">
                <a:solidFill>
                  <a:srgbClr val="404040"/>
                </a:solidFill>
                <a:latin typeface="Calibri" pitchFamily="34" charset="0"/>
                <a:ea typeface="Calibri" pitchFamily="34" charset="-122"/>
                <a:cs typeface="Calibri" pitchFamily="34" charset="-120"/>
              </a:rPr>
              <a:t>Steps 20–46</a:t>
            </a:r>
            <a:endParaRPr lang="en-US" sz="900" dirty="0"/>
          </a:p>
          <a:p>
            <a:pPr indent="0" marL="0">
              <a:buNone/>
            </a:pPr>
            <a:r>
              <a:rPr lang="en-US" sz="900" dirty="0">
                <a:solidFill>
                  <a:srgbClr val="404040"/>
                </a:solidFill>
                <a:latin typeface="Calibri" pitchFamily="34" charset="0"/>
                <a:ea typeface="Calibri" pitchFamily="34" charset="-122"/>
                <a:cs typeface="Calibri" pitchFamily="34" charset="-120"/>
              </a:rPr>
              <a:t>26 business DE backups → Append to PreviouslyDeleted archive</a:t>
            </a:r>
            <a:endParaRPr lang="en-US" sz="900" dirty="0"/>
          </a:p>
        </p:txBody>
      </p:sp>
      <p:sp>
        <p:nvSpPr>
          <p:cNvPr id="45" name="Shape 43"/>
          <p:cNvSpPr/>
          <p:nvPr/>
        </p:nvSpPr>
        <p:spPr>
          <a:xfrm>
            <a:off x="8988552" y="1143000"/>
            <a:ext cx="1353312" cy="502920"/>
          </a:xfrm>
          <a:prstGeom prst="rect">
            <a:avLst/>
          </a:prstGeom>
          <a:solidFill>
            <a:srgbClr val="5C4033"/>
          </a:solidFill>
          <a:ln/>
        </p:spPr>
      </p:sp>
      <p:sp>
        <p:nvSpPr>
          <p:cNvPr id="46" name="Text 44"/>
          <p:cNvSpPr/>
          <p:nvPr/>
        </p:nvSpPr>
        <p:spPr>
          <a:xfrm>
            <a:off x="8988552" y="1143000"/>
            <a:ext cx="1353312" cy="5029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7. Export</a:t>
            </a:r>
            <a:endParaRPr lang="en-US" sz="900" dirty="0"/>
          </a:p>
        </p:txBody>
      </p:sp>
      <p:sp>
        <p:nvSpPr>
          <p:cNvPr id="47" name="Shape 45"/>
          <p:cNvSpPr/>
          <p:nvPr/>
        </p:nvSpPr>
        <p:spPr>
          <a:xfrm>
            <a:off x="10341864" y="1316736"/>
            <a:ext cx="82296" cy="164592"/>
          </a:xfrm>
          <a:prstGeom prst="rect">
            <a:avLst/>
          </a:prstGeom>
          <a:solidFill>
            <a:srgbClr val="CCCCCC"/>
          </a:solidFill>
          <a:ln/>
        </p:spPr>
      </p:sp>
      <p:sp>
        <p:nvSpPr>
          <p:cNvPr id="48" name="Shape 46"/>
          <p:cNvSpPr/>
          <p:nvPr/>
        </p:nvSpPr>
        <p:spPr>
          <a:xfrm>
            <a:off x="8988552" y="1719072"/>
            <a:ext cx="1353312" cy="4526280"/>
          </a:xfrm>
          <a:prstGeom prst="rect">
            <a:avLst/>
          </a:prstGeom>
          <a:solidFill>
            <a:srgbClr val="F2F7FC"/>
          </a:solidFill>
          <a:ln w="6350">
            <a:solidFill>
              <a:srgbClr val="D0E4F5"/>
            </a:solidFill>
            <a:prstDash val="solid"/>
          </a:ln>
        </p:spPr>
      </p:sp>
      <p:sp>
        <p:nvSpPr>
          <p:cNvPr id="49" name="Shape 47"/>
          <p:cNvSpPr/>
          <p:nvPr/>
        </p:nvSpPr>
        <p:spPr>
          <a:xfrm>
            <a:off x="8988552" y="1719072"/>
            <a:ext cx="1353312" cy="54864"/>
          </a:xfrm>
          <a:prstGeom prst="rect">
            <a:avLst/>
          </a:prstGeom>
          <a:solidFill>
            <a:srgbClr val="5C4033"/>
          </a:solidFill>
          <a:ln/>
        </p:spPr>
      </p:sp>
      <p:sp>
        <p:nvSpPr>
          <p:cNvPr id="50" name="Text 48"/>
          <p:cNvSpPr/>
          <p:nvPr/>
        </p:nvSpPr>
        <p:spPr>
          <a:xfrm>
            <a:off x="9043416" y="1810512"/>
            <a:ext cx="1243584" cy="4343400"/>
          </a:xfrm>
          <a:prstGeom prst="rect">
            <a:avLst/>
          </a:prstGeom>
          <a:noFill/>
          <a:ln/>
        </p:spPr>
        <p:txBody>
          <a:bodyPr wrap="square" rtlCol="0" anchor="t"/>
          <a:lstStyle/>
          <a:p>
            <a:pPr indent="0" marL="0">
              <a:buNone/>
            </a:pPr>
            <a:r>
              <a:rPr lang="en-US" sz="900" dirty="0">
                <a:solidFill>
                  <a:srgbClr val="404040"/>
                </a:solidFill>
                <a:latin typeface="Calibri" pitchFamily="34" charset="0"/>
                <a:ea typeface="Calibri" pitchFamily="34" charset="-122"/>
                <a:cs typeface="Calibri" pitchFamily="34" charset="-120"/>
              </a:rPr>
              <a:t>Step 47</a:t>
            </a:r>
            <a:endParaRPr lang="en-US" sz="900" dirty="0"/>
          </a:p>
          <a:p>
            <a:pPr indent="0" marL="0">
              <a:buNone/>
            </a:pPr>
            <a:r>
              <a:rPr lang="en-US" sz="900" dirty="0">
                <a:solidFill>
                  <a:srgbClr val="404040"/>
                </a:solidFill>
                <a:latin typeface="Calibri" pitchFamily="34" charset="0"/>
                <a:ea typeface="Calibri" pitchFamily="34" charset="-122"/>
                <a:cs typeface="Calibri" pitchFamily="34" charset="-120"/>
              </a:rPr>
              <a:t>SFTP export of Temp DE and Summary to Marketing Cloud Exports</a:t>
            </a:r>
            <a:endParaRPr lang="en-US" sz="900" dirty="0"/>
          </a:p>
        </p:txBody>
      </p:sp>
      <p:sp>
        <p:nvSpPr>
          <p:cNvPr id="51" name="Shape 49"/>
          <p:cNvSpPr/>
          <p:nvPr/>
        </p:nvSpPr>
        <p:spPr>
          <a:xfrm>
            <a:off x="10433304" y="1143000"/>
            <a:ext cx="1353312" cy="502920"/>
          </a:xfrm>
          <a:prstGeom prst="rect">
            <a:avLst/>
          </a:prstGeom>
          <a:solidFill>
            <a:srgbClr val="C00000"/>
          </a:solidFill>
          <a:ln/>
        </p:spPr>
      </p:sp>
      <p:sp>
        <p:nvSpPr>
          <p:cNvPr id="52" name="Text 50"/>
          <p:cNvSpPr/>
          <p:nvPr/>
        </p:nvSpPr>
        <p:spPr>
          <a:xfrm>
            <a:off x="10433304" y="1143000"/>
            <a:ext cx="1353312" cy="5029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8. Delete</a:t>
            </a:r>
            <a:endParaRPr lang="en-US" sz="900" dirty="0"/>
          </a:p>
        </p:txBody>
      </p:sp>
      <p:sp>
        <p:nvSpPr>
          <p:cNvPr id="53" name="Shape 51"/>
          <p:cNvSpPr/>
          <p:nvPr/>
        </p:nvSpPr>
        <p:spPr>
          <a:xfrm>
            <a:off x="10433304" y="1719072"/>
            <a:ext cx="1353312" cy="4526280"/>
          </a:xfrm>
          <a:prstGeom prst="rect">
            <a:avLst/>
          </a:prstGeom>
          <a:solidFill>
            <a:srgbClr val="F2F7FC"/>
          </a:solidFill>
          <a:ln w="6350">
            <a:solidFill>
              <a:srgbClr val="D0E4F5"/>
            </a:solidFill>
            <a:prstDash val="solid"/>
          </a:ln>
        </p:spPr>
      </p:sp>
      <p:sp>
        <p:nvSpPr>
          <p:cNvPr id="54" name="Shape 52"/>
          <p:cNvSpPr/>
          <p:nvPr/>
        </p:nvSpPr>
        <p:spPr>
          <a:xfrm>
            <a:off x="10433304" y="1719072"/>
            <a:ext cx="1353312" cy="54864"/>
          </a:xfrm>
          <a:prstGeom prst="rect">
            <a:avLst/>
          </a:prstGeom>
          <a:solidFill>
            <a:srgbClr val="C00000"/>
          </a:solidFill>
          <a:ln/>
        </p:spPr>
      </p:sp>
      <p:sp>
        <p:nvSpPr>
          <p:cNvPr id="55" name="Text 53"/>
          <p:cNvSpPr/>
          <p:nvPr/>
        </p:nvSpPr>
        <p:spPr>
          <a:xfrm>
            <a:off x="10488168" y="1810512"/>
            <a:ext cx="1243584" cy="4343400"/>
          </a:xfrm>
          <a:prstGeom prst="rect">
            <a:avLst/>
          </a:prstGeom>
          <a:noFill/>
          <a:ln/>
        </p:spPr>
        <p:txBody>
          <a:bodyPr wrap="square" rtlCol="0" anchor="t"/>
          <a:lstStyle/>
          <a:p>
            <a:pPr indent="0" marL="0">
              <a:buNone/>
            </a:pPr>
            <a:r>
              <a:rPr lang="en-US" sz="900" dirty="0">
                <a:solidFill>
                  <a:srgbClr val="404040"/>
                </a:solidFill>
                <a:latin typeface="Calibri" pitchFamily="34" charset="0"/>
                <a:ea typeface="Calibri" pitchFamily="34" charset="-122"/>
                <a:cs typeface="Calibri" pitchFamily="34" charset="-120"/>
              </a:rPr>
              <a:t>Step 48</a:t>
            </a:r>
            <a:endParaRPr lang="en-US" sz="900" dirty="0"/>
          </a:p>
          <a:p>
            <a:pPr indent="0" marL="0">
              <a:buNone/>
            </a:pPr>
            <a:r>
              <a:rPr lang="en-US" sz="900" dirty="0">
                <a:solidFill>
                  <a:srgbClr val="404040"/>
                </a:solidFill>
                <a:latin typeface="Calibri" pitchFamily="34" charset="0"/>
                <a:ea typeface="Calibri" pitchFamily="34" charset="-122"/>
                <a:cs typeface="Calibri" pitchFamily="34" charset="-120"/>
              </a:rPr>
              <a:t>REST API Contact Delete — Temp DE — 0-day suppression — ContactAndAttributes</a:t>
            </a:r>
            <a:endParaRPr lang="en-US" sz="900" dirty="0"/>
          </a:p>
        </p:txBody>
      </p:sp>
      <p:sp>
        <p:nvSpPr>
          <p:cNvPr id="56" name="Text 54"/>
          <p:cNvSpPr/>
          <p:nvPr/>
        </p:nvSpPr>
        <p:spPr>
          <a:xfrm>
            <a:off x="320040" y="6309360"/>
            <a:ext cx="11521440" cy="384048"/>
          </a:xfrm>
          <a:prstGeom prst="rect">
            <a:avLst/>
          </a:prstGeom>
          <a:noFill/>
          <a:ln/>
        </p:spPr>
        <p:txBody>
          <a:bodyPr wrap="square" rtlCol="0" anchor="ctr"/>
          <a:lstStyle/>
          <a:p>
            <a:pPr indent="0" marL="0">
              <a:buNone/>
            </a:pPr>
            <a:r>
              <a:rPr lang="en-US" sz="850" i="1" dirty="0">
                <a:solidFill>
                  <a:srgbClr val="666666"/>
                </a:solidFill>
                <a:latin typeface="Calibri" pitchFamily="34" charset="0"/>
                <a:ea typeface="Calibri" pitchFamily="34" charset="-122"/>
                <a:cs typeface="Calibri" pitchFamily="34" charset="-120"/>
              </a:rPr>
              <a:t>Contact Delete is the lowest priority background process in SFMC and runs asynchronously. Contacts may remain in a pending state temporarily after deletion. The REST API call uses DeleteOperationType: ContactAndAttributes with 0-day suppression. Sales Cloud is not affected at any stage.</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1F4E79"/>
          </a:solidFill>
          <a:ln/>
        </p:spPr>
      </p:sp>
      <p:sp>
        <p:nvSpPr>
          <p:cNvPr id="3" name="Shape 1"/>
          <p:cNvSpPr/>
          <p:nvPr/>
        </p:nvSpPr>
        <p:spPr>
          <a:xfrm>
            <a:off x="0" y="1005840"/>
            <a:ext cx="12188952" cy="54864"/>
          </a:xfrm>
          <a:prstGeom prst="rect">
            <a:avLst/>
          </a:prstGeom>
          <a:solidFill>
            <a:srgbClr val="2E75B6"/>
          </a:solidFill>
          <a:ln/>
        </p:spPr>
      </p:sp>
      <p:sp>
        <p:nvSpPr>
          <p:cNvPr id="4" name="Text 2"/>
          <p:cNvSpPr/>
          <p:nvPr/>
        </p:nvSpPr>
        <p:spPr>
          <a:xfrm>
            <a:off x="320040" y="137160"/>
            <a:ext cx="1152144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Exclusion List and Auto-Suppression List Management</a:t>
            </a:r>
            <a:endParaRPr lang="en-US" sz="2200" dirty="0"/>
          </a:p>
        </p:txBody>
      </p:sp>
      <p:sp>
        <p:nvSpPr>
          <p:cNvPr id="5" name="Text 3"/>
          <p:cNvSpPr/>
          <p:nvPr/>
        </p:nvSpPr>
        <p:spPr>
          <a:xfrm>
            <a:off x="320040" y="621792"/>
            <a:ext cx="11521440" cy="320040"/>
          </a:xfrm>
          <a:prstGeom prst="rect">
            <a:avLst/>
          </a:prstGeom>
          <a:noFill/>
          <a:ln/>
        </p:spPr>
        <p:txBody>
          <a:bodyPr wrap="square" rtlCol="0" anchor="ctr"/>
          <a:lstStyle/>
          <a:p>
            <a:pPr indent="0" marL="0">
              <a:buNone/>
            </a:pPr>
            <a:r>
              <a:rPr lang="en-US" sz="1200" dirty="0">
                <a:solidFill>
                  <a:srgbClr val="BDD7EE"/>
                </a:solidFill>
                <a:latin typeface="Calibri" pitchFamily="34" charset="0"/>
                <a:ea typeface="Calibri" pitchFamily="34" charset="-122"/>
                <a:cs typeface="Calibri" pitchFamily="34" charset="-120"/>
              </a:rPr>
              <a:t>Two protective layers that prevent incorrect deletion and block email to removed contacts</a:t>
            </a:r>
            <a:endParaRPr lang="en-US" sz="1200" dirty="0"/>
          </a:p>
        </p:txBody>
      </p:sp>
      <p:sp>
        <p:nvSpPr>
          <p:cNvPr id="6" name="Shape 4"/>
          <p:cNvSpPr/>
          <p:nvPr/>
        </p:nvSpPr>
        <p:spPr>
          <a:xfrm>
            <a:off x="0" y="6556248"/>
            <a:ext cx="12188952" cy="301752"/>
          </a:xfrm>
          <a:prstGeom prst="rect">
            <a:avLst/>
          </a:prstGeom>
          <a:solidFill>
            <a:srgbClr val="F2F2F2"/>
          </a:solidFill>
          <a:ln/>
        </p:spPr>
      </p:sp>
      <p:sp>
        <p:nvSpPr>
          <p:cNvPr id="7" name="Text 5"/>
          <p:cNvSpPr/>
          <p:nvPr/>
        </p:nvSpPr>
        <p:spPr>
          <a:xfrm>
            <a:off x="182880" y="6574536"/>
            <a:ext cx="3657600" cy="228600"/>
          </a:xfrm>
          <a:prstGeom prst="rect">
            <a:avLst/>
          </a:prstGeom>
          <a:noFill/>
          <a:ln/>
        </p:spPr>
        <p:txBody>
          <a:bodyPr wrap="square" rtlCol="0" anchor="ctr"/>
          <a:lstStyle/>
          <a:p>
            <a:pPr indent="0" marL="0">
              <a:buNone/>
            </a:pPr>
            <a:r>
              <a:rPr lang="en-US" sz="800" b="1" dirty="0">
                <a:solidFill>
                  <a:srgbClr val="2E75B6"/>
                </a:solidFill>
                <a:latin typeface="Calibri" pitchFamily="34" charset="0"/>
                <a:ea typeface="Calibri" pitchFamily="34" charset="-122"/>
                <a:cs typeface="Calibri" pitchFamily="34" charset="-120"/>
              </a:rPr>
              <a:t>#DigitalExcellence</a:t>
            </a:r>
            <a:endParaRPr lang="en-US" sz="800" dirty="0"/>
          </a:p>
        </p:txBody>
      </p:sp>
      <p:sp>
        <p:nvSpPr>
          <p:cNvPr id="8" name="Text 6"/>
          <p:cNvSpPr/>
          <p:nvPr/>
        </p:nvSpPr>
        <p:spPr>
          <a:xfrm>
            <a:off x="3840480" y="6574536"/>
            <a:ext cx="8229600" cy="228600"/>
          </a:xfrm>
          <a:prstGeom prst="rect">
            <a:avLst/>
          </a:prstGeom>
          <a:noFill/>
          <a:ln/>
        </p:spPr>
        <p:txBody>
          <a:bodyPr wrap="square" rtlCol="0" anchor="ctr"/>
          <a:lstStyle/>
          <a:p>
            <a:pPr algn="r" indent="0" marL="0">
              <a:buNone/>
            </a:pPr>
            <a:r>
              <a:rPr lang="en-US" sz="800" dirty="0">
                <a:solidFill>
                  <a:srgbClr val="666666"/>
                </a:solidFill>
                <a:latin typeface="Calibri" pitchFamily="34" charset="0"/>
                <a:ea typeface="Calibri" pitchFamily="34" charset="-122"/>
                <a:cs typeface="Calibri" pitchFamily="34" charset="-120"/>
              </a:rPr>
              <a:t>Contact Deletion  |  KPMG Marketing Cloud Engage  |  Himanshu Gupta</a:t>
            </a:r>
            <a:endParaRPr lang="en-US" sz="800" dirty="0"/>
          </a:p>
        </p:txBody>
      </p:sp>
      <p:sp>
        <p:nvSpPr>
          <p:cNvPr id="9" name="Shape 7"/>
          <p:cNvSpPr/>
          <p:nvPr/>
        </p:nvSpPr>
        <p:spPr>
          <a:xfrm>
            <a:off x="320040" y="1143000"/>
            <a:ext cx="5486400" cy="5166360"/>
          </a:xfrm>
          <a:prstGeom prst="rect">
            <a:avLst/>
          </a:prstGeom>
          <a:solidFill>
            <a:srgbClr val="F2F7FC"/>
          </a:solidFill>
          <a:ln w="6350">
            <a:solidFill>
              <a:srgbClr val="D0E4F5"/>
            </a:solidFill>
            <a:prstDash val="solid"/>
          </a:ln>
        </p:spPr>
      </p:sp>
      <p:sp>
        <p:nvSpPr>
          <p:cNvPr id="10" name="Text 8"/>
          <p:cNvSpPr/>
          <p:nvPr/>
        </p:nvSpPr>
        <p:spPr>
          <a:xfrm>
            <a:off x="457200" y="1216152"/>
            <a:ext cx="5212080" cy="384048"/>
          </a:xfrm>
          <a:prstGeom prst="rect">
            <a:avLst/>
          </a:prstGeom>
          <a:noFill/>
          <a:ln/>
        </p:spPr>
        <p:txBody>
          <a:bodyPr wrap="square" rtlCol="0" anchor="ctr"/>
          <a:lstStyle/>
          <a:p>
            <a:pPr indent="0" marL="0">
              <a:buNone/>
            </a:pPr>
            <a:r>
              <a:rPr lang="en-US" sz="1300" b="1" dirty="0">
                <a:solidFill>
                  <a:srgbClr val="1F4E79"/>
                </a:solidFill>
                <a:latin typeface="Calibri" pitchFamily="34" charset="0"/>
                <a:ea typeface="Calibri" pitchFamily="34" charset="-122"/>
                <a:cs typeface="Calibri" pitchFamily="34" charset="-120"/>
              </a:rPr>
              <a:t>Delete_Email_Exclusion_List</a:t>
            </a:r>
            <a:endParaRPr lang="en-US" sz="1300" dirty="0"/>
          </a:p>
        </p:txBody>
      </p:sp>
      <p:sp>
        <p:nvSpPr>
          <p:cNvPr id="11" name="Text 9"/>
          <p:cNvSpPr/>
          <p:nvPr/>
        </p:nvSpPr>
        <p:spPr>
          <a:xfrm>
            <a:off x="457200" y="1581912"/>
            <a:ext cx="5212080" cy="320040"/>
          </a:xfrm>
          <a:prstGeom prst="rect">
            <a:avLst/>
          </a:prstGeom>
          <a:noFill/>
          <a:ln/>
        </p:spPr>
        <p:txBody>
          <a:bodyPr wrap="square" rtlCol="0" anchor="ctr"/>
          <a:lstStyle/>
          <a:p>
            <a:pPr indent="0" marL="0">
              <a:buNone/>
            </a:pPr>
            <a:r>
              <a:rPr lang="en-US" sz="1000" i="1" dirty="0">
                <a:solidFill>
                  <a:srgbClr val="666666"/>
                </a:solidFill>
                <a:latin typeface="Calibri" pitchFamily="34" charset="0"/>
                <a:ea typeface="Calibri" pitchFamily="34" charset="-122"/>
                <a:cs typeface="Calibri" pitchFamily="34" charset="-120"/>
              </a:rPr>
              <a:t>Central exclusion enforcement — applied once at Step 14 via NOT EXISTS filter</a:t>
            </a:r>
            <a:endParaRPr lang="en-US" sz="1000" dirty="0"/>
          </a:p>
        </p:txBody>
      </p:sp>
      <p:sp>
        <p:nvSpPr>
          <p:cNvPr id="12" name="Shape 10"/>
          <p:cNvSpPr/>
          <p:nvPr/>
        </p:nvSpPr>
        <p:spPr>
          <a:xfrm>
            <a:off x="457200" y="1993392"/>
            <a:ext cx="5120640" cy="804672"/>
          </a:xfrm>
          <a:prstGeom prst="rect">
            <a:avLst/>
          </a:prstGeom>
          <a:solidFill>
            <a:srgbClr val="FFFFFF"/>
          </a:solidFill>
          <a:ln w="6350">
            <a:solidFill>
              <a:srgbClr val="D0E4F5"/>
            </a:solidFill>
            <a:prstDash val="solid"/>
          </a:ln>
        </p:spPr>
      </p:sp>
      <p:sp>
        <p:nvSpPr>
          <p:cNvPr id="13" name="Text 11"/>
          <p:cNvSpPr/>
          <p:nvPr/>
        </p:nvSpPr>
        <p:spPr>
          <a:xfrm>
            <a:off x="548640" y="2029968"/>
            <a:ext cx="4937760" cy="256032"/>
          </a:xfrm>
          <a:prstGeom prst="rect">
            <a:avLst/>
          </a:prstGeom>
          <a:noFill/>
          <a:ln/>
        </p:spPr>
        <p:txBody>
          <a:bodyPr wrap="square" rtlCol="0" anchor="ctr"/>
          <a:lstStyle/>
          <a:p>
            <a:pPr indent="0" marL="0">
              <a:buNone/>
            </a:pPr>
            <a:r>
              <a:rPr lang="en-US" sz="1000" b="1" dirty="0">
                <a:solidFill>
                  <a:srgbClr val="2E75B6"/>
                </a:solidFill>
                <a:latin typeface="Calibri" pitchFamily="34" charset="0"/>
                <a:ea typeface="Calibri" pitchFamily="34" charset="-122"/>
                <a:cs typeface="Calibri" pitchFamily="34" charset="-120"/>
              </a:rPr>
              <a:t>Test &amp; Seed Groups</a:t>
            </a:r>
            <a:endParaRPr lang="en-US" sz="1000" dirty="0"/>
          </a:p>
        </p:txBody>
      </p:sp>
      <p:sp>
        <p:nvSpPr>
          <p:cNvPr id="14" name="Text 12"/>
          <p:cNvSpPr/>
          <p:nvPr/>
        </p:nvSpPr>
        <p:spPr>
          <a:xfrm>
            <a:off x="548640" y="2286000"/>
            <a:ext cx="4937760" cy="475488"/>
          </a:xfrm>
          <a:prstGeom prst="rect">
            <a:avLst/>
          </a:prstGeom>
          <a:noFill/>
          <a:ln/>
        </p:spPr>
        <p:txBody>
          <a:bodyPr wrap="square" rtlCol="0" anchor="ctr"/>
          <a:lstStyle/>
          <a:p>
            <a:pPr indent="0" marL="0">
              <a:buNone/>
            </a:pPr>
            <a:r>
              <a:rPr lang="en-US" sz="950" dirty="0">
                <a:solidFill>
                  <a:srgbClr val="404040"/>
                </a:solidFill>
                <a:latin typeface="Calibri" pitchFamily="34" charset="0"/>
                <a:ea typeface="Calibri" pitchFamily="34" charset="-122"/>
                <a:cs typeface="Calibri" pitchFamily="34" charset="-120"/>
              </a:rPr>
              <a:t>Everest Seed List, BrieTestGroup, Flash Alert Test Group, TaxWatch_TestGroup, and 20+ additional test send groups</a:t>
            </a:r>
            <a:endParaRPr lang="en-US" sz="950" dirty="0"/>
          </a:p>
        </p:txBody>
      </p:sp>
      <p:sp>
        <p:nvSpPr>
          <p:cNvPr id="15" name="Shape 13"/>
          <p:cNvSpPr/>
          <p:nvPr/>
        </p:nvSpPr>
        <p:spPr>
          <a:xfrm>
            <a:off x="457200" y="2880360"/>
            <a:ext cx="5120640" cy="804672"/>
          </a:xfrm>
          <a:prstGeom prst="rect">
            <a:avLst/>
          </a:prstGeom>
          <a:solidFill>
            <a:srgbClr val="FFFFFF"/>
          </a:solidFill>
          <a:ln w="6350">
            <a:solidFill>
              <a:srgbClr val="D0E4F5"/>
            </a:solidFill>
            <a:prstDash val="solid"/>
          </a:ln>
        </p:spPr>
      </p:sp>
      <p:sp>
        <p:nvSpPr>
          <p:cNvPr id="16" name="Text 14"/>
          <p:cNvSpPr/>
          <p:nvPr/>
        </p:nvSpPr>
        <p:spPr>
          <a:xfrm>
            <a:off x="548640" y="2916936"/>
            <a:ext cx="4937760" cy="256032"/>
          </a:xfrm>
          <a:prstGeom prst="rect">
            <a:avLst/>
          </a:prstGeom>
          <a:noFill/>
          <a:ln/>
        </p:spPr>
        <p:txBody>
          <a:bodyPr wrap="square" rtlCol="0" anchor="ctr"/>
          <a:lstStyle/>
          <a:p>
            <a:pPr indent="0" marL="0">
              <a:buNone/>
            </a:pPr>
            <a:r>
              <a:rPr lang="en-US" sz="1000" b="1" dirty="0">
                <a:solidFill>
                  <a:srgbClr val="2E75B6"/>
                </a:solidFill>
                <a:latin typeface="Calibri" pitchFamily="34" charset="0"/>
                <a:ea typeface="Calibri" pitchFamily="34" charset="-122"/>
                <a:cs typeface="Calibri" pitchFamily="34" charset="-120"/>
              </a:rPr>
              <a:t>Internal / Notification Lists</a:t>
            </a:r>
            <a:endParaRPr lang="en-US" sz="1000" dirty="0"/>
          </a:p>
        </p:txBody>
      </p:sp>
      <p:sp>
        <p:nvSpPr>
          <p:cNvPr id="17" name="Text 15"/>
          <p:cNvSpPr/>
          <p:nvPr/>
        </p:nvSpPr>
        <p:spPr>
          <a:xfrm>
            <a:off x="548640" y="3172968"/>
            <a:ext cx="4937760" cy="475488"/>
          </a:xfrm>
          <a:prstGeom prst="rect">
            <a:avLst/>
          </a:prstGeom>
          <a:noFill/>
          <a:ln/>
        </p:spPr>
        <p:txBody>
          <a:bodyPr wrap="square" rtlCol="0" anchor="ctr"/>
          <a:lstStyle/>
          <a:p>
            <a:pPr indent="0" marL="0">
              <a:buNone/>
            </a:pPr>
            <a:r>
              <a:rPr lang="en-US" sz="950" dirty="0">
                <a:solidFill>
                  <a:srgbClr val="404040"/>
                </a:solidFill>
                <a:latin typeface="Calibri" pitchFamily="34" charset="0"/>
                <a:ea typeface="Calibri" pitchFamily="34" charset="-122"/>
                <a:cs typeface="Calibri" pitchFamily="34" charset="-120"/>
              </a:rPr>
              <a:t>SFMC Product Owners, CRMA Health Check recipients, CVENT alert audience, Partner Sender Profiles</a:t>
            </a:r>
            <a:endParaRPr lang="en-US" sz="950" dirty="0"/>
          </a:p>
        </p:txBody>
      </p:sp>
      <p:sp>
        <p:nvSpPr>
          <p:cNvPr id="18" name="Shape 16"/>
          <p:cNvSpPr/>
          <p:nvPr/>
        </p:nvSpPr>
        <p:spPr>
          <a:xfrm>
            <a:off x="457200" y="3767328"/>
            <a:ext cx="5120640" cy="804672"/>
          </a:xfrm>
          <a:prstGeom prst="rect">
            <a:avLst/>
          </a:prstGeom>
          <a:solidFill>
            <a:srgbClr val="FFFFFF"/>
          </a:solidFill>
          <a:ln w="6350">
            <a:solidFill>
              <a:srgbClr val="D0E4F5"/>
            </a:solidFill>
            <a:prstDash val="solid"/>
          </a:ln>
        </p:spPr>
      </p:sp>
      <p:sp>
        <p:nvSpPr>
          <p:cNvPr id="19" name="Text 17"/>
          <p:cNvSpPr/>
          <p:nvPr/>
        </p:nvSpPr>
        <p:spPr>
          <a:xfrm>
            <a:off x="548640" y="3803904"/>
            <a:ext cx="4937760" cy="256032"/>
          </a:xfrm>
          <a:prstGeom prst="rect">
            <a:avLst/>
          </a:prstGeom>
          <a:noFill/>
          <a:ln/>
        </p:spPr>
        <p:txBody>
          <a:bodyPr wrap="square" rtlCol="0" anchor="ctr"/>
          <a:lstStyle/>
          <a:p>
            <a:pPr indent="0" marL="0">
              <a:buNone/>
            </a:pPr>
            <a:r>
              <a:rPr lang="en-US" sz="1000" b="1" dirty="0">
                <a:solidFill>
                  <a:srgbClr val="2E75B6"/>
                </a:solidFill>
                <a:latin typeface="Calibri" pitchFamily="34" charset="0"/>
                <a:ea typeface="Calibri" pitchFamily="34" charset="-122"/>
                <a:cs typeface="Calibri" pitchFamily="34" charset="-120"/>
              </a:rPr>
              <a:t>Partner Sender DEs</a:t>
            </a:r>
            <a:endParaRPr lang="en-US" sz="1000" dirty="0"/>
          </a:p>
        </p:txBody>
      </p:sp>
      <p:sp>
        <p:nvSpPr>
          <p:cNvPr id="20" name="Text 18"/>
          <p:cNvSpPr/>
          <p:nvPr/>
        </p:nvSpPr>
        <p:spPr>
          <a:xfrm>
            <a:off x="548640" y="4059936"/>
            <a:ext cx="4937760" cy="475488"/>
          </a:xfrm>
          <a:prstGeom prst="rect">
            <a:avLst/>
          </a:prstGeom>
          <a:noFill/>
          <a:ln/>
        </p:spPr>
        <p:txBody>
          <a:bodyPr wrap="square" rtlCol="0" anchor="ctr"/>
          <a:lstStyle/>
          <a:p>
            <a:pPr indent="0" marL="0">
              <a:buNone/>
            </a:pPr>
            <a:r>
              <a:rPr lang="en-US" sz="950" dirty="0">
                <a:solidFill>
                  <a:srgbClr val="404040"/>
                </a:solidFill>
                <a:latin typeface="Calibri" pitchFamily="34" charset="0"/>
                <a:ea typeface="Calibri" pitchFamily="34" charset="-122"/>
                <a:cs typeface="Calibri" pitchFamily="34" charset="-120"/>
              </a:rPr>
              <a:t>Defining Issues, Issues in Depth, Quarterly Outlook, PE Perspectives Partner Details DEs</a:t>
            </a:r>
            <a:endParaRPr lang="en-US" sz="950" dirty="0"/>
          </a:p>
        </p:txBody>
      </p:sp>
      <p:sp>
        <p:nvSpPr>
          <p:cNvPr id="21" name="Shape 19"/>
          <p:cNvSpPr/>
          <p:nvPr/>
        </p:nvSpPr>
        <p:spPr>
          <a:xfrm>
            <a:off x="457200" y="4654296"/>
            <a:ext cx="5120640" cy="804672"/>
          </a:xfrm>
          <a:prstGeom prst="rect">
            <a:avLst/>
          </a:prstGeom>
          <a:solidFill>
            <a:srgbClr val="FFFFFF"/>
          </a:solidFill>
          <a:ln w="6350">
            <a:solidFill>
              <a:srgbClr val="D0E4F5"/>
            </a:solidFill>
            <a:prstDash val="solid"/>
          </a:ln>
        </p:spPr>
      </p:sp>
      <p:sp>
        <p:nvSpPr>
          <p:cNvPr id="22" name="Text 20"/>
          <p:cNvSpPr/>
          <p:nvPr/>
        </p:nvSpPr>
        <p:spPr>
          <a:xfrm>
            <a:off x="548640" y="4690872"/>
            <a:ext cx="4937760" cy="256032"/>
          </a:xfrm>
          <a:prstGeom prst="rect">
            <a:avLst/>
          </a:prstGeom>
          <a:noFill/>
          <a:ln/>
        </p:spPr>
        <p:txBody>
          <a:bodyPr wrap="square" rtlCol="0" anchor="ctr"/>
          <a:lstStyle/>
          <a:p>
            <a:pPr indent="0" marL="0">
              <a:buNone/>
            </a:pPr>
            <a:r>
              <a:rPr lang="en-US" sz="1000" b="1" dirty="0">
                <a:solidFill>
                  <a:srgbClr val="2E75B6"/>
                </a:solidFill>
                <a:latin typeface="Calibri" pitchFamily="34" charset="0"/>
                <a:ea typeface="Calibri" pitchFamily="34" charset="-122"/>
                <a:cs typeface="Calibri" pitchFamily="34" charset="-120"/>
              </a:rPr>
              <a:t>Journey Source DEs</a:t>
            </a:r>
            <a:endParaRPr lang="en-US" sz="1000" dirty="0"/>
          </a:p>
        </p:txBody>
      </p:sp>
      <p:sp>
        <p:nvSpPr>
          <p:cNvPr id="23" name="Text 21"/>
          <p:cNvSpPr/>
          <p:nvPr/>
        </p:nvSpPr>
        <p:spPr>
          <a:xfrm>
            <a:off x="548640" y="4946904"/>
            <a:ext cx="4937760" cy="475488"/>
          </a:xfrm>
          <a:prstGeom prst="rect">
            <a:avLst/>
          </a:prstGeom>
          <a:noFill/>
          <a:ln/>
        </p:spPr>
        <p:txBody>
          <a:bodyPr wrap="square" rtlCol="0" anchor="ctr"/>
          <a:lstStyle/>
          <a:p>
            <a:pPr indent="0" marL="0">
              <a:buNone/>
            </a:pPr>
            <a:r>
              <a:rPr lang="en-US" sz="950" dirty="0">
                <a:solidFill>
                  <a:srgbClr val="404040"/>
                </a:solidFill>
                <a:latin typeface="Calibri" pitchFamily="34" charset="0"/>
                <a:ea typeface="Calibri" pitchFamily="34" charset="-122"/>
                <a:cs typeface="Calibri" pitchFamily="34" charset="-120"/>
              </a:rPr>
              <a:t>Salesforce IDs from Centralized Form Processor, WebRFPGlobal, InvalidEmail Suppression, TwoClickProcess, Active Handraiser journey DEs</a:t>
            </a:r>
            <a:endParaRPr lang="en-US" sz="950" dirty="0"/>
          </a:p>
        </p:txBody>
      </p:sp>
      <p:sp>
        <p:nvSpPr>
          <p:cNvPr id="24" name="Shape 22"/>
          <p:cNvSpPr/>
          <p:nvPr/>
        </p:nvSpPr>
        <p:spPr>
          <a:xfrm>
            <a:off x="457200" y="5541264"/>
            <a:ext cx="5120640" cy="804672"/>
          </a:xfrm>
          <a:prstGeom prst="rect">
            <a:avLst/>
          </a:prstGeom>
          <a:solidFill>
            <a:srgbClr val="FFFFFF"/>
          </a:solidFill>
          <a:ln w="6350">
            <a:solidFill>
              <a:srgbClr val="D0E4F5"/>
            </a:solidFill>
            <a:prstDash val="solid"/>
          </a:ln>
        </p:spPr>
      </p:sp>
      <p:sp>
        <p:nvSpPr>
          <p:cNvPr id="25" name="Text 23"/>
          <p:cNvSpPr/>
          <p:nvPr/>
        </p:nvSpPr>
        <p:spPr>
          <a:xfrm>
            <a:off x="548640" y="5577840"/>
            <a:ext cx="4937760" cy="256032"/>
          </a:xfrm>
          <a:prstGeom prst="rect">
            <a:avLst/>
          </a:prstGeom>
          <a:noFill/>
          <a:ln/>
        </p:spPr>
        <p:txBody>
          <a:bodyPr wrap="square" rtlCol="0" anchor="ctr"/>
          <a:lstStyle/>
          <a:p>
            <a:pPr indent="0" marL="0">
              <a:buNone/>
            </a:pPr>
            <a:r>
              <a:rPr lang="en-US" sz="1000" b="1" dirty="0">
                <a:solidFill>
                  <a:srgbClr val="2E75B6"/>
                </a:solidFill>
                <a:latin typeface="Calibri" pitchFamily="34" charset="0"/>
                <a:ea typeface="Calibri" pitchFamily="34" charset="-122"/>
                <a:cs typeface="Calibri" pitchFamily="34" charset="-120"/>
              </a:rPr>
              <a:t>How it works</a:t>
            </a:r>
            <a:endParaRPr lang="en-US" sz="1000" dirty="0"/>
          </a:p>
        </p:txBody>
      </p:sp>
      <p:sp>
        <p:nvSpPr>
          <p:cNvPr id="26" name="Text 24"/>
          <p:cNvSpPr/>
          <p:nvPr/>
        </p:nvSpPr>
        <p:spPr>
          <a:xfrm>
            <a:off x="548640" y="5833872"/>
            <a:ext cx="4937760" cy="475488"/>
          </a:xfrm>
          <a:prstGeom prst="rect">
            <a:avLst/>
          </a:prstGeom>
          <a:noFill/>
          <a:ln/>
        </p:spPr>
        <p:txBody>
          <a:bodyPr wrap="square" rtlCol="0" anchor="ctr"/>
          <a:lstStyle/>
          <a:p>
            <a:pPr indent="0" marL="0">
              <a:buNone/>
            </a:pPr>
            <a:r>
              <a:rPr lang="en-US" sz="950" dirty="0">
                <a:solidFill>
                  <a:srgbClr val="404040"/>
                </a:solidFill>
                <a:latin typeface="Calibri" pitchFamily="34" charset="0"/>
                <a:ea typeface="Calibri" pitchFamily="34" charset="-122"/>
                <a:cs typeface="Calibri" pitchFamily="34" charset="-120"/>
              </a:rPr>
              <a:t>One NOT EXISTS check against this DE in Step 14 removes all protected contacts from the Temp DE before any split or deletion occurs. Applied centrally — not per individual collection query.</a:t>
            </a:r>
            <a:endParaRPr lang="en-US" sz="950" dirty="0"/>
          </a:p>
        </p:txBody>
      </p:sp>
      <p:sp>
        <p:nvSpPr>
          <p:cNvPr id="27" name="Shape 25"/>
          <p:cNvSpPr/>
          <p:nvPr/>
        </p:nvSpPr>
        <p:spPr>
          <a:xfrm>
            <a:off x="6080760" y="1143000"/>
            <a:ext cx="5788152" cy="5166360"/>
          </a:xfrm>
          <a:prstGeom prst="rect">
            <a:avLst/>
          </a:prstGeom>
          <a:solidFill>
            <a:srgbClr val="F2F7FC"/>
          </a:solidFill>
          <a:ln w="6350">
            <a:solidFill>
              <a:srgbClr val="D0E4F5"/>
            </a:solidFill>
            <a:prstDash val="solid"/>
          </a:ln>
        </p:spPr>
      </p:sp>
      <p:sp>
        <p:nvSpPr>
          <p:cNvPr id="28" name="Text 26"/>
          <p:cNvSpPr/>
          <p:nvPr/>
        </p:nvSpPr>
        <p:spPr>
          <a:xfrm>
            <a:off x="6217920" y="1216152"/>
            <a:ext cx="5486400" cy="384048"/>
          </a:xfrm>
          <a:prstGeom prst="rect">
            <a:avLst/>
          </a:prstGeom>
          <a:noFill/>
          <a:ln/>
        </p:spPr>
        <p:txBody>
          <a:bodyPr wrap="square" rtlCol="0" anchor="ctr"/>
          <a:lstStyle/>
          <a:p>
            <a:pPr indent="0" marL="0">
              <a:buNone/>
            </a:pPr>
            <a:r>
              <a:rPr lang="en-US" sz="1300" b="1" dirty="0">
                <a:solidFill>
                  <a:srgbClr val="1F4E79"/>
                </a:solidFill>
                <a:latin typeface="Calibri" pitchFamily="34" charset="0"/>
                <a:ea typeface="Calibri" pitchFamily="34" charset="-122"/>
                <a:cs typeface="Calibri" pitchFamily="34" charset="-120"/>
              </a:rPr>
              <a:t>Global_Suppression_List</a:t>
            </a:r>
            <a:endParaRPr lang="en-US" sz="1300" dirty="0"/>
          </a:p>
        </p:txBody>
      </p:sp>
      <p:sp>
        <p:nvSpPr>
          <p:cNvPr id="29" name="Text 27"/>
          <p:cNvSpPr/>
          <p:nvPr/>
        </p:nvSpPr>
        <p:spPr>
          <a:xfrm>
            <a:off x="6217920" y="1581912"/>
            <a:ext cx="5486400" cy="320040"/>
          </a:xfrm>
          <a:prstGeom prst="rect">
            <a:avLst/>
          </a:prstGeom>
          <a:noFill/>
          <a:ln/>
        </p:spPr>
        <p:txBody>
          <a:bodyPr wrap="square" rtlCol="0" anchor="ctr"/>
          <a:lstStyle/>
          <a:p>
            <a:pPr indent="0" marL="0">
              <a:buNone/>
            </a:pPr>
            <a:r>
              <a:rPr lang="en-US" sz="1000" i="1" dirty="0">
                <a:solidFill>
                  <a:srgbClr val="666666"/>
                </a:solidFill>
                <a:latin typeface="Calibri" pitchFamily="34" charset="0"/>
                <a:ea typeface="Calibri" pitchFamily="34" charset="-122"/>
                <a:cs typeface="Calibri" pitchFamily="34" charset="-120"/>
              </a:rPr>
              <a:t>Enterprise-wide list — blocks all SFMC sends to listed addresses regardless of subscription status</a:t>
            </a:r>
            <a:endParaRPr lang="en-US" sz="1000" dirty="0"/>
          </a:p>
        </p:txBody>
      </p:sp>
      <p:sp>
        <p:nvSpPr>
          <p:cNvPr id="30" name="Shape 28"/>
          <p:cNvSpPr/>
          <p:nvPr/>
        </p:nvSpPr>
        <p:spPr>
          <a:xfrm>
            <a:off x="6217920" y="1993392"/>
            <a:ext cx="5486400" cy="960120"/>
          </a:xfrm>
          <a:prstGeom prst="rect">
            <a:avLst/>
          </a:prstGeom>
          <a:solidFill>
            <a:srgbClr val="FFFFFF"/>
          </a:solidFill>
          <a:ln w="6350">
            <a:solidFill>
              <a:srgbClr val="D0E4F5"/>
            </a:solidFill>
            <a:prstDash val="solid"/>
          </a:ln>
        </p:spPr>
      </p:sp>
      <p:sp>
        <p:nvSpPr>
          <p:cNvPr id="31" name="Text 29"/>
          <p:cNvSpPr/>
          <p:nvPr/>
        </p:nvSpPr>
        <p:spPr>
          <a:xfrm>
            <a:off x="6309360" y="2029968"/>
            <a:ext cx="5303520" cy="274320"/>
          </a:xfrm>
          <a:prstGeom prst="rect">
            <a:avLst/>
          </a:prstGeom>
          <a:noFill/>
          <a:ln/>
        </p:spPr>
        <p:txBody>
          <a:bodyPr wrap="square" rtlCol="0" anchor="ctr"/>
          <a:lstStyle/>
          <a:p>
            <a:pPr indent="0" marL="0">
              <a:buNone/>
            </a:pPr>
            <a:r>
              <a:rPr lang="en-US" sz="1000" b="1" dirty="0">
                <a:solidFill>
                  <a:srgbClr val="2E75B6"/>
                </a:solidFill>
                <a:latin typeface="Calibri" pitchFamily="34" charset="0"/>
                <a:ea typeface="Calibri" pitchFamily="34" charset="-122"/>
                <a:cs typeface="Calibri" pitchFamily="34" charset="-120"/>
              </a:rPr>
              <a:t>Step 18 — Add (Not Active contacts)</a:t>
            </a:r>
            <a:endParaRPr lang="en-US" sz="1000" dirty="0"/>
          </a:p>
        </p:txBody>
      </p:sp>
      <p:sp>
        <p:nvSpPr>
          <p:cNvPr id="32" name="Text 30"/>
          <p:cNvSpPr/>
          <p:nvPr/>
        </p:nvSpPr>
        <p:spPr>
          <a:xfrm>
            <a:off x="6309360" y="2304288"/>
            <a:ext cx="5303520" cy="603504"/>
          </a:xfrm>
          <a:prstGeom prst="rect">
            <a:avLst/>
          </a:prstGeom>
          <a:noFill/>
          <a:ln/>
        </p:spPr>
        <p:txBody>
          <a:bodyPr wrap="square" rtlCol="0" anchor="t"/>
          <a:lstStyle/>
          <a:p>
            <a:pPr indent="0" marL="0">
              <a:buNone/>
            </a:pPr>
            <a:r>
              <a:rPr lang="en-US" sz="950" dirty="0">
                <a:solidFill>
                  <a:srgbClr val="404040"/>
                </a:solidFill>
                <a:latin typeface="Calibri" pitchFamily="34" charset="0"/>
                <a:ea typeface="Calibri" pitchFamily="34" charset="-122"/>
                <a:cs typeface="Calibri" pitchFamily="34" charset="-120"/>
              </a:rPr>
              <a:t>Every email address in the Duplicate_Emails_to_Delete_EXCLUDED DE (Active = N, meaning Unsubscribed or Held) is added to the suppression list via UpsertData before deletion. Even if the contact is recreated by MC Connect sync, their email cannot receive SFMC sends.</a:t>
            </a:r>
            <a:endParaRPr lang="en-US" sz="950" dirty="0"/>
          </a:p>
        </p:txBody>
      </p:sp>
      <p:sp>
        <p:nvSpPr>
          <p:cNvPr id="33" name="Shape 31"/>
          <p:cNvSpPr/>
          <p:nvPr/>
        </p:nvSpPr>
        <p:spPr>
          <a:xfrm>
            <a:off x="6217920" y="3044952"/>
            <a:ext cx="5486400" cy="960120"/>
          </a:xfrm>
          <a:prstGeom prst="rect">
            <a:avLst/>
          </a:prstGeom>
          <a:solidFill>
            <a:srgbClr val="FFFFFF"/>
          </a:solidFill>
          <a:ln w="6350">
            <a:solidFill>
              <a:srgbClr val="D0E4F5"/>
            </a:solidFill>
            <a:prstDash val="solid"/>
          </a:ln>
        </p:spPr>
      </p:sp>
      <p:sp>
        <p:nvSpPr>
          <p:cNvPr id="34" name="Text 32"/>
          <p:cNvSpPr/>
          <p:nvPr/>
        </p:nvSpPr>
        <p:spPr>
          <a:xfrm>
            <a:off x="6309360" y="3081528"/>
            <a:ext cx="5303520" cy="274320"/>
          </a:xfrm>
          <a:prstGeom prst="rect">
            <a:avLst/>
          </a:prstGeom>
          <a:noFill/>
          <a:ln/>
        </p:spPr>
        <p:txBody>
          <a:bodyPr wrap="square" rtlCol="0" anchor="ctr"/>
          <a:lstStyle/>
          <a:p>
            <a:pPr indent="0" marL="0">
              <a:buNone/>
            </a:pPr>
            <a:r>
              <a:rPr lang="en-US" sz="1000" b="1" dirty="0">
                <a:solidFill>
                  <a:srgbClr val="2E75B6"/>
                </a:solidFill>
                <a:latin typeface="Calibri" pitchFamily="34" charset="0"/>
                <a:ea typeface="Calibri" pitchFamily="34" charset="-122"/>
                <a:cs typeface="Calibri" pitchFamily="34" charset="-120"/>
              </a:rPr>
              <a:t>Step 19 — Remove (Re-activated contacts)</a:t>
            </a:r>
            <a:endParaRPr lang="en-US" sz="1000" dirty="0"/>
          </a:p>
        </p:txBody>
      </p:sp>
      <p:sp>
        <p:nvSpPr>
          <p:cNvPr id="35" name="Text 33"/>
          <p:cNvSpPr/>
          <p:nvPr/>
        </p:nvSpPr>
        <p:spPr>
          <a:xfrm>
            <a:off x="6309360" y="3355848"/>
            <a:ext cx="5303520" cy="603504"/>
          </a:xfrm>
          <a:prstGeom prst="rect">
            <a:avLst/>
          </a:prstGeom>
          <a:noFill/>
          <a:ln/>
        </p:spPr>
        <p:txBody>
          <a:bodyPr wrap="square" rtlCol="0" anchor="t"/>
          <a:lstStyle/>
          <a:p>
            <a:pPr indent="0" marL="0">
              <a:buNone/>
            </a:pPr>
            <a:r>
              <a:rPr lang="en-US" sz="950" dirty="0">
                <a:solidFill>
                  <a:srgbClr val="404040"/>
                </a:solidFill>
                <a:latin typeface="Calibri" pitchFamily="34" charset="0"/>
                <a:ea typeface="Calibri" pitchFamily="34" charset="-122"/>
                <a:cs typeface="Calibri" pitchFamily="34" charset="-120"/>
              </a:rPr>
              <a:t>Contacts on the suppression list who are now Active in All Subscribers AND are not in the current deletion set have re-opted in. Their email addresses are removed from the suppression list via DeleteData so they can receive communications again.</a:t>
            </a:r>
            <a:endParaRPr lang="en-US" sz="950" dirty="0"/>
          </a:p>
        </p:txBody>
      </p:sp>
      <p:sp>
        <p:nvSpPr>
          <p:cNvPr id="36" name="Shape 34"/>
          <p:cNvSpPr/>
          <p:nvPr/>
        </p:nvSpPr>
        <p:spPr>
          <a:xfrm>
            <a:off x="6217920" y="4096512"/>
            <a:ext cx="5486400" cy="960120"/>
          </a:xfrm>
          <a:prstGeom prst="rect">
            <a:avLst/>
          </a:prstGeom>
          <a:solidFill>
            <a:srgbClr val="FFFFFF"/>
          </a:solidFill>
          <a:ln w="6350">
            <a:solidFill>
              <a:srgbClr val="D0E4F5"/>
            </a:solidFill>
            <a:prstDash val="solid"/>
          </a:ln>
        </p:spPr>
      </p:sp>
      <p:sp>
        <p:nvSpPr>
          <p:cNvPr id="37" name="Text 35"/>
          <p:cNvSpPr/>
          <p:nvPr/>
        </p:nvSpPr>
        <p:spPr>
          <a:xfrm>
            <a:off x="6309360" y="4133088"/>
            <a:ext cx="5303520" cy="274320"/>
          </a:xfrm>
          <a:prstGeom prst="rect">
            <a:avLst/>
          </a:prstGeom>
          <a:noFill/>
          <a:ln/>
        </p:spPr>
        <p:txBody>
          <a:bodyPr wrap="square" rtlCol="0" anchor="ctr"/>
          <a:lstStyle/>
          <a:p>
            <a:pPr indent="0" marL="0">
              <a:buNone/>
            </a:pPr>
            <a:r>
              <a:rPr lang="en-US" sz="1000" b="1" dirty="0">
                <a:solidFill>
                  <a:srgbClr val="2E75B6"/>
                </a:solidFill>
                <a:latin typeface="Calibri" pitchFamily="34" charset="0"/>
                <a:ea typeface="Calibri" pitchFamily="34" charset="-122"/>
                <a:cs typeface="Calibri" pitchFamily="34" charset="-120"/>
              </a:rPr>
              <a:t>Why this matters</a:t>
            </a:r>
            <a:endParaRPr lang="en-US" sz="1000" dirty="0"/>
          </a:p>
        </p:txBody>
      </p:sp>
      <p:sp>
        <p:nvSpPr>
          <p:cNvPr id="38" name="Text 36"/>
          <p:cNvSpPr/>
          <p:nvPr/>
        </p:nvSpPr>
        <p:spPr>
          <a:xfrm>
            <a:off x="6309360" y="4407408"/>
            <a:ext cx="5303520" cy="603504"/>
          </a:xfrm>
          <a:prstGeom prst="rect">
            <a:avLst/>
          </a:prstGeom>
          <a:noFill/>
          <a:ln/>
        </p:spPr>
        <p:txBody>
          <a:bodyPr wrap="square" rtlCol="0" anchor="t"/>
          <a:lstStyle/>
          <a:p>
            <a:pPr indent="0" marL="0">
              <a:buNone/>
            </a:pPr>
            <a:r>
              <a:rPr lang="en-US" sz="950" dirty="0">
                <a:solidFill>
                  <a:srgbClr val="404040"/>
                </a:solidFill>
                <a:latin typeface="Calibri" pitchFamily="34" charset="0"/>
                <a:ea typeface="Calibri" pitchFamily="34" charset="-122"/>
                <a:cs typeface="Calibri" pitchFamily="34" charset="-120"/>
              </a:rPr>
              <a:t>Contact deletion is asynchronous in SFMC — deleted contacts may remain in a pending state for a period. The suppression list provides immediate email protection while physical deletion propagates. It also persists after deletion, protecting against re-sync recreation.</a:t>
            </a:r>
            <a:endParaRPr lang="en-US" sz="950" dirty="0"/>
          </a:p>
        </p:txBody>
      </p:sp>
      <p:sp>
        <p:nvSpPr>
          <p:cNvPr id="39" name="Shape 37"/>
          <p:cNvSpPr/>
          <p:nvPr/>
        </p:nvSpPr>
        <p:spPr>
          <a:xfrm>
            <a:off x="6217920" y="5148072"/>
            <a:ext cx="5486400" cy="960120"/>
          </a:xfrm>
          <a:prstGeom prst="rect">
            <a:avLst/>
          </a:prstGeom>
          <a:solidFill>
            <a:srgbClr val="FFFFFF"/>
          </a:solidFill>
          <a:ln w="6350">
            <a:solidFill>
              <a:srgbClr val="D0E4F5"/>
            </a:solidFill>
            <a:prstDash val="solid"/>
          </a:ln>
        </p:spPr>
      </p:sp>
      <p:sp>
        <p:nvSpPr>
          <p:cNvPr id="40" name="Text 38"/>
          <p:cNvSpPr/>
          <p:nvPr/>
        </p:nvSpPr>
        <p:spPr>
          <a:xfrm>
            <a:off x="6309360" y="5184648"/>
            <a:ext cx="5303520" cy="274320"/>
          </a:xfrm>
          <a:prstGeom prst="rect">
            <a:avLst/>
          </a:prstGeom>
          <a:noFill/>
          <a:ln/>
        </p:spPr>
        <p:txBody>
          <a:bodyPr wrap="square" rtlCol="0" anchor="ctr"/>
          <a:lstStyle/>
          <a:p>
            <a:pPr indent="0" marL="0">
              <a:buNone/>
            </a:pPr>
            <a:r>
              <a:rPr lang="en-US" sz="1000" b="1" dirty="0">
                <a:solidFill>
                  <a:srgbClr val="2E75B6"/>
                </a:solidFill>
                <a:latin typeface="Calibri" pitchFamily="34" charset="0"/>
                <a:ea typeface="Calibri" pitchFamily="34" charset="-122"/>
                <a:cs typeface="Calibri" pitchFamily="34" charset="-120"/>
              </a:rPr>
              <a:t>Salesforce Support confirmation</a:t>
            </a:r>
            <a:endParaRPr lang="en-US" sz="1000" dirty="0"/>
          </a:p>
        </p:txBody>
      </p:sp>
      <p:sp>
        <p:nvSpPr>
          <p:cNvPr id="41" name="Text 39"/>
          <p:cNvSpPr/>
          <p:nvPr/>
        </p:nvSpPr>
        <p:spPr>
          <a:xfrm>
            <a:off x="6309360" y="5458968"/>
            <a:ext cx="5303520" cy="603504"/>
          </a:xfrm>
          <a:prstGeom prst="rect">
            <a:avLst/>
          </a:prstGeom>
          <a:noFill/>
          <a:ln/>
        </p:spPr>
        <p:txBody>
          <a:bodyPr wrap="square" rtlCol="0" anchor="t"/>
          <a:lstStyle/>
          <a:p>
            <a:pPr indent="0" marL="0">
              <a:buNone/>
            </a:pPr>
            <a:r>
              <a:rPr lang="en-US" sz="950" dirty="0">
                <a:solidFill>
                  <a:srgbClr val="404040"/>
                </a:solidFill>
                <a:latin typeface="Calibri" pitchFamily="34" charset="0"/>
                <a:ea typeface="Calibri" pitchFamily="34" charset="-122"/>
                <a:cs typeface="Calibri" pitchFamily="34" charset="-120"/>
              </a:rPr>
              <a:t>Confirmed by Salesforce Signature Support: even if a deleted contact is recreated by MC Connect sync, the suppression list entry remains active and prevents email delivery until removed by Step 19 on the following weekly run.</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1F4E79"/>
          </a:solidFill>
          <a:ln/>
        </p:spPr>
      </p:sp>
      <p:sp>
        <p:nvSpPr>
          <p:cNvPr id="3" name="Shape 1"/>
          <p:cNvSpPr/>
          <p:nvPr/>
        </p:nvSpPr>
        <p:spPr>
          <a:xfrm>
            <a:off x="0" y="1005840"/>
            <a:ext cx="12188952" cy="54864"/>
          </a:xfrm>
          <a:prstGeom prst="rect">
            <a:avLst/>
          </a:prstGeom>
          <a:solidFill>
            <a:srgbClr val="2E75B6"/>
          </a:solidFill>
          <a:ln/>
        </p:spPr>
      </p:sp>
      <p:sp>
        <p:nvSpPr>
          <p:cNvPr id="4" name="Text 2"/>
          <p:cNvSpPr/>
          <p:nvPr/>
        </p:nvSpPr>
        <p:spPr>
          <a:xfrm>
            <a:off x="320040" y="137160"/>
            <a:ext cx="1152144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Data Management, Backup and Audit Trail</a:t>
            </a:r>
            <a:endParaRPr lang="en-US" sz="2200" dirty="0"/>
          </a:p>
        </p:txBody>
      </p:sp>
      <p:sp>
        <p:nvSpPr>
          <p:cNvPr id="5" name="Text 3"/>
          <p:cNvSpPr/>
          <p:nvPr/>
        </p:nvSpPr>
        <p:spPr>
          <a:xfrm>
            <a:off x="320040" y="621792"/>
            <a:ext cx="11521440" cy="320040"/>
          </a:xfrm>
          <a:prstGeom prst="rect">
            <a:avLst/>
          </a:prstGeom>
          <a:noFill/>
          <a:ln/>
        </p:spPr>
        <p:txBody>
          <a:bodyPr wrap="square" rtlCol="0" anchor="ctr"/>
          <a:lstStyle/>
          <a:p>
            <a:pPr indent="0" marL="0">
              <a:buNone/>
            </a:pPr>
            <a:r>
              <a:rPr lang="en-US" sz="1200" dirty="0">
                <a:solidFill>
                  <a:srgbClr val="BDD7EE"/>
                </a:solidFill>
                <a:latin typeface="Calibri" pitchFamily="34" charset="0"/>
                <a:ea typeface="Calibri" pitchFamily="34" charset="-122"/>
                <a:cs typeface="Calibri" pitchFamily="34" charset="-120"/>
              </a:rPr>
              <a:t>Every deletion run is fully backed up, exported and archived before the delete step executes</a:t>
            </a:r>
            <a:endParaRPr lang="en-US" sz="1200" dirty="0"/>
          </a:p>
        </p:txBody>
      </p:sp>
      <p:sp>
        <p:nvSpPr>
          <p:cNvPr id="6" name="Shape 4"/>
          <p:cNvSpPr/>
          <p:nvPr/>
        </p:nvSpPr>
        <p:spPr>
          <a:xfrm>
            <a:off x="0" y="6556248"/>
            <a:ext cx="12188952" cy="301752"/>
          </a:xfrm>
          <a:prstGeom prst="rect">
            <a:avLst/>
          </a:prstGeom>
          <a:solidFill>
            <a:srgbClr val="F2F2F2"/>
          </a:solidFill>
          <a:ln/>
        </p:spPr>
      </p:sp>
      <p:sp>
        <p:nvSpPr>
          <p:cNvPr id="7" name="Text 5"/>
          <p:cNvSpPr/>
          <p:nvPr/>
        </p:nvSpPr>
        <p:spPr>
          <a:xfrm>
            <a:off x="182880" y="6574536"/>
            <a:ext cx="3657600" cy="228600"/>
          </a:xfrm>
          <a:prstGeom prst="rect">
            <a:avLst/>
          </a:prstGeom>
          <a:noFill/>
          <a:ln/>
        </p:spPr>
        <p:txBody>
          <a:bodyPr wrap="square" rtlCol="0" anchor="ctr"/>
          <a:lstStyle/>
          <a:p>
            <a:pPr indent="0" marL="0">
              <a:buNone/>
            </a:pPr>
            <a:r>
              <a:rPr lang="en-US" sz="800" b="1" dirty="0">
                <a:solidFill>
                  <a:srgbClr val="2E75B6"/>
                </a:solidFill>
                <a:latin typeface="Calibri" pitchFamily="34" charset="0"/>
                <a:ea typeface="Calibri" pitchFamily="34" charset="-122"/>
                <a:cs typeface="Calibri" pitchFamily="34" charset="-120"/>
              </a:rPr>
              <a:t>#DigitalExcellence</a:t>
            </a:r>
            <a:endParaRPr lang="en-US" sz="800" dirty="0"/>
          </a:p>
        </p:txBody>
      </p:sp>
      <p:sp>
        <p:nvSpPr>
          <p:cNvPr id="8" name="Text 6"/>
          <p:cNvSpPr/>
          <p:nvPr/>
        </p:nvSpPr>
        <p:spPr>
          <a:xfrm>
            <a:off x="3840480" y="6574536"/>
            <a:ext cx="8229600" cy="228600"/>
          </a:xfrm>
          <a:prstGeom prst="rect">
            <a:avLst/>
          </a:prstGeom>
          <a:noFill/>
          <a:ln/>
        </p:spPr>
        <p:txBody>
          <a:bodyPr wrap="square" rtlCol="0" anchor="ctr"/>
          <a:lstStyle/>
          <a:p>
            <a:pPr algn="r" indent="0" marL="0">
              <a:buNone/>
            </a:pPr>
            <a:r>
              <a:rPr lang="en-US" sz="800" dirty="0">
                <a:solidFill>
                  <a:srgbClr val="666666"/>
                </a:solidFill>
                <a:latin typeface="Calibri" pitchFamily="34" charset="0"/>
                <a:ea typeface="Calibri" pitchFamily="34" charset="-122"/>
                <a:cs typeface="Calibri" pitchFamily="34" charset="-120"/>
              </a:rPr>
              <a:t>Contact Deletion  |  KPMG Marketing Cloud Engage  |  Himanshu Gupta</a:t>
            </a:r>
            <a:endParaRPr lang="en-US" sz="800" dirty="0"/>
          </a:p>
        </p:txBody>
      </p:sp>
      <p:sp>
        <p:nvSpPr>
          <p:cNvPr id="9" name="Shape 7"/>
          <p:cNvSpPr/>
          <p:nvPr/>
        </p:nvSpPr>
        <p:spPr>
          <a:xfrm>
            <a:off x="320040" y="1143000"/>
            <a:ext cx="3474720" cy="5166360"/>
          </a:xfrm>
          <a:prstGeom prst="rect">
            <a:avLst/>
          </a:prstGeom>
          <a:solidFill>
            <a:srgbClr val="F2F7FC"/>
          </a:solidFill>
          <a:ln w="6350">
            <a:solidFill>
              <a:srgbClr val="D0E4F5"/>
            </a:solidFill>
            <a:prstDash val="solid"/>
          </a:ln>
        </p:spPr>
      </p:sp>
      <p:sp>
        <p:nvSpPr>
          <p:cNvPr id="10" name="Shape 8"/>
          <p:cNvSpPr/>
          <p:nvPr/>
        </p:nvSpPr>
        <p:spPr>
          <a:xfrm>
            <a:off x="320040" y="1143000"/>
            <a:ext cx="3474720" cy="438912"/>
          </a:xfrm>
          <a:prstGeom prst="rect">
            <a:avLst/>
          </a:prstGeom>
          <a:solidFill>
            <a:srgbClr val="2E75B6"/>
          </a:solidFill>
          <a:ln/>
        </p:spPr>
      </p:sp>
      <p:sp>
        <p:nvSpPr>
          <p:cNvPr id="11" name="Text 9"/>
          <p:cNvSpPr/>
          <p:nvPr/>
        </p:nvSpPr>
        <p:spPr>
          <a:xfrm>
            <a:off x="411480" y="1161288"/>
            <a:ext cx="329184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26 Business DE Backups</a:t>
            </a:r>
            <a:endParaRPr lang="en-US" sz="1100" dirty="0"/>
          </a:p>
        </p:txBody>
      </p:sp>
      <p:sp>
        <p:nvSpPr>
          <p:cNvPr id="12" name="Shape 10"/>
          <p:cNvSpPr/>
          <p:nvPr/>
        </p:nvSpPr>
        <p:spPr>
          <a:xfrm>
            <a:off x="429768" y="1682496"/>
            <a:ext cx="3255264" cy="978408"/>
          </a:xfrm>
          <a:prstGeom prst="rect">
            <a:avLst/>
          </a:prstGeom>
          <a:solidFill>
            <a:srgbClr val="FFFFFF"/>
          </a:solidFill>
          <a:ln w="6350">
            <a:solidFill>
              <a:srgbClr val="D0E4F5"/>
            </a:solidFill>
            <a:prstDash val="solid"/>
          </a:ln>
        </p:spPr>
      </p:sp>
      <p:sp>
        <p:nvSpPr>
          <p:cNvPr id="13" name="Text 11"/>
          <p:cNvSpPr/>
          <p:nvPr/>
        </p:nvSpPr>
        <p:spPr>
          <a:xfrm>
            <a:off x="484632" y="1709928"/>
            <a:ext cx="3145536" cy="923544"/>
          </a:xfrm>
          <a:prstGeom prst="rect">
            <a:avLst/>
          </a:prstGeom>
          <a:noFill/>
          <a:ln/>
        </p:spPr>
        <p:txBody>
          <a:bodyPr wrap="square" rtlCol="0" anchor="t"/>
          <a:lstStyle/>
          <a:p>
            <a:pPr indent="0" marL="0">
              <a:buNone/>
            </a:pPr>
            <a:r>
              <a:rPr lang="en-US" sz="1000" b="1" dirty="0">
                <a:solidFill>
                  <a:srgbClr val="2E75B6"/>
                </a:solidFill>
                <a:latin typeface="Calibri" pitchFamily="34" charset="0"/>
                <a:ea typeface="Calibri" pitchFamily="34" charset="-122"/>
                <a:cs typeface="Calibri" pitchFamily="34" charset="-120"/>
              </a:rPr>
              <a:t>• </a:t>
            </a:r>
            <a:pPr indent="0" marL="0">
              <a:buNone/>
            </a:pPr>
            <a:r>
              <a:rPr lang="en-US" sz="1000" dirty="0">
                <a:solidFill>
                  <a:srgbClr val="404040"/>
                </a:solidFill>
                <a:latin typeface="Calibri" pitchFamily="34" charset="0"/>
                <a:ea typeface="Calibri" pitchFamily="34" charset="-122"/>
                <a:cs typeface="Calibri" pitchFamily="34" charset="-120"/>
              </a:rPr>
              <a:t>Steps 20–45 back up 26 business data extensions to their respective _ARCHIVE DEs before every deletion run.</a:t>
            </a:r>
            <a:endParaRPr lang="en-US" sz="1000" dirty="0"/>
          </a:p>
        </p:txBody>
      </p:sp>
      <p:sp>
        <p:nvSpPr>
          <p:cNvPr id="14" name="Shape 12"/>
          <p:cNvSpPr/>
          <p:nvPr/>
        </p:nvSpPr>
        <p:spPr>
          <a:xfrm>
            <a:off x="429768" y="2734056"/>
            <a:ext cx="3255264" cy="978408"/>
          </a:xfrm>
          <a:prstGeom prst="rect">
            <a:avLst/>
          </a:prstGeom>
          <a:solidFill>
            <a:srgbClr val="FFFFFF"/>
          </a:solidFill>
          <a:ln w="6350">
            <a:solidFill>
              <a:srgbClr val="D0E4F5"/>
            </a:solidFill>
            <a:prstDash val="solid"/>
          </a:ln>
        </p:spPr>
      </p:sp>
      <p:sp>
        <p:nvSpPr>
          <p:cNvPr id="15" name="Text 13"/>
          <p:cNvSpPr/>
          <p:nvPr/>
        </p:nvSpPr>
        <p:spPr>
          <a:xfrm>
            <a:off x="484632" y="2761488"/>
            <a:ext cx="3145536" cy="923544"/>
          </a:xfrm>
          <a:prstGeom prst="rect">
            <a:avLst/>
          </a:prstGeom>
          <a:noFill/>
          <a:ln/>
        </p:spPr>
        <p:txBody>
          <a:bodyPr wrap="square" rtlCol="0" anchor="t"/>
          <a:lstStyle/>
          <a:p>
            <a:pPr indent="0" marL="0">
              <a:buNone/>
            </a:pPr>
            <a:r>
              <a:rPr lang="en-US" sz="1000" b="1" dirty="0">
                <a:solidFill>
                  <a:srgbClr val="2E75B6"/>
                </a:solidFill>
                <a:latin typeface="Calibri" pitchFamily="34" charset="0"/>
                <a:ea typeface="Calibri" pitchFamily="34" charset="-122"/>
                <a:cs typeface="Calibri" pitchFamily="34" charset="-120"/>
              </a:rPr>
              <a:t>• </a:t>
            </a:r>
            <a:pPr indent="0" marL="0">
              <a:buNone/>
            </a:pPr>
            <a:r>
              <a:rPr lang="en-US" sz="1000" dirty="0">
                <a:solidFill>
                  <a:srgbClr val="404040"/>
                </a:solidFill>
                <a:latin typeface="Calibri" pitchFamily="34" charset="0"/>
                <a:ea typeface="Calibri" pitchFamily="34" charset="-122"/>
                <a:cs typeface="Calibri" pitchFamily="34" charset="-120"/>
              </a:rPr>
              <a:t>Includes: Subscribers, Subscriber Preferences Email, Centralized Form Processor, LinkedIn MASTER, Segmentation Starters, Combined Followup, Intrado MASTER, MIPA DEs, Taxbenchmarking, VendorContactDataKcentral, WebRFPGlobal, LinkedIn Handraiser, and Recordkeeper DEs.</a:t>
            </a:r>
            <a:endParaRPr lang="en-US" sz="1000" dirty="0"/>
          </a:p>
        </p:txBody>
      </p:sp>
      <p:sp>
        <p:nvSpPr>
          <p:cNvPr id="16" name="Shape 14"/>
          <p:cNvSpPr/>
          <p:nvPr/>
        </p:nvSpPr>
        <p:spPr>
          <a:xfrm>
            <a:off x="429768" y="3785616"/>
            <a:ext cx="3255264" cy="978408"/>
          </a:xfrm>
          <a:prstGeom prst="rect">
            <a:avLst/>
          </a:prstGeom>
          <a:solidFill>
            <a:srgbClr val="FFFFFF"/>
          </a:solidFill>
          <a:ln w="6350">
            <a:solidFill>
              <a:srgbClr val="D0E4F5"/>
            </a:solidFill>
            <a:prstDash val="solid"/>
          </a:ln>
        </p:spPr>
      </p:sp>
      <p:sp>
        <p:nvSpPr>
          <p:cNvPr id="17" name="Text 15"/>
          <p:cNvSpPr/>
          <p:nvPr/>
        </p:nvSpPr>
        <p:spPr>
          <a:xfrm>
            <a:off x="484632" y="3813048"/>
            <a:ext cx="3145536" cy="923544"/>
          </a:xfrm>
          <a:prstGeom prst="rect">
            <a:avLst/>
          </a:prstGeom>
          <a:noFill/>
          <a:ln/>
        </p:spPr>
        <p:txBody>
          <a:bodyPr wrap="square" rtlCol="0" anchor="t"/>
          <a:lstStyle/>
          <a:p>
            <a:pPr indent="0" marL="0">
              <a:buNone/>
            </a:pPr>
            <a:r>
              <a:rPr lang="en-US" sz="1000" b="1" dirty="0">
                <a:solidFill>
                  <a:srgbClr val="2E75B6"/>
                </a:solidFill>
                <a:latin typeface="Calibri" pitchFamily="34" charset="0"/>
                <a:ea typeface="Calibri" pitchFamily="34" charset="-122"/>
                <a:cs typeface="Calibri" pitchFamily="34" charset="-120"/>
              </a:rPr>
              <a:t>• </a:t>
            </a:r>
            <a:pPr indent="0" marL="0">
              <a:buNone/>
            </a:pPr>
            <a:r>
              <a:rPr lang="en-US" sz="1000" dirty="0">
                <a:solidFill>
                  <a:srgbClr val="404040"/>
                </a:solidFill>
                <a:latin typeface="Calibri" pitchFamily="34" charset="0"/>
                <a:ea typeface="Calibri" pitchFamily="34" charset="-122"/>
                <a:cs typeface="Calibri" pitchFamily="34" charset="-120"/>
              </a:rPr>
              <a:t>All backups use Overwrite — capturing the full current state of each DE at run time, not just records being deleted.</a:t>
            </a:r>
            <a:endParaRPr lang="en-US" sz="1000" dirty="0"/>
          </a:p>
        </p:txBody>
      </p:sp>
      <p:sp>
        <p:nvSpPr>
          <p:cNvPr id="18" name="Shape 16"/>
          <p:cNvSpPr/>
          <p:nvPr/>
        </p:nvSpPr>
        <p:spPr>
          <a:xfrm>
            <a:off x="429768" y="4837176"/>
            <a:ext cx="3255264" cy="978408"/>
          </a:xfrm>
          <a:prstGeom prst="rect">
            <a:avLst/>
          </a:prstGeom>
          <a:solidFill>
            <a:srgbClr val="FFFFFF"/>
          </a:solidFill>
          <a:ln w="6350">
            <a:solidFill>
              <a:srgbClr val="D0E4F5"/>
            </a:solidFill>
            <a:prstDash val="solid"/>
          </a:ln>
        </p:spPr>
      </p:sp>
      <p:sp>
        <p:nvSpPr>
          <p:cNvPr id="19" name="Text 17"/>
          <p:cNvSpPr/>
          <p:nvPr/>
        </p:nvSpPr>
        <p:spPr>
          <a:xfrm>
            <a:off x="484632" y="4864608"/>
            <a:ext cx="3145536" cy="923544"/>
          </a:xfrm>
          <a:prstGeom prst="rect">
            <a:avLst/>
          </a:prstGeom>
          <a:noFill/>
          <a:ln/>
        </p:spPr>
        <p:txBody>
          <a:bodyPr wrap="square" rtlCol="0" anchor="t"/>
          <a:lstStyle/>
          <a:p>
            <a:pPr indent="0" marL="0">
              <a:buNone/>
            </a:pPr>
            <a:r>
              <a:rPr lang="en-US" sz="1000" b="1" dirty="0">
                <a:solidFill>
                  <a:srgbClr val="2E75B6"/>
                </a:solidFill>
                <a:latin typeface="Calibri" pitchFamily="34" charset="0"/>
                <a:ea typeface="Calibri" pitchFamily="34" charset="-122"/>
                <a:cs typeface="Calibri" pitchFamily="34" charset="-120"/>
              </a:rPr>
              <a:t>• </a:t>
            </a:r>
            <a:pPr indent="0" marL="0">
              <a:buNone/>
            </a:pPr>
            <a:r>
              <a:rPr lang="en-US" sz="1000" dirty="0">
                <a:solidFill>
                  <a:srgbClr val="404040"/>
                </a:solidFill>
                <a:latin typeface="Calibri" pitchFamily="34" charset="0"/>
                <a:ea typeface="Calibri" pitchFamily="34" charset="-122"/>
                <a:cs typeface="Calibri" pitchFamily="34" charset="-120"/>
              </a:rPr>
              <a:t>Replaces the functionality of the separate Duplicate Delete Data Archive automation which is decommissioned as part of this story.</a:t>
            </a:r>
            <a:endParaRPr lang="en-US" sz="1000" dirty="0"/>
          </a:p>
        </p:txBody>
      </p:sp>
      <p:sp>
        <p:nvSpPr>
          <p:cNvPr id="20" name="Shape 18"/>
          <p:cNvSpPr/>
          <p:nvPr/>
        </p:nvSpPr>
        <p:spPr>
          <a:xfrm>
            <a:off x="4133088" y="1143000"/>
            <a:ext cx="3474720" cy="5166360"/>
          </a:xfrm>
          <a:prstGeom prst="rect">
            <a:avLst/>
          </a:prstGeom>
          <a:solidFill>
            <a:srgbClr val="F2F7FC"/>
          </a:solidFill>
          <a:ln w="6350">
            <a:solidFill>
              <a:srgbClr val="D0E4F5"/>
            </a:solidFill>
            <a:prstDash val="solid"/>
          </a:ln>
        </p:spPr>
      </p:sp>
      <p:sp>
        <p:nvSpPr>
          <p:cNvPr id="21" name="Shape 19"/>
          <p:cNvSpPr/>
          <p:nvPr/>
        </p:nvSpPr>
        <p:spPr>
          <a:xfrm>
            <a:off x="4133088" y="1143000"/>
            <a:ext cx="3474720" cy="438912"/>
          </a:xfrm>
          <a:prstGeom prst="rect">
            <a:avLst/>
          </a:prstGeom>
          <a:solidFill>
            <a:srgbClr val="2E86AB"/>
          </a:solidFill>
          <a:ln/>
        </p:spPr>
      </p:sp>
      <p:sp>
        <p:nvSpPr>
          <p:cNvPr id="22" name="Text 20"/>
          <p:cNvSpPr/>
          <p:nvPr/>
        </p:nvSpPr>
        <p:spPr>
          <a:xfrm>
            <a:off x="4224528" y="1161288"/>
            <a:ext cx="329184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SFTP Export (Step 47)</a:t>
            </a:r>
            <a:endParaRPr lang="en-US" sz="1100" dirty="0"/>
          </a:p>
        </p:txBody>
      </p:sp>
      <p:sp>
        <p:nvSpPr>
          <p:cNvPr id="23" name="Shape 21"/>
          <p:cNvSpPr/>
          <p:nvPr/>
        </p:nvSpPr>
        <p:spPr>
          <a:xfrm>
            <a:off x="4242816" y="1682496"/>
            <a:ext cx="3255264" cy="978408"/>
          </a:xfrm>
          <a:prstGeom prst="rect">
            <a:avLst/>
          </a:prstGeom>
          <a:solidFill>
            <a:srgbClr val="FFFFFF"/>
          </a:solidFill>
          <a:ln w="6350">
            <a:solidFill>
              <a:srgbClr val="D0E4F5"/>
            </a:solidFill>
            <a:prstDash val="solid"/>
          </a:ln>
        </p:spPr>
      </p:sp>
      <p:sp>
        <p:nvSpPr>
          <p:cNvPr id="24" name="Text 22"/>
          <p:cNvSpPr/>
          <p:nvPr/>
        </p:nvSpPr>
        <p:spPr>
          <a:xfrm>
            <a:off x="4297680" y="1709928"/>
            <a:ext cx="3145536" cy="923544"/>
          </a:xfrm>
          <a:prstGeom prst="rect">
            <a:avLst/>
          </a:prstGeom>
          <a:noFill/>
          <a:ln/>
        </p:spPr>
        <p:txBody>
          <a:bodyPr wrap="square" rtlCol="0" anchor="t"/>
          <a:lstStyle/>
          <a:p>
            <a:pPr indent="0" marL="0">
              <a:buNone/>
            </a:pPr>
            <a:r>
              <a:rPr lang="en-US" sz="1000" b="1" dirty="0">
                <a:solidFill>
                  <a:srgbClr val="2E86AB"/>
                </a:solidFill>
                <a:latin typeface="Calibri" pitchFamily="34" charset="0"/>
                <a:ea typeface="Calibri" pitchFamily="34" charset="-122"/>
                <a:cs typeface="Calibri" pitchFamily="34" charset="-120"/>
              </a:rPr>
              <a:t>• </a:t>
            </a:r>
            <a:pPr indent="0" marL="0">
              <a:buNone/>
            </a:pPr>
            <a:r>
              <a:rPr lang="en-US" sz="1000" dirty="0">
                <a:solidFill>
                  <a:srgbClr val="404040"/>
                </a:solidFill>
                <a:latin typeface="Calibri" pitchFamily="34" charset="0"/>
                <a:ea typeface="Calibri" pitchFamily="34" charset="-122"/>
                <a:cs typeface="Calibri" pitchFamily="34" charset="-120"/>
              </a:rPr>
              <a:t>The Duplicate_Emails_to_Delete_Temp DE and Duplicate_Emails_Summary are exported as CSV files to SFTP Marketing Cloud Exports before the delete step runs.</a:t>
            </a:r>
            <a:endParaRPr lang="en-US" sz="1000" dirty="0"/>
          </a:p>
        </p:txBody>
      </p:sp>
      <p:sp>
        <p:nvSpPr>
          <p:cNvPr id="25" name="Shape 23"/>
          <p:cNvSpPr/>
          <p:nvPr/>
        </p:nvSpPr>
        <p:spPr>
          <a:xfrm>
            <a:off x="4242816" y="2734056"/>
            <a:ext cx="3255264" cy="978408"/>
          </a:xfrm>
          <a:prstGeom prst="rect">
            <a:avLst/>
          </a:prstGeom>
          <a:solidFill>
            <a:srgbClr val="FFFFFF"/>
          </a:solidFill>
          <a:ln w="6350">
            <a:solidFill>
              <a:srgbClr val="D0E4F5"/>
            </a:solidFill>
            <a:prstDash val="solid"/>
          </a:ln>
        </p:spPr>
      </p:sp>
      <p:sp>
        <p:nvSpPr>
          <p:cNvPr id="26" name="Text 24"/>
          <p:cNvSpPr/>
          <p:nvPr/>
        </p:nvSpPr>
        <p:spPr>
          <a:xfrm>
            <a:off x="4297680" y="2761488"/>
            <a:ext cx="3145536" cy="923544"/>
          </a:xfrm>
          <a:prstGeom prst="rect">
            <a:avLst/>
          </a:prstGeom>
          <a:noFill/>
          <a:ln/>
        </p:spPr>
        <p:txBody>
          <a:bodyPr wrap="square" rtlCol="0" anchor="t"/>
          <a:lstStyle/>
          <a:p>
            <a:pPr indent="0" marL="0">
              <a:buNone/>
            </a:pPr>
            <a:r>
              <a:rPr lang="en-US" sz="1000" b="1" dirty="0">
                <a:solidFill>
                  <a:srgbClr val="2E86AB"/>
                </a:solidFill>
                <a:latin typeface="Calibri" pitchFamily="34" charset="0"/>
                <a:ea typeface="Calibri" pitchFamily="34" charset="-122"/>
                <a:cs typeface="Calibri" pitchFamily="34" charset="-120"/>
              </a:rPr>
              <a:t>• </a:t>
            </a:r>
            <a:pPr indent="0" marL="0">
              <a:buNone/>
            </a:pPr>
            <a:r>
              <a:rPr lang="en-US" sz="1000" dirty="0">
                <a:solidFill>
                  <a:srgbClr val="404040"/>
                </a:solidFill>
                <a:latin typeface="Calibri" pitchFamily="34" charset="0"/>
                <a:ea typeface="Calibri" pitchFamily="34" charset="-122"/>
                <a:cs typeface="Calibri" pitchFamily="34" charset="-120"/>
              </a:rPr>
              <a:t>File naming: DuplicateEmailsToDelete_YYYYMMDD.csv — date-stamped for each run.</a:t>
            </a:r>
            <a:endParaRPr lang="en-US" sz="1000" dirty="0"/>
          </a:p>
        </p:txBody>
      </p:sp>
      <p:sp>
        <p:nvSpPr>
          <p:cNvPr id="27" name="Shape 25"/>
          <p:cNvSpPr/>
          <p:nvPr/>
        </p:nvSpPr>
        <p:spPr>
          <a:xfrm>
            <a:off x="4242816" y="3785616"/>
            <a:ext cx="3255264" cy="978408"/>
          </a:xfrm>
          <a:prstGeom prst="rect">
            <a:avLst/>
          </a:prstGeom>
          <a:solidFill>
            <a:srgbClr val="FFFFFF"/>
          </a:solidFill>
          <a:ln w="6350">
            <a:solidFill>
              <a:srgbClr val="D0E4F5"/>
            </a:solidFill>
            <a:prstDash val="solid"/>
          </a:ln>
        </p:spPr>
      </p:sp>
      <p:sp>
        <p:nvSpPr>
          <p:cNvPr id="28" name="Text 26"/>
          <p:cNvSpPr/>
          <p:nvPr/>
        </p:nvSpPr>
        <p:spPr>
          <a:xfrm>
            <a:off x="4297680" y="3813048"/>
            <a:ext cx="3145536" cy="923544"/>
          </a:xfrm>
          <a:prstGeom prst="rect">
            <a:avLst/>
          </a:prstGeom>
          <a:noFill/>
          <a:ln/>
        </p:spPr>
        <p:txBody>
          <a:bodyPr wrap="square" rtlCol="0" anchor="t"/>
          <a:lstStyle/>
          <a:p>
            <a:pPr indent="0" marL="0">
              <a:buNone/>
            </a:pPr>
            <a:r>
              <a:rPr lang="en-US" sz="1000" b="1" dirty="0">
                <a:solidFill>
                  <a:srgbClr val="2E86AB"/>
                </a:solidFill>
                <a:latin typeface="Calibri" pitchFamily="34" charset="0"/>
                <a:ea typeface="Calibri" pitchFamily="34" charset="-122"/>
                <a:cs typeface="Calibri" pitchFamily="34" charset="-120"/>
              </a:rPr>
              <a:t>• </a:t>
            </a:r>
            <a:pPr indent="0" marL="0">
              <a:buNone/>
            </a:pPr>
            <a:r>
              <a:rPr lang="en-US" sz="1000" dirty="0">
                <a:solidFill>
                  <a:srgbClr val="404040"/>
                </a:solidFill>
                <a:latin typeface="Calibri" pitchFamily="34" charset="0"/>
                <a:ea typeface="Calibri" pitchFamily="34" charset="-122"/>
                <a:cs typeface="Calibri" pitchFamily="34" charset="-120"/>
              </a:rPr>
              <a:t>Provides the business with a downloadable, reviewable record of exactly which contacts will be deleted before the irreversible Step 48 executes.</a:t>
            </a:r>
            <a:endParaRPr lang="en-US" sz="1000" dirty="0"/>
          </a:p>
        </p:txBody>
      </p:sp>
      <p:sp>
        <p:nvSpPr>
          <p:cNvPr id="29" name="Shape 27"/>
          <p:cNvSpPr/>
          <p:nvPr/>
        </p:nvSpPr>
        <p:spPr>
          <a:xfrm>
            <a:off x="4242816" y="4837176"/>
            <a:ext cx="3255264" cy="978408"/>
          </a:xfrm>
          <a:prstGeom prst="rect">
            <a:avLst/>
          </a:prstGeom>
          <a:solidFill>
            <a:srgbClr val="FFFFFF"/>
          </a:solidFill>
          <a:ln w="6350">
            <a:solidFill>
              <a:srgbClr val="D0E4F5"/>
            </a:solidFill>
            <a:prstDash val="solid"/>
          </a:ln>
        </p:spPr>
      </p:sp>
      <p:sp>
        <p:nvSpPr>
          <p:cNvPr id="30" name="Text 28"/>
          <p:cNvSpPr/>
          <p:nvPr/>
        </p:nvSpPr>
        <p:spPr>
          <a:xfrm>
            <a:off x="4297680" y="4864608"/>
            <a:ext cx="3145536" cy="923544"/>
          </a:xfrm>
          <a:prstGeom prst="rect">
            <a:avLst/>
          </a:prstGeom>
          <a:noFill/>
          <a:ln/>
        </p:spPr>
        <p:txBody>
          <a:bodyPr wrap="square" rtlCol="0" anchor="t"/>
          <a:lstStyle/>
          <a:p>
            <a:pPr indent="0" marL="0">
              <a:buNone/>
            </a:pPr>
            <a:r>
              <a:rPr lang="en-US" sz="1000" b="1" dirty="0">
                <a:solidFill>
                  <a:srgbClr val="2E86AB"/>
                </a:solidFill>
                <a:latin typeface="Calibri" pitchFamily="34" charset="0"/>
                <a:ea typeface="Calibri" pitchFamily="34" charset="-122"/>
                <a:cs typeface="Calibri" pitchFamily="34" charset="-120"/>
              </a:rPr>
              <a:t>• </a:t>
            </a:r>
            <a:pPr indent="0" marL="0">
              <a:buNone/>
            </a:pPr>
            <a:r>
              <a:rPr lang="en-US" sz="1000" dirty="0">
                <a:solidFill>
                  <a:srgbClr val="404040"/>
                </a:solidFill>
                <a:latin typeface="Calibri" pitchFamily="34" charset="0"/>
                <a:ea typeface="Calibri" pitchFamily="34" charset="-122"/>
                <a:cs typeface="Calibri" pitchFamily="34" charset="-120"/>
              </a:rPr>
              <a:t>Business sign-off on the Summary DE and SFTP export is required before the delete step is activated in Production.</a:t>
            </a:r>
            <a:endParaRPr lang="en-US" sz="1000" dirty="0"/>
          </a:p>
        </p:txBody>
      </p:sp>
      <p:sp>
        <p:nvSpPr>
          <p:cNvPr id="31" name="Shape 29"/>
          <p:cNvSpPr/>
          <p:nvPr/>
        </p:nvSpPr>
        <p:spPr>
          <a:xfrm>
            <a:off x="7946136" y="1143000"/>
            <a:ext cx="3474720" cy="5166360"/>
          </a:xfrm>
          <a:prstGeom prst="rect">
            <a:avLst/>
          </a:prstGeom>
          <a:solidFill>
            <a:srgbClr val="F2F7FC"/>
          </a:solidFill>
          <a:ln w="6350">
            <a:solidFill>
              <a:srgbClr val="D0E4F5"/>
            </a:solidFill>
            <a:prstDash val="solid"/>
          </a:ln>
        </p:spPr>
      </p:sp>
      <p:sp>
        <p:nvSpPr>
          <p:cNvPr id="32" name="Shape 30"/>
          <p:cNvSpPr/>
          <p:nvPr/>
        </p:nvSpPr>
        <p:spPr>
          <a:xfrm>
            <a:off x="7946136" y="1143000"/>
            <a:ext cx="3474720" cy="438912"/>
          </a:xfrm>
          <a:prstGeom prst="rect">
            <a:avLst/>
          </a:prstGeom>
          <a:solidFill>
            <a:srgbClr val="1B7A4E"/>
          </a:solidFill>
          <a:ln/>
        </p:spPr>
      </p:sp>
      <p:sp>
        <p:nvSpPr>
          <p:cNvPr id="33" name="Text 31"/>
          <p:cNvSpPr/>
          <p:nvPr/>
        </p:nvSpPr>
        <p:spPr>
          <a:xfrm>
            <a:off x="8037576" y="1161288"/>
            <a:ext cx="3291840"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Archive &amp; Audit Trail (Step 46)</a:t>
            </a:r>
            <a:endParaRPr lang="en-US" sz="1100" dirty="0"/>
          </a:p>
        </p:txBody>
      </p:sp>
      <p:sp>
        <p:nvSpPr>
          <p:cNvPr id="34" name="Shape 32"/>
          <p:cNvSpPr/>
          <p:nvPr/>
        </p:nvSpPr>
        <p:spPr>
          <a:xfrm>
            <a:off x="8055864" y="1682496"/>
            <a:ext cx="3255264" cy="978408"/>
          </a:xfrm>
          <a:prstGeom prst="rect">
            <a:avLst/>
          </a:prstGeom>
          <a:solidFill>
            <a:srgbClr val="FFFFFF"/>
          </a:solidFill>
          <a:ln w="6350">
            <a:solidFill>
              <a:srgbClr val="D0E4F5"/>
            </a:solidFill>
            <a:prstDash val="solid"/>
          </a:ln>
        </p:spPr>
      </p:sp>
      <p:sp>
        <p:nvSpPr>
          <p:cNvPr id="35" name="Text 33"/>
          <p:cNvSpPr/>
          <p:nvPr/>
        </p:nvSpPr>
        <p:spPr>
          <a:xfrm>
            <a:off x="8110728" y="1709928"/>
            <a:ext cx="3145536" cy="923544"/>
          </a:xfrm>
          <a:prstGeom prst="rect">
            <a:avLst/>
          </a:prstGeom>
          <a:noFill/>
          <a:ln/>
        </p:spPr>
        <p:txBody>
          <a:bodyPr wrap="square" rtlCol="0" anchor="t"/>
          <a:lstStyle/>
          <a:p>
            <a:pPr indent="0" marL="0">
              <a:buNone/>
            </a:pPr>
            <a:r>
              <a:rPr lang="en-US" sz="1000" b="1" dirty="0">
                <a:solidFill>
                  <a:srgbClr val="1B7A4E"/>
                </a:solidFill>
                <a:latin typeface="Calibri" pitchFamily="34" charset="0"/>
                <a:ea typeface="Calibri" pitchFamily="34" charset="-122"/>
                <a:cs typeface="Calibri" pitchFamily="34" charset="-120"/>
              </a:rPr>
              <a:t>• </a:t>
            </a:r>
            <a:pPr indent="0" marL="0">
              <a:buNone/>
            </a:pPr>
            <a:r>
              <a:rPr lang="en-US" sz="1000" dirty="0">
                <a:solidFill>
                  <a:srgbClr val="404040"/>
                </a:solidFill>
                <a:latin typeface="Calibri" pitchFamily="34" charset="0"/>
                <a:ea typeface="Calibri" pitchFamily="34" charset="-122"/>
                <a:cs typeface="Calibri" pitchFamily="34" charset="-120"/>
              </a:rPr>
              <a:t>ContactDeleteArchive_PreviouslyDeleted is an append-only DE — it is never cleared.</a:t>
            </a:r>
            <a:endParaRPr lang="en-US" sz="1000" dirty="0"/>
          </a:p>
        </p:txBody>
      </p:sp>
      <p:sp>
        <p:nvSpPr>
          <p:cNvPr id="36" name="Shape 34"/>
          <p:cNvSpPr/>
          <p:nvPr/>
        </p:nvSpPr>
        <p:spPr>
          <a:xfrm>
            <a:off x="8055864" y="2734056"/>
            <a:ext cx="3255264" cy="978408"/>
          </a:xfrm>
          <a:prstGeom prst="rect">
            <a:avLst/>
          </a:prstGeom>
          <a:solidFill>
            <a:srgbClr val="FFFFFF"/>
          </a:solidFill>
          <a:ln w="6350">
            <a:solidFill>
              <a:srgbClr val="D0E4F5"/>
            </a:solidFill>
            <a:prstDash val="solid"/>
          </a:ln>
        </p:spPr>
      </p:sp>
      <p:sp>
        <p:nvSpPr>
          <p:cNvPr id="37" name="Text 35"/>
          <p:cNvSpPr/>
          <p:nvPr/>
        </p:nvSpPr>
        <p:spPr>
          <a:xfrm>
            <a:off x="8110728" y="2761488"/>
            <a:ext cx="3145536" cy="923544"/>
          </a:xfrm>
          <a:prstGeom prst="rect">
            <a:avLst/>
          </a:prstGeom>
          <a:noFill/>
          <a:ln/>
        </p:spPr>
        <p:txBody>
          <a:bodyPr wrap="square" rtlCol="0" anchor="t"/>
          <a:lstStyle/>
          <a:p>
            <a:pPr indent="0" marL="0">
              <a:buNone/>
            </a:pPr>
            <a:r>
              <a:rPr lang="en-US" sz="1000" b="1" dirty="0">
                <a:solidFill>
                  <a:srgbClr val="1B7A4E"/>
                </a:solidFill>
                <a:latin typeface="Calibri" pitchFamily="34" charset="0"/>
                <a:ea typeface="Calibri" pitchFamily="34" charset="-122"/>
                <a:cs typeface="Calibri" pitchFamily="34" charset="-120"/>
              </a:rPr>
              <a:t>• </a:t>
            </a:r>
            <a:pPr indent="0" marL="0">
              <a:buNone/>
            </a:pPr>
            <a:r>
              <a:rPr lang="en-US" sz="1000" dirty="0">
                <a:solidFill>
                  <a:srgbClr val="404040"/>
                </a:solidFill>
                <a:latin typeface="Calibri" pitchFamily="34" charset="0"/>
                <a:ea typeface="Calibri" pitchFamily="34" charset="-122"/>
                <a:cs typeface="Calibri" pitchFamily="34" charset="-120"/>
              </a:rPr>
              <a:t>Every contact scheduled for deletion is appended to this DE with ContactKey, EmailAddress, Status, DeleteReason (Origin), and DeleteDate before Step 48 runs.</a:t>
            </a:r>
            <a:endParaRPr lang="en-US" sz="1000" dirty="0"/>
          </a:p>
        </p:txBody>
      </p:sp>
      <p:sp>
        <p:nvSpPr>
          <p:cNvPr id="38" name="Shape 36"/>
          <p:cNvSpPr/>
          <p:nvPr/>
        </p:nvSpPr>
        <p:spPr>
          <a:xfrm>
            <a:off x="8055864" y="3785616"/>
            <a:ext cx="3255264" cy="978408"/>
          </a:xfrm>
          <a:prstGeom prst="rect">
            <a:avLst/>
          </a:prstGeom>
          <a:solidFill>
            <a:srgbClr val="FFFFFF"/>
          </a:solidFill>
          <a:ln w="6350">
            <a:solidFill>
              <a:srgbClr val="D0E4F5"/>
            </a:solidFill>
            <a:prstDash val="solid"/>
          </a:ln>
        </p:spPr>
      </p:sp>
      <p:sp>
        <p:nvSpPr>
          <p:cNvPr id="39" name="Text 37"/>
          <p:cNvSpPr/>
          <p:nvPr/>
        </p:nvSpPr>
        <p:spPr>
          <a:xfrm>
            <a:off x="8110728" y="3813048"/>
            <a:ext cx="3145536" cy="923544"/>
          </a:xfrm>
          <a:prstGeom prst="rect">
            <a:avLst/>
          </a:prstGeom>
          <a:noFill/>
          <a:ln/>
        </p:spPr>
        <p:txBody>
          <a:bodyPr wrap="square" rtlCol="0" anchor="t"/>
          <a:lstStyle/>
          <a:p>
            <a:pPr indent="0" marL="0">
              <a:buNone/>
            </a:pPr>
            <a:r>
              <a:rPr lang="en-US" sz="1000" b="1" dirty="0">
                <a:solidFill>
                  <a:srgbClr val="1B7A4E"/>
                </a:solidFill>
                <a:latin typeface="Calibri" pitchFamily="34" charset="0"/>
                <a:ea typeface="Calibri" pitchFamily="34" charset="-122"/>
                <a:cs typeface="Calibri" pitchFamily="34" charset="-120"/>
              </a:rPr>
              <a:t>• </a:t>
            </a:r>
            <a:pPr indent="0" marL="0">
              <a:buNone/>
            </a:pPr>
            <a:r>
              <a:rPr lang="en-US" sz="1000" dirty="0">
                <a:solidFill>
                  <a:srgbClr val="404040"/>
                </a:solidFill>
                <a:latin typeface="Calibri" pitchFamily="34" charset="0"/>
                <a:ea typeface="Calibri" pitchFamily="34" charset="-122"/>
                <a:cs typeface="Calibri" pitchFamily="34" charset="-120"/>
              </a:rPr>
              <a:t>Provides a permanent, timestamped record of every contact deleted across all weekly runs.</a:t>
            </a:r>
            <a:endParaRPr lang="en-US" sz="1000" dirty="0"/>
          </a:p>
        </p:txBody>
      </p:sp>
      <p:sp>
        <p:nvSpPr>
          <p:cNvPr id="40" name="Shape 38"/>
          <p:cNvSpPr/>
          <p:nvPr/>
        </p:nvSpPr>
        <p:spPr>
          <a:xfrm>
            <a:off x="8055864" y="4837176"/>
            <a:ext cx="3255264" cy="978408"/>
          </a:xfrm>
          <a:prstGeom prst="rect">
            <a:avLst/>
          </a:prstGeom>
          <a:solidFill>
            <a:srgbClr val="FFFFFF"/>
          </a:solidFill>
          <a:ln w="6350">
            <a:solidFill>
              <a:srgbClr val="D0E4F5"/>
            </a:solidFill>
            <a:prstDash val="solid"/>
          </a:ln>
        </p:spPr>
      </p:sp>
      <p:sp>
        <p:nvSpPr>
          <p:cNvPr id="41" name="Text 39"/>
          <p:cNvSpPr/>
          <p:nvPr/>
        </p:nvSpPr>
        <p:spPr>
          <a:xfrm>
            <a:off x="8110728" y="4864608"/>
            <a:ext cx="3145536" cy="923544"/>
          </a:xfrm>
          <a:prstGeom prst="rect">
            <a:avLst/>
          </a:prstGeom>
          <a:noFill/>
          <a:ln/>
        </p:spPr>
        <p:txBody>
          <a:bodyPr wrap="square" rtlCol="0" anchor="t"/>
          <a:lstStyle/>
          <a:p>
            <a:pPr indent="0" marL="0">
              <a:buNone/>
            </a:pPr>
            <a:r>
              <a:rPr lang="en-US" sz="1000" b="1" dirty="0">
                <a:solidFill>
                  <a:srgbClr val="1B7A4E"/>
                </a:solidFill>
                <a:latin typeface="Calibri" pitchFamily="34" charset="0"/>
                <a:ea typeface="Calibri" pitchFamily="34" charset="-122"/>
                <a:cs typeface="Calibri" pitchFamily="34" charset="-120"/>
              </a:rPr>
              <a:t>• </a:t>
            </a:r>
            <a:pPr indent="0" marL="0">
              <a:buNone/>
            </a:pPr>
            <a:r>
              <a:rPr lang="en-US" sz="1000" dirty="0">
                <a:solidFill>
                  <a:srgbClr val="404040"/>
                </a:solidFill>
                <a:latin typeface="Calibri" pitchFamily="34" charset="0"/>
                <a:ea typeface="Calibri" pitchFamily="34" charset="-122"/>
                <a:cs typeface="Calibri" pitchFamily="34" charset="-120"/>
              </a:rPr>
              <a:t>Used to identify contacts being repeatedly recreated by MC Connect sync — a known platform behaviour where deleted contacts are re-introduced when the Salesforce source record still meets sync criteria.</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1F4E79"/>
          </a:solidFill>
          <a:ln/>
        </p:spPr>
      </p:sp>
      <p:sp>
        <p:nvSpPr>
          <p:cNvPr id="3" name="Shape 1"/>
          <p:cNvSpPr/>
          <p:nvPr/>
        </p:nvSpPr>
        <p:spPr>
          <a:xfrm>
            <a:off x="0" y="1005840"/>
            <a:ext cx="12188952" cy="54864"/>
          </a:xfrm>
          <a:prstGeom prst="rect">
            <a:avLst/>
          </a:prstGeom>
          <a:solidFill>
            <a:srgbClr val="2E75B6"/>
          </a:solidFill>
          <a:ln/>
        </p:spPr>
      </p:sp>
      <p:sp>
        <p:nvSpPr>
          <p:cNvPr id="4" name="Text 2"/>
          <p:cNvSpPr/>
          <p:nvPr/>
        </p:nvSpPr>
        <p:spPr>
          <a:xfrm>
            <a:off x="320040" y="137160"/>
            <a:ext cx="1152144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Scheduling and Known Platform Behaviours</a:t>
            </a:r>
            <a:endParaRPr lang="en-US" sz="2200" dirty="0"/>
          </a:p>
        </p:txBody>
      </p:sp>
      <p:sp>
        <p:nvSpPr>
          <p:cNvPr id="5" name="Text 3"/>
          <p:cNvSpPr/>
          <p:nvPr/>
        </p:nvSpPr>
        <p:spPr>
          <a:xfrm>
            <a:off x="320040" y="621792"/>
            <a:ext cx="11521440" cy="320040"/>
          </a:xfrm>
          <a:prstGeom prst="rect">
            <a:avLst/>
          </a:prstGeom>
          <a:noFill/>
          <a:ln/>
        </p:spPr>
        <p:txBody>
          <a:bodyPr wrap="square" rtlCol="0" anchor="ctr"/>
          <a:lstStyle/>
          <a:p>
            <a:pPr indent="0" marL="0">
              <a:buNone/>
            </a:pPr>
            <a:r>
              <a:rPr lang="en-US" sz="1200" dirty="0">
                <a:solidFill>
                  <a:srgbClr val="BDD7EE"/>
                </a:solidFill>
                <a:latin typeface="Calibri" pitchFamily="34" charset="0"/>
                <a:ea typeface="Calibri" pitchFamily="34" charset="-122"/>
                <a:cs typeface="Calibri" pitchFamily="34" charset="-120"/>
              </a:rPr>
              <a:t>Automation schedule is designed around upstream dependency completion times and confirmed with Salesforce Support</a:t>
            </a:r>
            <a:endParaRPr lang="en-US" sz="1200" dirty="0"/>
          </a:p>
        </p:txBody>
      </p:sp>
      <p:sp>
        <p:nvSpPr>
          <p:cNvPr id="6" name="Shape 4"/>
          <p:cNvSpPr/>
          <p:nvPr/>
        </p:nvSpPr>
        <p:spPr>
          <a:xfrm>
            <a:off x="0" y="6556248"/>
            <a:ext cx="12188952" cy="301752"/>
          </a:xfrm>
          <a:prstGeom prst="rect">
            <a:avLst/>
          </a:prstGeom>
          <a:solidFill>
            <a:srgbClr val="F2F2F2"/>
          </a:solidFill>
          <a:ln/>
        </p:spPr>
      </p:sp>
      <p:sp>
        <p:nvSpPr>
          <p:cNvPr id="7" name="Text 5"/>
          <p:cNvSpPr/>
          <p:nvPr/>
        </p:nvSpPr>
        <p:spPr>
          <a:xfrm>
            <a:off x="182880" y="6574536"/>
            <a:ext cx="3657600" cy="228600"/>
          </a:xfrm>
          <a:prstGeom prst="rect">
            <a:avLst/>
          </a:prstGeom>
          <a:noFill/>
          <a:ln/>
        </p:spPr>
        <p:txBody>
          <a:bodyPr wrap="square" rtlCol="0" anchor="ctr"/>
          <a:lstStyle/>
          <a:p>
            <a:pPr indent="0" marL="0">
              <a:buNone/>
            </a:pPr>
            <a:r>
              <a:rPr lang="en-US" sz="800" b="1" dirty="0">
                <a:solidFill>
                  <a:srgbClr val="2E75B6"/>
                </a:solidFill>
                <a:latin typeface="Calibri" pitchFamily="34" charset="0"/>
                <a:ea typeface="Calibri" pitchFamily="34" charset="-122"/>
                <a:cs typeface="Calibri" pitchFamily="34" charset="-120"/>
              </a:rPr>
              <a:t>#DigitalExcellence</a:t>
            </a:r>
            <a:endParaRPr lang="en-US" sz="800" dirty="0"/>
          </a:p>
        </p:txBody>
      </p:sp>
      <p:sp>
        <p:nvSpPr>
          <p:cNvPr id="8" name="Text 6"/>
          <p:cNvSpPr/>
          <p:nvPr/>
        </p:nvSpPr>
        <p:spPr>
          <a:xfrm>
            <a:off x="3840480" y="6574536"/>
            <a:ext cx="8229600" cy="228600"/>
          </a:xfrm>
          <a:prstGeom prst="rect">
            <a:avLst/>
          </a:prstGeom>
          <a:noFill/>
          <a:ln/>
        </p:spPr>
        <p:txBody>
          <a:bodyPr wrap="square" rtlCol="0" anchor="ctr"/>
          <a:lstStyle/>
          <a:p>
            <a:pPr algn="r" indent="0" marL="0">
              <a:buNone/>
            </a:pPr>
            <a:r>
              <a:rPr lang="en-US" sz="800" dirty="0">
                <a:solidFill>
                  <a:srgbClr val="666666"/>
                </a:solidFill>
                <a:latin typeface="Calibri" pitchFamily="34" charset="0"/>
                <a:ea typeface="Calibri" pitchFamily="34" charset="-122"/>
                <a:cs typeface="Calibri" pitchFamily="34" charset="-120"/>
              </a:rPr>
              <a:t>Contact Deletion  |  KPMG Marketing Cloud Engage  |  Himanshu Gupta</a:t>
            </a:r>
            <a:endParaRPr lang="en-US" sz="800" dirty="0"/>
          </a:p>
        </p:txBody>
      </p:sp>
      <p:sp>
        <p:nvSpPr>
          <p:cNvPr id="9" name="Text 7"/>
          <p:cNvSpPr/>
          <p:nvPr/>
        </p:nvSpPr>
        <p:spPr>
          <a:xfrm>
            <a:off x="320040" y="1115568"/>
            <a:ext cx="11521440" cy="347472"/>
          </a:xfrm>
          <a:prstGeom prst="rect">
            <a:avLst/>
          </a:prstGeom>
          <a:noFill/>
          <a:ln/>
        </p:spPr>
        <p:txBody>
          <a:bodyPr wrap="square" rtlCol="0" anchor="ctr"/>
          <a:lstStyle/>
          <a:p>
            <a:pPr indent="0" marL="0">
              <a:buNone/>
            </a:pPr>
            <a:r>
              <a:rPr lang="en-US" sz="1300" b="1" dirty="0">
                <a:solidFill>
                  <a:srgbClr val="1F4E79"/>
                </a:solidFill>
                <a:latin typeface="Calibri" pitchFamily="34" charset="0"/>
                <a:ea typeface="Calibri" pitchFamily="34" charset="-122"/>
                <a:cs typeface="Calibri" pitchFamily="34" charset="-120"/>
              </a:rPr>
              <a:t>Automation Schedule — Sunday Night</a:t>
            </a:r>
            <a:endParaRPr lang="en-US" sz="1300" dirty="0"/>
          </a:p>
        </p:txBody>
      </p:sp>
      <p:sp>
        <p:nvSpPr>
          <p:cNvPr id="10" name="Shape 8"/>
          <p:cNvSpPr/>
          <p:nvPr/>
        </p:nvSpPr>
        <p:spPr>
          <a:xfrm>
            <a:off x="320040" y="1600200"/>
            <a:ext cx="1371600" cy="457200"/>
          </a:xfrm>
          <a:prstGeom prst="rect">
            <a:avLst/>
          </a:prstGeom>
          <a:solidFill>
            <a:srgbClr val="C55A11"/>
          </a:solidFill>
          <a:ln/>
        </p:spPr>
      </p:sp>
      <p:sp>
        <p:nvSpPr>
          <p:cNvPr id="11" name="Text 9"/>
          <p:cNvSpPr/>
          <p:nvPr/>
        </p:nvSpPr>
        <p:spPr>
          <a:xfrm>
            <a:off x="320040" y="1600200"/>
            <a:ext cx="137160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12:11 AM</a:t>
            </a:r>
            <a:endParaRPr lang="en-US" sz="1100" dirty="0"/>
          </a:p>
        </p:txBody>
      </p:sp>
      <p:sp>
        <p:nvSpPr>
          <p:cNvPr id="12" name="Text 10"/>
          <p:cNvSpPr/>
          <p:nvPr/>
        </p:nvSpPr>
        <p:spPr>
          <a:xfrm>
            <a:off x="1828800" y="1645920"/>
            <a:ext cx="4114800" cy="256032"/>
          </a:xfrm>
          <a:prstGeom prst="rect">
            <a:avLst/>
          </a:prstGeom>
          <a:noFill/>
          <a:ln/>
        </p:spPr>
        <p:txBody>
          <a:bodyPr wrap="square" rtlCol="0" anchor="ctr"/>
          <a:lstStyle/>
          <a:p>
            <a:pPr indent="0" marL="0">
              <a:buNone/>
            </a:pPr>
            <a:r>
              <a:rPr lang="en-US" sz="1100" dirty="0">
                <a:solidFill>
                  <a:srgbClr val="404040"/>
                </a:solidFill>
                <a:latin typeface="Calibri" pitchFamily="34" charset="0"/>
                <a:ea typeface="Calibri" pitchFamily="34" charset="-122"/>
                <a:cs typeface="Calibri" pitchFamily="34" charset="-120"/>
              </a:rPr>
              <a:t>Hard Bounce starts</a:t>
            </a:r>
            <a:endParaRPr lang="en-US" sz="1100" dirty="0"/>
          </a:p>
        </p:txBody>
      </p:sp>
      <p:sp>
        <p:nvSpPr>
          <p:cNvPr id="13" name="Text 11"/>
          <p:cNvSpPr/>
          <p:nvPr/>
        </p:nvSpPr>
        <p:spPr>
          <a:xfrm>
            <a:off x="1828800" y="1856232"/>
            <a:ext cx="4114800" cy="182880"/>
          </a:xfrm>
          <a:prstGeom prst="rect">
            <a:avLst/>
          </a:prstGeom>
          <a:noFill/>
          <a:ln/>
        </p:spPr>
        <p:txBody>
          <a:bodyPr wrap="square" rtlCol="0" anchor="ctr"/>
          <a:lstStyle/>
          <a:p>
            <a:pPr indent="0" marL="0">
              <a:buNone/>
            </a:pPr>
            <a:r>
              <a:rPr lang="en-US" sz="900" i="1" dirty="0">
                <a:solidFill>
                  <a:srgbClr val="666666"/>
                </a:solidFill>
                <a:latin typeface="Calibri" pitchFamily="34" charset="0"/>
                <a:ea typeface="Calibri" pitchFamily="34" charset="-122"/>
                <a:cs typeface="Calibri" pitchFamily="34" charset="-120"/>
              </a:rPr>
              <a:t>Every 2 hours  |  Avg runtime 30 min</a:t>
            </a:r>
            <a:endParaRPr lang="en-US" sz="900" dirty="0"/>
          </a:p>
        </p:txBody>
      </p:sp>
      <p:sp>
        <p:nvSpPr>
          <p:cNvPr id="14" name="Shape 12"/>
          <p:cNvSpPr/>
          <p:nvPr/>
        </p:nvSpPr>
        <p:spPr>
          <a:xfrm>
            <a:off x="914400" y="2057400"/>
            <a:ext cx="54864" cy="109728"/>
          </a:xfrm>
          <a:prstGeom prst="rect">
            <a:avLst/>
          </a:prstGeom>
          <a:solidFill>
            <a:srgbClr val="CCCCCC"/>
          </a:solidFill>
          <a:ln/>
        </p:spPr>
      </p:sp>
      <p:sp>
        <p:nvSpPr>
          <p:cNvPr id="15" name="Shape 13"/>
          <p:cNvSpPr/>
          <p:nvPr/>
        </p:nvSpPr>
        <p:spPr>
          <a:xfrm>
            <a:off x="320040" y="2167128"/>
            <a:ext cx="1371600" cy="457200"/>
          </a:xfrm>
          <a:prstGeom prst="rect">
            <a:avLst/>
          </a:prstGeom>
          <a:solidFill>
            <a:srgbClr val="E8A87C"/>
          </a:solidFill>
          <a:ln/>
        </p:spPr>
      </p:sp>
      <p:sp>
        <p:nvSpPr>
          <p:cNvPr id="16" name="Text 14"/>
          <p:cNvSpPr/>
          <p:nvPr/>
        </p:nvSpPr>
        <p:spPr>
          <a:xfrm>
            <a:off x="320040" y="2167128"/>
            <a:ext cx="137160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12:41 AM</a:t>
            </a:r>
            <a:endParaRPr lang="en-US" sz="1100" dirty="0"/>
          </a:p>
        </p:txBody>
      </p:sp>
      <p:sp>
        <p:nvSpPr>
          <p:cNvPr id="17" name="Text 15"/>
          <p:cNvSpPr/>
          <p:nvPr/>
        </p:nvSpPr>
        <p:spPr>
          <a:xfrm>
            <a:off x="1828800" y="2212848"/>
            <a:ext cx="4114800" cy="256032"/>
          </a:xfrm>
          <a:prstGeom prst="rect">
            <a:avLst/>
          </a:prstGeom>
          <a:noFill/>
          <a:ln/>
        </p:spPr>
        <p:txBody>
          <a:bodyPr wrap="square" rtlCol="0" anchor="ctr"/>
          <a:lstStyle/>
          <a:p>
            <a:pPr indent="0" marL="0">
              <a:buNone/>
            </a:pPr>
            <a:r>
              <a:rPr lang="en-US" sz="1100" dirty="0">
                <a:solidFill>
                  <a:srgbClr val="404040"/>
                </a:solidFill>
                <a:latin typeface="Calibri" pitchFamily="34" charset="0"/>
                <a:ea typeface="Calibri" pitchFamily="34" charset="-122"/>
                <a:cs typeface="Calibri" pitchFamily="34" charset="-120"/>
              </a:rPr>
              <a:t>Hard Bounce completes</a:t>
            </a:r>
            <a:endParaRPr lang="en-US" sz="1100" dirty="0"/>
          </a:p>
        </p:txBody>
      </p:sp>
      <p:sp>
        <p:nvSpPr>
          <p:cNvPr id="18" name="Shape 16"/>
          <p:cNvSpPr/>
          <p:nvPr/>
        </p:nvSpPr>
        <p:spPr>
          <a:xfrm>
            <a:off x="914400" y="2624328"/>
            <a:ext cx="54864" cy="109728"/>
          </a:xfrm>
          <a:prstGeom prst="rect">
            <a:avLst/>
          </a:prstGeom>
          <a:solidFill>
            <a:srgbClr val="CCCCCC"/>
          </a:solidFill>
          <a:ln/>
        </p:spPr>
      </p:sp>
      <p:sp>
        <p:nvSpPr>
          <p:cNvPr id="19" name="Shape 17"/>
          <p:cNvSpPr/>
          <p:nvPr/>
        </p:nvSpPr>
        <p:spPr>
          <a:xfrm>
            <a:off x="320040" y="2734056"/>
            <a:ext cx="1371600" cy="457200"/>
          </a:xfrm>
          <a:prstGeom prst="rect">
            <a:avLst/>
          </a:prstGeom>
          <a:solidFill>
            <a:srgbClr val="2E75B6"/>
          </a:solidFill>
          <a:ln/>
        </p:spPr>
      </p:sp>
      <p:sp>
        <p:nvSpPr>
          <p:cNvPr id="20" name="Text 18"/>
          <p:cNvSpPr/>
          <p:nvPr/>
        </p:nvSpPr>
        <p:spPr>
          <a:xfrm>
            <a:off x="320040" y="2734056"/>
            <a:ext cx="137160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1:07 AM</a:t>
            </a:r>
            <a:endParaRPr lang="en-US" sz="1100" dirty="0"/>
          </a:p>
        </p:txBody>
      </p:sp>
      <p:sp>
        <p:nvSpPr>
          <p:cNvPr id="21" name="Text 19"/>
          <p:cNvSpPr/>
          <p:nvPr/>
        </p:nvSpPr>
        <p:spPr>
          <a:xfrm>
            <a:off x="1828800" y="2779776"/>
            <a:ext cx="4114800" cy="256032"/>
          </a:xfrm>
          <a:prstGeom prst="rect">
            <a:avLst/>
          </a:prstGeom>
          <a:noFill/>
          <a:ln/>
        </p:spPr>
        <p:txBody>
          <a:bodyPr wrap="square" rtlCol="0" anchor="ctr"/>
          <a:lstStyle/>
          <a:p>
            <a:pPr indent="0" marL="0">
              <a:buNone/>
            </a:pPr>
            <a:r>
              <a:rPr lang="en-US" sz="1100" dirty="0">
                <a:solidFill>
                  <a:srgbClr val="404040"/>
                </a:solidFill>
                <a:latin typeface="Calibri" pitchFamily="34" charset="0"/>
                <a:ea typeface="Calibri" pitchFamily="34" charset="-122"/>
                <a:cs typeface="Calibri" pitchFamily="34" charset="-120"/>
              </a:rPr>
              <a:t>Consent Update starts</a:t>
            </a:r>
            <a:endParaRPr lang="en-US" sz="1100" dirty="0"/>
          </a:p>
        </p:txBody>
      </p:sp>
      <p:sp>
        <p:nvSpPr>
          <p:cNvPr id="22" name="Text 20"/>
          <p:cNvSpPr/>
          <p:nvPr/>
        </p:nvSpPr>
        <p:spPr>
          <a:xfrm>
            <a:off x="1828800" y="2990088"/>
            <a:ext cx="4114800" cy="182880"/>
          </a:xfrm>
          <a:prstGeom prst="rect">
            <a:avLst/>
          </a:prstGeom>
          <a:noFill/>
          <a:ln/>
        </p:spPr>
        <p:txBody>
          <a:bodyPr wrap="square" rtlCol="0" anchor="ctr"/>
          <a:lstStyle/>
          <a:p>
            <a:pPr indent="0" marL="0">
              <a:buNone/>
            </a:pPr>
            <a:r>
              <a:rPr lang="en-US" sz="900" i="1" dirty="0">
                <a:solidFill>
                  <a:srgbClr val="666666"/>
                </a:solidFill>
                <a:latin typeface="Calibri" pitchFamily="34" charset="0"/>
                <a:ea typeface="Calibri" pitchFamily="34" charset="-122"/>
                <a:cs typeface="Calibri" pitchFamily="34" charset="-120"/>
              </a:rPr>
              <a:t>Every 6 hours  |  Avg runtime 1 hr 5 min</a:t>
            </a:r>
            <a:endParaRPr lang="en-US" sz="900" dirty="0"/>
          </a:p>
        </p:txBody>
      </p:sp>
      <p:sp>
        <p:nvSpPr>
          <p:cNvPr id="23" name="Shape 21"/>
          <p:cNvSpPr/>
          <p:nvPr/>
        </p:nvSpPr>
        <p:spPr>
          <a:xfrm>
            <a:off x="914400" y="3191256"/>
            <a:ext cx="54864" cy="109728"/>
          </a:xfrm>
          <a:prstGeom prst="rect">
            <a:avLst/>
          </a:prstGeom>
          <a:solidFill>
            <a:srgbClr val="CCCCCC"/>
          </a:solidFill>
          <a:ln/>
        </p:spPr>
      </p:sp>
      <p:sp>
        <p:nvSpPr>
          <p:cNvPr id="24" name="Shape 22"/>
          <p:cNvSpPr/>
          <p:nvPr/>
        </p:nvSpPr>
        <p:spPr>
          <a:xfrm>
            <a:off x="320040" y="3300984"/>
            <a:ext cx="1371600" cy="457200"/>
          </a:xfrm>
          <a:prstGeom prst="rect">
            <a:avLst/>
          </a:prstGeom>
          <a:solidFill>
            <a:srgbClr val="C55A11"/>
          </a:solidFill>
          <a:ln/>
        </p:spPr>
      </p:sp>
      <p:sp>
        <p:nvSpPr>
          <p:cNvPr id="25" name="Text 23"/>
          <p:cNvSpPr/>
          <p:nvPr/>
        </p:nvSpPr>
        <p:spPr>
          <a:xfrm>
            <a:off x="320040" y="3300984"/>
            <a:ext cx="137160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2:11 AM</a:t>
            </a:r>
            <a:endParaRPr lang="en-US" sz="1100" dirty="0"/>
          </a:p>
        </p:txBody>
      </p:sp>
      <p:sp>
        <p:nvSpPr>
          <p:cNvPr id="26" name="Text 24"/>
          <p:cNvSpPr/>
          <p:nvPr/>
        </p:nvSpPr>
        <p:spPr>
          <a:xfrm>
            <a:off x="1828800" y="3346704"/>
            <a:ext cx="4114800" cy="256032"/>
          </a:xfrm>
          <a:prstGeom prst="rect">
            <a:avLst/>
          </a:prstGeom>
          <a:noFill/>
          <a:ln/>
        </p:spPr>
        <p:txBody>
          <a:bodyPr wrap="square" rtlCol="0" anchor="ctr"/>
          <a:lstStyle/>
          <a:p>
            <a:pPr indent="0" marL="0">
              <a:buNone/>
            </a:pPr>
            <a:r>
              <a:rPr lang="en-US" sz="1100" dirty="0">
                <a:solidFill>
                  <a:srgbClr val="404040"/>
                </a:solidFill>
                <a:latin typeface="Calibri" pitchFamily="34" charset="0"/>
                <a:ea typeface="Calibri" pitchFamily="34" charset="-122"/>
                <a:cs typeface="Calibri" pitchFamily="34" charset="-120"/>
              </a:rPr>
              <a:t>Hard Bounce starts again</a:t>
            </a:r>
            <a:endParaRPr lang="en-US" sz="1100" dirty="0"/>
          </a:p>
        </p:txBody>
      </p:sp>
      <p:sp>
        <p:nvSpPr>
          <p:cNvPr id="27" name="Text 25"/>
          <p:cNvSpPr/>
          <p:nvPr/>
        </p:nvSpPr>
        <p:spPr>
          <a:xfrm>
            <a:off x="1828800" y="3557016"/>
            <a:ext cx="4114800" cy="182880"/>
          </a:xfrm>
          <a:prstGeom prst="rect">
            <a:avLst/>
          </a:prstGeom>
          <a:noFill/>
          <a:ln/>
        </p:spPr>
        <p:txBody>
          <a:bodyPr wrap="square" rtlCol="0" anchor="ctr"/>
          <a:lstStyle/>
          <a:p>
            <a:pPr indent="0" marL="0">
              <a:buNone/>
            </a:pPr>
            <a:r>
              <a:rPr lang="en-US" sz="900" i="1" dirty="0">
                <a:solidFill>
                  <a:srgbClr val="666666"/>
                </a:solidFill>
                <a:latin typeface="Calibri" pitchFamily="34" charset="0"/>
                <a:ea typeface="Calibri" pitchFamily="34" charset="-122"/>
                <a:cs typeface="Calibri" pitchFamily="34" charset="-120"/>
              </a:rPr>
              <a:t>2:41 AM — completes</a:t>
            </a:r>
            <a:endParaRPr lang="en-US" sz="900" dirty="0"/>
          </a:p>
        </p:txBody>
      </p:sp>
      <p:sp>
        <p:nvSpPr>
          <p:cNvPr id="28" name="Shape 26"/>
          <p:cNvSpPr/>
          <p:nvPr/>
        </p:nvSpPr>
        <p:spPr>
          <a:xfrm>
            <a:off x="914400" y="3758184"/>
            <a:ext cx="54864" cy="109728"/>
          </a:xfrm>
          <a:prstGeom prst="rect">
            <a:avLst/>
          </a:prstGeom>
          <a:solidFill>
            <a:srgbClr val="CCCCCC"/>
          </a:solidFill>
          <a:ln/>
        </p:spPr>
      </p:sp>
      <p:sp>
        <p:nvSpPr>
          <p:cNvPr id="29" name="Shape 27"/>
          <p:cNvSpPr/>
          <p:nvPr/>
        </p:nvSpPr>
        <p:spPr>
          <a:xfrm>
            <a:off x="320040" y="3867912"/>
            <a:ext cx="1371600" cy="457200"/>
          </a:xfrm>
          <a:prstGeom prst="rect">
            <a:avLst/>
          </a:prstGeom>
          <a:solidFill>
            <a:srgbClr val="7FB3D3"/>
          </a:solidFill>
          <a:ln/>
        </p:spPr>
      </p:sp>
      <p:sp>
        <p:nvSpPr>
          <p:cNvPr id="30" name="Text 28"/>
          <p:cNvSpPr/>
          <p:nvPr/>
        </p:nvSpPr>
        <p:spPr>
          <a:xfrm>
            <a:off x="320040" y="3867912"/>
            <a:ext cx="137160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2:12 AM</a:t>
            </a:r>
            <a:endParaRPr lang="en-US" sz="1100" dirty="0"/>
          </a:p>
        </p:txBody>
      </p:sp>
      <p:sp>
        <p:nvSpPr>
          <p:cNvPr id="31" name="Text 29"/>
          <p:cNvSpPr/>
          <p:nvPr/>
        </p:nvSpPr>
        <p:spPr>
          <a:xfrm>
            <a:off x="1828800" y="3913632"/>
            <a:ext cx="4114800" cy="256032"/>
          </a:xfrm>
          <a:prstGeom prst="rect">
            <a:avLst/>
          </a:prstGeom>
          <a:noFill/>
          <a:ln/>
        </p:spPr>
        <p:txBody>
          <a:bodyPr wrap="square" rtlCol="0" anchor="ctr"/>
          <a:lstStyle/>
          <a:p>
            <a:pPr indent="0" marL="0">
              <a:buNone/>
            </a:pPr>
            <a:r>
              <a:rPr lang="en-US" sz="1100" dirty="0">
                <a:solidFill>
                  <a:srgbClr val="404040"/>
                </a:solidFill>
                <a:latin typeface="Calibri" pitchFamily="34" charset="0"/>
                <a:ea typeface="Calibri" pitchFamily="34" charset="-122"/>
                <a:cs typeface="Calibri" pitchFamily="34" charset="-120"/>
              </a:rPr>
              <a:t>Consent Update completes</a:t>
            </a:r>
            <a:endParaRPr lang="en-US" sz="1100" dirty="0"/>
          </a:p>
        </p:txBody>
      </p:sp>
      <p:sp>
        <p:nvSpPr>
          <p:cNvPr id="32" name="Shape 30"/>
          <p:cNvSpPr/>
          <p:nvPr/>
        </p:nvSpPr>
        <p:spPr>
          <a:xfrm>
            <a:off x="914400" y="4325112"/>
            <a:ext cx="54864" cy="109728"/>
          </a:xfrm>
          <a:prstGeom prst="rect">
            <a:avLst/>
          </a:prstGeom>
          <a:solidFill>
            <a:srgbClr val="CCCCCC"/>
          </a:solidFill>
          <a:ln/>
        </p:spPr>
      </p:sp>
      <p:sp>
        <p:nvSpPr>
          <p:cNvPr id="33" name="Shape 31"/>
          <p:cNvSpPr/>
          <p:nvPr/>
        </p:nvSpPr>
        <p:spPr>
          <a:xfrm>
            <a:off x="320040" y="4434840"/>
            <a:ext cx="1371600" cy="457200"/>
          </a:xfrm>
          <a:prstGeom prst="rect">
            <a:avLst/>
          </a:prstGeom>
          <a:solidFill>
            <a:srgbClr val="E8A87C"/>
          </a:solidFill>
          <a:ln/>
        </p:spPr>
      </p:sp>
      <p:sp>
        <p:nvSpPr>
          <p:cNvPr id="34" name="Text 32"/>
          <p:cNvSpPr/>
          <p:nvPr/>
        </p:nvSpPr>
        <p:spPr>
          <a:xfrm>
            <a:off x="320040" y="4434840"/>
            <a:ext cx="137160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2:41 AM</a:t>
            </a:r>
            <a:endParaRPr lang="en-US" sz="1100" dirty="0"/>
          </a:p>
        </p:txBody>
      </p:sp>
      <p:sp>
        <p:nvSpPr>
          <p:cNvPr id="35" name="Text 33"/>
          <p:cNvSpPr/>
          <p:nvPr/>
        </p:nvSpPr>
        <p:spPr>
          <a:xfrm>
            <a:off x="1828800" y="4480560"/>
            <a:ext cx="4114800" cy="256032"/>
          </a:xfrm>
          <a:prstGeom prst="rect">
            <a:avLst/>
          </a:prstGeom>
          <a:noFill/>
          <a:ln/>
        </p:spPr>
        <p:txBody>
          <a:bodyPr wrap="square" rtlCol="0" anchor="ctr"/>
          <a:lstStyle/>
          <a:p>
            <a:pPr indent="0" marL="0">
              <a:buNone/>
            </a:pPr>
            <a:r>
              <a:rPr lang="en-US" sz="1100" dirty="0">
                <a:solidFill>
                  <a:srgbClr val="404040"/>
                </a:solidFill>
                <a:latin typeface="Calibri" pitchFamily="34" charset="0"/>
                <a:ea typeface="Calibri" pitchFamily="34" charset="-122"/>
                <a:cs typeface="Calibri" pitchFamily="34" charset="-120"/>
              </a:rPr>
              <a:t>Hard Bounce completes</a:t>
            </a:r>
            <a:endParaRPr lang="en-US" sz="1100" dirty="0"/>
          </a:p>
        </p:txBody>
      </p:sp>
      <p:sp>
        <p:nvSpPr>
          <p:cNvPr id="36" name="Text 34"/>
          <p:cNvSpPr/>
          <p:nvPr/>
        </p:nvSpPr>
        <p:spPr>
          <a:xfrm>
            <a:off x="1828800" y="4690872"/>
            <a:ext cx="4114800" cy="182880"/>
          </a:xfrm>
          <a:prstGeom prst="rect">
            <a:avLst/>
          </a:prstGeom>
          <a:noFill/>
          <a:ln/>
        </p:spPr>
        <p:txBody>
          <a:bodyPr wrap="square" rtlCol="0" anchor="ctr"/>
          <a:lstStyle/>
          <a:p>
            <a:pPr indent="0" marL="0">
              <a:buNone/>
            </a:pPr>
            <a:r>
              <a:rPr lang="en-US" sz="900" i="1" dirty="0">
                <a:solidFill>
                  <a:srgbClr val="666666"/>
                </a:solidFill>
                <a:latin typeface="Calibri" pitchFamily="34" charset="0"/>
                <a:ea typeface="Calibri" pitchFamily="34" charset="-122"/>
                <a:cs typeface="Calibri" pitchFamily="34" charset="-120"/>
              </a:rPr>
              <a:t>Both dependencies done</a:t>
            </a:r>
            <a:endParaRPr lang="en-US" sz="900" dirty="0"/>
          </a:p>
        </p:txBody>
      </p:sp>
      <p:sp>
        <p:nvSpPr>
          <p:cNvPr id="37" name="Shape 35"/>
          <p:cNvSpPr/>
          <p:nvPr/>
        </p:nvSpPr>
        <p:spPr>
          <a:xfrm>
            <a:off x="914400" y="4892040"/>
            <a:ext cx="54864" cy="109728"/>
          </a:xfrm>
          <a:prstGeom prst="rect">
            <a:avLst/>
          </a:prstGeom>
          <a:solidFill>
            <a:srgbClr val="CCCCCC"/>
          </a:solidFill>
          <a:ln/>
        </p:spPr>
      </p:sp>
      <p:sp>
        <p:nvSpPr>
          <p:cNvPr id="38" name="Shape 36"/>
          <p:cNvSpPr/>
          <p:nvPr/>
        </p:nvSpPr>
        <p:spPr>
          <a:xfrm>
            <a:off x="320040" y="5001768"/>
            <a:ext cx="1371600" cy="457200"/>
          </a:xfrm>
          <a:prstGeom prst="rect">
            <a:avLst/>
          </a:prstGeom>
          <a:solidFill>
            <a:srgbClr val="C00000"/>
          </a:solidFill>
          <a:ln/>
        </p:spPr>
      </p:sp>
      <p:sp>
        <p:nvSpPr>
          <p:cNvPr id="39" name="Text 37"/>
          <p:cNvSpPr/>
          <p:nvPr/>
        </p:nvSpPr>
        <p:spPr>
          <a:xfrm>
            <a:off x="320040" y="5001768"/>
            <a:ext cx="137160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3:30 AM</a:t>
            </a:r>
            <a:endParaRPr lang="en-US" sz="1100" dirty="0"/>
          </a:p>
        </p:txBody>
      </p:sp>
      <p:sp>
        <p:nvSpPr>
          <p:cNvPr id="40" name="Text 38"/>
          <p:cNvSpPr/>
          <p:nvPr/>
        </p:nvSpPr>
        <p:spPr>
          <a:xfrm>
            <a:off x="1828800" y="5047488"/>
            <a:ext cx="4114800" cy="256032"/>
          </a:xfrm>
          <a:prstGeom prst="rect">
            <a:avLst/>
          </a:prstGeom>
          <a:noFill/>
          <a:ln/>
        </p:spPr>
        <p:txBody>
          <a:bodyPr wrap="square" rtlCol="0" anchor="ctr"/>
          <a:lstStyle/>
          <a:p>
            <a:pPr indent="0" marL="0">
              <a:buNone/>
            </a:pPr>
            <a:r>
              <a:rPr lang="en-US" sz="1100" b="1" dirty="0">
                <a:solidFill>
                  <a:srgbClr val="C00000"/>
                </a:solidFill>
                <a:latin typeface="Calibri" pitchFamily="34" charset="0"/>
                <a:ea typeface="Calibri" pitchFamily="34" charset="-122"/>
                <a:cs typeface="Calibri" pitchFamily="34" charset="-120"/>
              </a:rPr>
              <a:t>GEE-55805 STARTS</a:t>
            </a:r>
            <a:endParaRPr lang="en-US" sz="1100" dirty="0"/>
          </a:p>
        </p:txBody>
      </p:sp>
      <p:sp>
        <p:nvSpPr>
          <p:cNvPr id="41" name="Text 39"/>
          <p:cNvSpPr/>
          <p:nvPr/>
        </p:nvSpPr>
        <p:spPr>
          <a:xfrm>
            <a:off x="1828800" y="5257800"/>
            <a:ext cx="4114800" cy="182880"/>
          </a:xfrm>
          <a:prstGeom prst="rect">
            <a:avLst/>
          </a:prstGeom>
          <a:noFill/>
          <a:ln/>
        </p:spPr>
        <p:txBody>
          <a:bodyPr wrap="square" rtlCol="0" anchor="ctr"/>
          <a:lstStyle/>
          <a:p>
            <a:pPr indent="0" marL="0">
              <a:buNone/>
            </a:pPr>
            <a:r>
              <a:rPr lang="en-US" sz="900" i="1" dirty="0">
                <a:solidFill>
                  <a:srgbClr val="666666"/>
                </a:solidFill>
                <a:latin typeface="Calibri" pitchFamily="34" charset="0"/>
                <a:ea typeface="Calibri" pitchFamily="34" charset="-122"/>
                <a:cs typeface="Calibri" pitchFamily="34" charset="-120"/>
              </a:rPr>
              <a:t>78 min after Consent Update  |  49 min after Hard Bounce</a:t>
            </a:r>
            <a:endParaRPr lang="en-US" sz="900" dirty="0"/>
          </a:p>
        </p:txBody>
      </p:sp>
      <p:sp>
        <p:nvSpPr>
          <p:cNvPr id="42" name="Shape 40"/>
          <p:cNvSpPr/>
          <p:nvPr/>
        </p:nvSpPr>
        <p:spPr>
          <a:xfrm>
            <a:off x="6263640" y="1115568"/>
            <a:ext cx="5577840" cy="5166360"/>
          </a:xfrm>
          <a:prstGeom prst="rect">
            <a:avLst/>
          </a:prstGeom>
          <a:solidFill>
            <a:srgbClr val="F2F7FC"/>
          </a:solidFill>
          <a:ln w="6350">
            <a:solidFill>
              <a:srgbClr val="D0E4F5"/>
            </a:solidFill>
            <a:prstDash val="solid"/>
          </a:ln>
        </p:spPr>
      </p:sp>
      <p:sp>
        <p:nvSpPr>
          <p:cNvPr id="43" name="Text 41"/>
          <p:cNvSpPr/>
          <p:nvPr/>
        </p:nvSpPr>
        <p:spPr>
          <a:xfrm>
            <a:off x="6400800" y="1188720"/>
            <a:ext cx="5303520" cy="475488"/>
          </a:xfrm>
          <a:prstGeom prst="rect">
            <a:avLst/>
          </a:prstGeom>
          <a:noFill/>
          <a:ln/>
        </p:spPr>
        <p:txBody>
          <a:bodyPr wrap="square" rtlCol="0" anchor="ctr"/>
          <a:lstStyle/>
          <a:p>
            <a:pPr indent="0" marL="0">
              <a:buNone/>
            </a:pPr>
            <a:r>
              <a:rPr lang="en-US" sz="1100" b="1" dirty="0">
                <a:solidFill>
                  <a:srgbClr val="1F4E79"/>
                </a:solidFill>
                <a:latin typeface="Calibri" pitchFamily="34" charset="0"/>
                <a:ea typeface="Calibri" pitchFamily="34" charset="-122"/>
                <a:cs typeface="Calibri" pitchFamily="34" charset="-120"/>
              </a:rPr>
              <a:t>Known Platform Behaviours — Confirmed with Salesforce Support</a:t>
            </a:r>
            <a:endParaRPr lang="en-US" sz="1100" dirty="0"/>
          </a:p>
        </p:txBody>
      </p:sp>
      <p:sp>
        <p:nvSpPr>
          <p:cNvPr id="44" name="Shape 42"/>
          <p:cNvSpPr/>
          <p:nvPr/>
        </p:nvSpPr>
        <p:spPr>
          <a:xfrm>
            <a:off x="6400800" y="1755648"/>
            <a:ext cx="5303520" cy="1024128"/>
          </a:xfrm>
          <a:prstGeom prst="rect">
            <a:avLst/>
          </a:prstGeom>
          <a:solidFill>
            <a:srgbClr val="FFFFFF"/>
          </a:solidFill>
          <a:ln w="6350">
            <a:solidFill>
              <a:srgbClr val="D0E4F5"/>
            </a:solidFill>
            <a:prstDash val="solid"/>
          </a:ln>
        </p:spPr>
      </p:sp>
      <p:sp>
        <p:nvSpPr>
          <p:cNvPr id="45" name="Text 43"/>
          <p:cNvSpPr/>
          <p:nvPr/>
        </p:nvSpPr>
        <p:spPr>
          <a:xfrm>
            <a:off x="6492240" y="1792224"/>
            <a:ext cx="5120640" cy="256032"/>
          </a:xfrm>
          <a:prstGeom prst="rect">
            <a:avLst/>
          </a:prstGeom>
          <a:noFill/>
          <a:ln/>
        </p:spPr>
        <p:txBody>
          <a:bodyPr wrap="square" rtlCol="0" anchor="ctr"/>
          <a:lstStyle/>
          <a:p>
            <a:pPr indent="0" marL="0">
              <a:buNone/>
            </a:pPr>
            <a:r>
              <a:rPr lang="en-US" sz="1000" b="1" dirty="0">
                <a:solidFill>
                  <a:srgbClr val="2E75B6"/>
                </a:solidFill>
                <a:latin typeface="Calibri" pitchFamily="34" charset="0"/>
                <a:ea typeface="Calibri" pitchFamily="34" charset="-122"/>
                <a:cs typeface="Calibri" pitchFamily="34" charset="-120"/>
              </a:rPr>
              <a:t>Contact Delete is asynchronous</a:t>
            </a:r>
            <a:endParaRPr lang="en-US" sz="1000" dirty="0"/>
          </a:p>
        </p:txBody>
      </p:sp>
      <p:sp>
        <p:nvSpPr>
          <p:cNvPr id="46" name="Text 44"/>
          <p:cNvSpPr/>
          <p:nvPr/>
        </p:nvSpPr>
        <p:spPr>
          <a:xfrm>
            <a:off x="6492240" y="2048256"/>
            <a:ext cx="5120640" cy="694944"/>
          </a:xfrm>
          <a:prstGeom prst="rect">
            <a:avLst/>
          </a:prstGeom>
          <a:noFill/>
          <a:ln/>
        </p:spPr>
        <p:txBody>
          <a:bodyPr wrap="square" rtlCol="0" anchor="t"/>
          <a:lstStyle/>
          <a:p>
            <a:pPr indent="0" marL="0">
              <a:buNone/>
            </a:pPr>
            <a:r>
              <a:rPr lang="en-US" sz="950" dirty="0">
                <a:solidFill>
                  <a:srgbClr val="404040"/>
                </a:solidFill>
                <a:latin typeface="Calibri" pitchFamily="34" charset="0"/>
                <a:ea typeface="Calibri" pitchFamily="34" charset="-122"/>
                <a:cs typeface="Calibri" pitchFamily="34" charset="-120"/>
              </a:rPr>
              <a:t>Deletion is the lowest priority background process in SFMC. Contacts enter a pending queue and physical removal from All Contacts, All Subscribers, and data views occurs in stages with no guaranteed timeline.</a:t>
            </a:r>
            <a:endParaRPr lang="en-US" sz="950" dirty="0"/>
          </a:p>
        </p:txBody>
      </p:sp>
      <p:sp>
        <p:nvSpPr>
          <p:cNvPr id="47" name="Shape 45"/>
          <p:cNvSpPr/>
          <p:nvPr/>
        </p:nvSpPr>
        <p:spPr>
          <a:xfrm>
            <a:off x="6400800" y="2852928"/>
            <a:ext cx="5303520" cy="1024128"/>
          </a:xfrm>
          <a:prstGeom prst="rect">
            <a:avLst/>
          </a:prstGeom>
          <a:solidFill>
            <a:srgbClr val="FFFFFF"/>
          </a:solidFill>
          <a:ln w="6350">
            <a:solidFill>
              <a:srgbClr val="D0E4F5"/>
            </a:solidFill>
            <a:prstDash val="solid"/>
          </a:ln>
        </p:spPr>
      </p:sp>
      <p:sp>
        <p:nvSpPr>
          <p:cNvPr id="48" name="Text 46"/>
          <p:cNvSpPr/>
          <p:nvPr/>
        </p:nvSpPr>
        <p:spPr>
          <a:xfrm>
            <a:off x="6492240" y="2889504"/>
            <a:ext cx="5120640" cy="256032"/>
          </a:xfrm>
          <a:prstGeom prst="rect">
            <a:avLst/>
          </a:prstGeom>
          <a:noFill/>
          <a:ln/>
        </p:spPr>
        <p:txBody>
          <a:bodyPr wrap="square" rtlCol="0" anchor="ctr"/>
          <a:lstStyle/>
          <a:p>
            <a:pPr indent="0" marL="0">
              <a:buNone/>
            </a:pPr>
            <a:r>
              <a:rPr lang="en-US" sz="1000" b="1" dirty="0">
                <a:solidFill>
                  <a:srgbClr val="2E75B6"/>
                </a:solidFill>
                <a:latin typeface="Calibri" pitchFamily="34" charset="0"/>
                <a:ea typeface="Calibri" pitchFamily="34" charset="-122"/>
                <a:cs typeface="Calibri" pitchFamily="34" charset="-120"/>
              </a:rPr>
              <a:t>MC Connect re-synchronization</a:t>
            </a:r>
            <a:endParaRPr lang="en-US" sz="1000" dirty="0"/>
          </a:p>
        </p:txBody>
      </p:sp>
      <p:sp>
        <p:nvSpPr>
          <p:cNvPr id="49" name="Text 47"/>
          <p:cNvSpPr/>
          <p:nvPr/>
        </p:nvSpPr>
        <p:spPr>
          <a:xfrm>
            <a:off x="6492240" y="3145536"/>
            <a:ext cx="5120640" cy="694944"/>
          </a:xfrm>
          <a:prstGeom prst="rect">
            <a:avLst/>
          </a:prstGeom>
          <a:noFill/>
          <a:ln/>
        </p:spPr>
        <p:txBody>
          <a:bodyPr wrap="square" rtlCol="0" anchor="t"/>
          <a:lstStyle/>
          <a:p>
            <a:pPr indent="0" marL="0">
              <a:buNone/>
            </a:pPr>
            <a:r>
              <a:rPr lang="en-US" sz="950" dirty="0">
                <a:solidFill>
                  <a:srgbClr val="404040"/>
                </a:solidFill>
                <a:latin typeface="Calibri" pitchFamily="34" charset="0"/>
                <a:ea typeface="Calibri" pitchFamily="34" charset="-122"/>
                <a:cs typeface="Calibri" pitchFamily="34" charset="-120"/>
              </a:rPr>
              <a:t>Deleting a contact from SFMC does not remove the Salesforce source record. If that record still meets sync criteria, MC Connect recreates the contact in All Contacts on the next sync cycle. The permanent fix is updating the Salesforce sync filter to exclude records without valid channel addresses.</a:t>
            </a:r>
            <a:endParaRPr lang="en-US" sz="950" dirty="0"/>
          </a:p>
        </p:txBody>
      </p:sp>
      <p:sp>
        <p:nvSpPr>
          <p:cNvPr id="50" name="Shape 48"/>
          <p:cNvSpPr/>
          <p:nvPr/>
        </p:nvSpPr>
        <p:spPr>
          <a:xfrm>
            <a:off x="6400800" y="3950208"/>
            <a:ext cx="5303520" cy="1024128"/>
          </a:xfrm>
          <a:prstGeom prst="rect">
            <a:avLst/>
          </a:prstGeom>
          <a:solidFill>
            <a:srgbClr val="FFFFFF"/>
          </a:solidFill>
          <a:ln w="6350">
            <a:solidFill>
              <a:srgbClr val="D0E4F5"/>
            </a:solidFill>
            <a:prstDash val="solid"/>
          </a:ln>
        </p:spPr>
      </p:sp>
      <p:sp>
        <p:nvSpPr>
          <p:cNvPr id="51" name="Text 49"/>
          <p:cNvSpPr/>
          <p:nvPr/>
        </p:nvSpPr>
        <p:spPr>
          <a:xfrm>
            <a:off x="6492240" y="3986784"/>
            <a:ext cx="5120640" cy="256032"/>
          </a:xfrm>
          <a:prstGeom prst="rect">
            <a:avLst/>
          </a:prstGeom>
          <a:noFill/>
          <a:ln/>
        </p:spPr>
        <p:txBody>
          <a:bodyPr wrap="square" rtlCol="0" anchor="ctr"/>
          <a:lstStyle/>
          <a:p>
            <a:pPr indent="0" marL="0">
              <a:buNone/>
            </a:pPr>
            <a:r>
              <a:rPr lang="en-US" sz="1000" b="1" dirty="0">
                <a:solidFill>
                  <a:srgbClr val="2E75B6"/>
                </a:solidFill>
                <a:latin typeface="Calibri" pitchFamily="34" charset="0"/>
                <a:ea typeface="Calibri" pitchFamily="34" charset="-122"/>
                <a:cs typeface="Calibri" pitchFamily="34" charset="-120"/>
              </a:rPr>
              <a:t>Suppression as interim protection</a:t>
            </a:r>
            <a:endParaRPr lang="en-US" sz="1000" dirty="0"/>
          </a:p>
        </p:txBody>
      </p:sp>
      <p:sp>
        <p:nvSpPr>
          <p:cNvPr id="52" name="Text 50"/>
          <p:cNvSpPr/>
          <p:nvPr/>
        </p:nvSpPr>
        <p:spPr>
          <a:xfrm>
            <a:off x="6492240" y="4242816"/>
            <a:ext cx="5120640" cy="694944"/>
          </a:xfrm>
          <a:prstGeom prst="rect">
            <a:avLst/>
          </a:prstGeom>
          <a:noFill/>
          <a:ln/>
        </p:spPr>
        <p:txBody>
          <a:bodyPr wrap="square" rtlCol="0" anchor="t"/>
          <a:lstStyle/>
          <a:p>
            <a:pPr indent="0" marL="0">
              <a:buNone/>
            </a:pPr>
            <a:r>
              <a:rPr lang="en-US" sz="950" dirty="0">
                <a:solidFill>
                  <a:srgbClr val="404040"/>
                </a:solidFill>
                <a:latin typeface="Calibri" pitchFamily="34" charset="0"/>
                <a:ea typeface="Calibri" pitchFamily="34" charset="-122"/>
                <a:cs typeface="Calibri" pitchFamily="34" charset="-120"/>
              </a:rPr>
              <a:t>Even if a deleted contact is recreated by sync, their email address remains on the Global_Suppression_List until Step 19 removes it. They cannot be emailed while suppressed, regardless of their All Contacts status.</a:t>
            </a:r>
            <a:endParaRPr lang="en-US" sz="950" dirty="0"/>
          </a:p>
        </p:txBody>
      </p:sp>
      <p:sp>
        <p:nvSpPr>
          <p:cNvPr id="53" name="Shape 51"/>
          <p:cNvSpPr/>
          <p:nvPr/>
        </p:nvSpPr>
        <p:spPr>
          <a:xfrm>
            <a:off x="6400800" y="5047488"/>
            <a:ext cx="5303520" cy="1024128"/>
          </a:xfrm>
          <a:prstGeom prst="rect">
            <a:avLst/>
          </a:prstGeom>
          <a:solidFill>
            <a:srgbClr val="FFFFFF"/>
          </a:solidFill>
          <a:ln w="6350">
            <a:solidFill>
              <a:srgbClr val="D0E4F5"/>
            </a:solidFill>
            <a:prstDash val="solid"/>
          </a:ln>
        </p:spPr>
      </p:sp>
      <p:sp>
        <p:nvSpPr>
          <p:cNvPr id="54" name="Text 52"/>
          <p:cNvSpPr/>
          <p:nvPr/>
        </p:nvSpPr>
        <p:spPr>
          <a:xfrm>
            <a:off x="6492240" y="5084064"/>
            <a:ext cx="5120640" cy="256032"/>
          </a:xfrm>
          <a:prstGeom prst="rect">
            <a:avLst/>
          </a:prstGeom>
          <a:noFill/>
          <a:ln/>
        </p:spPr>
        <p:txBody>
          <a:bodyPr wrap="square" rtlCol="0" anchor="ctr"/>
          <a:lstStyle/>
          <a:p>
            <a:pPr indent="0" marL="0">
              <a:buNone/>
            </a:pPr>
            <a:r>
              <a:rPr lang="en-US" sz="1000" b="1" dirty="0">
                <a:solidFill>
                  <a:srgbClr val="2E75B6"/>
                </a:solidFill>
                <a:latin typeface="Calibri" pitchFamily="34" charset="0"/>
                <a:ea typeface="Calibri" pitchFamily="34" charset="-122"/>
                <a:cs typeface="Calibri" pitchFamily="34" charset="-120"/>
              </a:rPr>
              <a:t>Re-Sync Contact Report</a:t>
            </a:r>
            <a:endParaRPr lang="en-US" sz="1000" dirty="0"/>
          </a:p>
        </p:txBody>
      </p:sp>
      <p:sp>
        <p:nvSpPr>
          <p:cNvPr id="55" name="Text 53"/>
          <p:cNvSpPr/>
          <p:nvPr/>
        </p:nvSpPr>
        <p:spPr>
          <a:xfrm>
            <a:off x="6492240" y="5340096"/>
            <a:ext cx="5120640" cy="694944"/>
          </a:xfrm>
          <a:prstGeom prst="rect">
            <a:avLst/>
          </a:prstGeom>
          <a:noFill/>
          <a:ln/>
        </p:spPr>
        <p:txBody>
          <a:bodyPr wrap="square" rtlCol="0" anchor="t"/>
          <a:lstStyle/>
          <a:p>
            <a:pPr indent="0" marL="0">
              <a:buNone/>
            </a:pPr>
            <a:r>
              <a:rPr lang="en-US" sz="950" dirty="0">
                <a:solidFill>
                  <a:srgbClr val="404040"/>
                </a:solidFill>
                <a:latin typeface="Calibri" pitchFamily="34" charset="0"/>
                <a:ea typeface="Calibri" pitchFamily="34" charset="-122"/>
                <a:cs typeface="Calibri" pitchFamily="34" charset="-120"/>
              </a:rPr>
              <a:t>A weekly report (Duplicate_Emails_ReSync_Report) identifies contacts appearing in the current deletion set who were already deleted in a prior run — quantifying the re-sync volume and providing evidence to prioritise the Salesforce filter fix.</a:t>
            </a:r>
            <a:endParaRPr lang="en-US" sz="950" dirty="0"/>
          </a:p>
        </p:txBody>
      </p:sp>
      <p:sp>
        <p:nvSpPr>
          <p:cNvPr id="56" name="Shape 54"/>
          <p:cNvSpPr/>
          <p:nvPr/>
        </p:nvSpPr>
        <p:spPr>
          <a:xfrm>
            <a:off x="320040" y="5596128"/>
            <a:ext cx="5577840" cy="658368"/>
          </a:xfrm>
          <a:prstGeom prst="rect">
            <a:avLst/>
          </a:prstGeom>
          <a:solidFill>
            <a:srgbClr val="FFF2CC"/>
          </a:solidFill>
          <a:ln w="6350">
            <a:solidFill>
              <a:srgbClr val="FFD966"/>
            </a:solidFill>
            <a:prstDash val="solid"/>
          </a:ln>
        </p:spPr>
      </p:sp>
      <p:sp>
        <p:nvSpPr>
          <p:cNvPr id="57" name="Text 55"/>
          <p:cNvSpPr/>
          <p:nvPr/>
        </p:nvSpPr>
        <p:spPr>
          <a:xfrm>
            <a:off x="457200" y="5632704"/>
            <a:ext cx="5303520" cy="594360"/>
          </a:xfrm>
          <a:prstGeom prst="rect">
            <a:avLst/>
          </a:prstGeom>
          <a:noFill/>
          <a:ln/>
        </p:spPr>
        <p:txBody>
          <a:bodyPr wrap="square" rtlCol="0" anchor="ctr"/>
          <a:lstStyle/>
          <a:p>
            <a:pPr indent="0" marL="0">
              <a:buNone/>
            </a:pPr>
            <a:r>
              <a:rPr lang="en-US" sz="850" dirty="0">
                <a:solidFill>
                  <a:srgbClr val="7F6000"/>
                </a:solidFill>
                <a:latin typeface="Calibri" pitchFamily="34" charset="0"/>
                <a:ea typeface="Calibri" pitchFamily="34" charset="-122"/>
                <a:cs typeface="Calibri" pitchFamily="34" charset="-120"/>
              </a:rPr>
              <a:t>Accepted edge case: Contacts unsubscribing between 2:12 AM and 2:41 AM (the gap between Consent Update completing and Hard Bounce completing) have an extremely low probability of also meeting the deletion criteria. This risk has been reviewed and accepted by the business.</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1F4E79"/>
          </a:solidFill>
          <a:ln/>
        </p:spPr>
      </p:sp>
      <p:sp>
        <p:nvSpPr>
          <p:cNvPr id="3" name="Shape 1"/>
          <p:cNvSpPr/>
          <p:nvPr/>
        </p:nvSpPr>
        <p:spPr>
          <a:xfrm>
            <a:off x="0" y="1005840"/>
            <a:ext cx="12188952" cy="54864"/>
          </a:xfrm>
          <a:prstGeom prst="rect">
            <a:avLst/>
          </a:prstGeom>
          <a:solidFill>
            <a:srgbClr val="2E75B6"/>
          </a:solidFill>
          <a:ln/>
        </p:spPr>
      </p:sp>
      <p:sp>
        <p:nvSpPr>
          <p:cNvPr id="4" name="Text 2"/>
          <p:cNvSpPr/>
          <p:nvPr/>
        </p:nvSpPr>
        <p:spPr>
          <a:xfrm>
            <a:off x="320040" y="137160"/>
            <a:ext cx="1152144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Key Design Decisions</a:t>
            </a:r>
            <a:endParaRPr lang="en-US" sz="2200" dirty="0"/>
          </a:p>
        </p:txBody>
      </p:sp>
      <p:sp>
        <p:nvSpPr>
          <p:cNvPr id="5" name="Text 3"/>
          <p:cNvSpPr/>
          <p:nvPr/>
        </p:nvSpPr>
        <p:spPr>
          <a:xfrm>
            <a:off x="320040" y="621792"/>
            <a:ext cx="11521440" cy="320040"/>
          </a:xfrm>
          <a:prstGeom prst="rect">
            <a:avLst/>
          </a:prstGeom>
          <a:noFill/>
          <a:ln/>
        </p:spPr>
        <p:txBody>
          <a:bodyPr wrap="square" rtlCol="0" anchor="ctr"/>
          <a:lstStyle/>
          <a:p>
            <a:pPr indent="0" marL="0">
              <a:buNone/>
            </a:pPr>
            <a:r>
              <a:rPr lang="en-US" sz="1200" dirty="0">
                <a:solidFill>
                  <a:srgbClr val="BDD7EE"/>
                </a:solidFill>
                <a:latin typeface="Calibri" pitchFamily="34" charset="0"/>
                <a:ea typeface="Calibri" pitchFamily="34" charset="-122"/>
                <a:cs typeface="Calibri" pitchFamily="34" charset="-120"/>
              </a:rPr>
              <a:t>Deliberate decisions made during build — validated against SFMC platform behaviour and Salesforce Support guidance</a:t>
            </a:r>
            <a:endParaRPr lang="en-US" sz="1200" dirty="0"/>
          </a:p>
        </p:txBody>
      </p:sp>
      <p:sp>
        <p:nvSpPr>
          <p:cNvPr id="6" name="Shape 4"/>
          <p:cNvSpPr/>
          <p:nvPr/>
        </p:nvSpPr>
        <p:spPr>
          <a:xfrm>
            <a:off x="0" y="6556248"/>
            <a:ext cx="12188952" cy="301752"/>
          </a:xfrm>
          <a:prstGeom prst="rect">
            <a:avLst/>
          </a:prstGeom>
          <a:solidFill>
            <a:srgbClr val="F2F2F2"/>
          </a:solidFill>
          <a:ln/>
        </p:spPr>
      </p:sp>
      <p:sp>
        <p:nvSpPr>
          <p:cNvPr id="7" name="Text 5"/>
          <p:cNvSpPr/>
          <p:nvPr/>
        </p:nvSpPr>
        <p:spPr>
          <a:xfrm>
            <a:off x="182880" y="6574536"/>
            <a:ext cx="3657600" cy="228600"/>
          </a:xfrm>
          <a:prstGeom prst="rect">
            <a:avLst/>
          </a:prstGeom>
          <a:noFill/>
          <a:ln/>
        </p:spPr>
        <p:txBody>
          <a:bodyPr wrap="square" rtlCol="0" anchor="ctr"/>
          <a:lstStyle/>
          <a:p>
            <a:pPr indent="0" marL="0">
              <a:buNone/>
            </a:pPr>
            <a:r>
              <a:rPr lang="en-US" sz="800" b="1" dirty="0">
                <a:solidFill>
                  <a:srgbClr val="2E75B6"/>
                </a:solidFill>
                <a:latin typeface="Calibri" pitchFamily="34" charset="0"/>
                <a:ea typeface="Calibri" pitchFamily="34" charset="-122"/>
                <a:cs typeface="Calibri" pitchFamily="34" charset="-120"/>
              </a:rPr>
              <a:t>#DigitalExcellence</a:t>
            </a:r>
            <a:endParaRPr lang="en-US" sz="800" dirty="0"/>
          </a:p>
        </p:txBody>
      </p:sp>
      <p:sp>
        <p:nvSpPr>
          <p:cNvPr id="8" name="Text 6"/>
          <p:cNvSpPr/>
          <p:nvPr/>
        </p:nvSpPr>
        <p:spPr>
          <a:xfrm>
            <a:off x="3840480" y="6574536"/>
            <a:ext cx="8229600" cy="228600"/>
          </a:xfrm>
          <a:prstGeom prst="rect">
            <a:avLst/>
          </a:prstGeom>
          <a:noFill/>
          <a:ln/>
        </p:spPr>
        <p:txBody>
          <a:bodyPr wrap="square" rtlCol="0" anchor="ctr"/>
          <a:lstStyle/>
          <a:p>
            <a:pPr algn="r" indent="0" marL="0">
              <a:buNone/>
            </a:pPr>
            <a:r>
              <a:rPr lang="en-US" sz="800" dirty="0">
                <a:solidFill>
                  <a:srgbClr val="666666"/>
                </a:solidFill>
                <a:latin typeface="Calibri" pitchFamily="34" charset="0"/>
                <a:ea typeface="Calibri" pitchFamily="34" charset="-122"/>
                <a:cs typeface="Calibri" pitchFamily="34" charset="-120"/>
              </a:rPr>
              <a:t>Contact Deletion  |  KPMG Marketing Cloud Engage  |  Himanshu Gupta</a:t>
            </a:r>
            <a:endParaRPr lang="en-US" sz="800" dirty="0"/>
          </a:p>
        </p:txBody>
      </p:sp>
      <p:sp>
        <p:nvSpPr>
          <p:cNvPr id="9" name="Shape 7"/>
          <p:cNvSpPr/>
          <p:nvPr/>
        </p:nvSpPr>
        <p:spPr>
          <a:xfrm>
            <a:off x="320040" y="1143000"/>
            <a:ext cx="5577840" cy="1755648"/>
          </a:xfrm>
          <a:prstGeom prst="rect">
            <a:avLst/>
          </a:prstGeom>
          <a:solidFill>
            <a:srgbClr val="F2F7FC"/>
          </a:solidFill>
          <a:ln w="6350">
            <a:solidFill>
              <a:srgbClr val="D0E4F5"/>
            </a:solidFill>
            <a:prstDash val="solid"/>
          </a:ln>
        </p:spPr>
      </p:sp>
      <p:sp>
        <p:nvSpPr>
          <p:cNvPr id="10" name="Shape 8"/>
          <p:cNvSpPr/>
          <p:nvPr/>
        </p:nvSpPr>
        <p:spPr>
          <a:xfrm>
            <a:off x="320040" y="1143000"/>
            <a:ext cx="5577840" cy="54864"/>
          </a:xfrm>
          <a:prstGeom prst="rect">
            <a:avLst/>
          </a:prstGeom>
          <a:solidFill>
            <a:srgbClr val="2E75B6"/>
          </a:solidFill>
          <a:ln/>
        </p:spPr>
      </p:sp>
      <p:sp>
        <p:nvSpPr>
          <p:cNvPr id="11" name="Text 9"/>
          <p:cNvSpPr/>
          <p:nvPr/>
        </p:nvSpPr>
        <p:spPr>
          <a:xfrm>
            <a:off x="429768" y="1234440"/>
            <a:ext cx="5358384" cy="329184"/>
          </a:xfrm>
          <a:prstGeom prst="rect">
            <a:avLst/>
          </a:prstGeom>
          <a:noFill/>
          <a:ln/>
        </p:spPr>
        <p:txBody>
          <a:bodyPr wrap="square" rtlCol="0" anchor="ctr"/>
          <a:lstStyle/>
          <a:p>
            <a:pPr indent="0" marL="0">
              <a:buNone/>
            </a:pPr>
            <a:r>
              <a:rPr lang="en-US" sz="1100" b="1" dirty="0">
                <a:solidFill>
                  <a:srgbClr val="1F4E79"/>
                </a:solidFill>
                <a:latin typeface="Calibri" pitchFamily="34" charset="0"/>
                <a:ea typeface="Calibri" pitchFamily="34" charset="-122"/>
                <a:cs typeface="Calibri" pitchFamily="34" charset="-120"/>
              </a:rPr>
              <a:t>Weekly cadence replacing monthly</a:t>
            </a:r>
            <a:endParaRPr lang="en-US" sz="1100" dirty="0"/>
          </a:p>
        </p:txBody>
      </p:sp>
      <p:sp>
        <p:nvSpPr>
          <p:cNvPr id="12" name="Text 10"/>
          <p:cNvSpPr/>
          <p:nvPr/>
        </p:nvSpPr>
        <p:spPr>
          <a:xfrm>
            <a:off x="429768" y="1581912"/>
            <a:ext cx="5358384" cy="877824"/>
          </a:xfrm>
          <a:prstGeom prst="rect">
            <a:avLst/>
          </a:prstGeom>
          <a:noFill/>
          <a:ln/>
        </p:spPr>
        <p:txBody>
          <a:bodyPr wrap="square" rtlCol="0" anchor="t"/>
          <a:lstStyle/>
          <a:p>
            <a:pPr indent="0" marL="0">
              <a:buNone/>
            </a:pPr>
            <a:r>
              <a:rPr lang="en-US" sz="950" dirty="0">
                <a:solidFill>
                  <a:srgbClr val="404040"/>
                </a:solidFill>
                <a:latin typeface="Calibri" pitchFamily="34" charset="0"/>
                <a:ea typeface="Calibri" pitchFamily="34" charset="-122"/>
                <a:cs typeface="Calibri" pitchFamily="34" charset="-120"/>
              </a:rPr>
              <a:t>Monthly runs created large deletion batches that increased async processing time and overlap between runs. Weekly cadence reduces per-run volume, tightens data hygiene, and gives the suppression list more opportunity to propagate before the next run.</a:t>
            </a:r>
            <a:endParaRPr lang="en-US" sz="950" dirty="0"/>
          </a:p>
        </p:txBody>
      </p:sp>
      <p:sp>
        <p:nvSpPr>
          <p:cNvPr id="13" name="Shape 11"/>
          <p:cNvSpPr/>
          <p:nvPr/>
        </p:nvSpPr>
        <p:spPr>
          <a:xfrm>
            <a:off x="429768" y="2514600"/>
            <a:ext cx="5358384" cy="329184"/>
          </a:xfrm>
          <a:prstGeom prst="rect">
            <a:avLst/>
          </a:prstGeom>
          <a:solidFill>
            <a:srgbClr val="E2EFDA"/>
          </a:solidFill>
          <a:ln/>
        </p:spPr>
      </p:sp>
      <p:sp>
        <p:nvSpPr>
          <p:cNvPr id="14" name="Text 12"/>
          <p:cNvSpPr/>
          <p:nvPr/>
        </p:nvSpPr>
        <p:spPr>
          <a:xfrm>
            <a:off x="484632" y="2532888"/>
            <a:ext cx="5248656" cy="292608"/>
          </a:xfrm>
          <a:prstGeom prst="rect">
            <a:avLst/>
          </a:prstGeom>
          <a:noFill/>
          <a:ln/>
        </p:spPr>
        <p:txBody>
          <a:bodyPr wrap="square" rtlCol="0" anchor="ctr"/>
          <a:lstStyle/>
          <a:p>
            <a:pPr indent="0" marL="0">
              <a:buNone/>
            </a:pPr>
            <a:r>
              <a:rPr lang="en-US" sz="900" b="1" dirty="0">
                <a:solidFill>
                  <a:srgbClr val="375623"/>
                </a:solidFill>
                <a:latin typeface="Calibri" pitchFamily="34" charset="0"/>
                <a:ea typeface="Calibri" pitchFamily="34" charset="-122"/>
                <a:cs typeface="Calibri" pitchFamily="34" charset="-120"/>
              </a:rPr>
              <a:t>Impact: </a:t>
            </a:r>
            <a:pPr indent="0" marL="0">
              <a:buNone/>
            </a:pPr>
            <a:r>
              <a:rPr lang="en-US" sz="900" dirty="0">
                <a:solidFill>
                  <a:srgbClr val="375623"/>
                </a:solidFill>
                <a:latin typeface="Calibri" pitchFamily="34" charset="0"/>
                <a:ea typeface="Calibri" pitchFamily="34" charset="-122"/>
                <a:cs typeface="Calibri" pitchFamily="34" charset="-120"/>
              </a:rPr>
              <a:t>Replaces both ContactDelete_Combined and Duplicate Delete Data Archive automations</a:t>
            </a:r>
            <a:endParaRPr lang="en-US" sz="900" dirty="0"/>
          </a:p>
        </p:txBody>
      </p:sp>
      <p:sp>
        <p:nvSpPr>
          <p:cNvPr id="15" name="Shape 13"/>
          <p:cNvSpPr/>
          <p:nvPr/>
        </p:nvSpPr>
        <p:spPr>
          <a:xfrm>
            <a:off x="6236208" y="1143000"/>
            <a:ext cx="5577840" cy="1755648"/>
          </a:xfrm>
          <a:prstGeom prst="rect">
            <a:avLst/>
          </a:prstGeom>
          <a:solidFill>
            <a:srgbClr val="F2F7FC"/>
          </a:solidFill>
          <a:ln w="6350">
            <a:solidFill>
              <a:srgbClr val="D0E4F5"/>
            </a:solidFill>
            <a:prstDash val="solid"/>
          </a:ln>
        </p:spPr>
      </p:sp>
      <p:sp>
        <p:nvSpPr>
          <p:cNvPr id="16" name="Shape 14"/>
          <p:cNvSpPr/>
          <p:nvPr/>
        </p:nvSpPr>
        <p:spPr>
          <a:xfrm>
            <a:off x="6236208" y="1143000"/>
            <a:ext cx="5577840" cy="54864"/>
          </a:xfrm>
          <a:prstGeom prst="rect">
            <a:avLst/>
          </a:prstGeom>
          <a:solidFill>
            <a:srgbClr val="2E75B6"/>
          </a:solidFill>
          <a:ln/>
        </p:spPr>
      </p:sp>
      <p:sp>
        <p:nvSpPr>
          <p:cNvPr id="17" name="Text 15"/>
          <p:cNvSpPr/>
          <p:nvPr/>
        </p:nvSpPr>
        <p:spPr>
          <a:xfrm>
            <a:off x="6345936" y="1234440"/>
            <a:ext cx="5358384" cy="329184"/>
          </a:xfrm>
          <a:prstGeom prst="rect">
            <a:avLst/>
          </a:prstGeom>
          <a:noFill/>
          <a:ln/>
        </p:spPr>
        <p:txBody>
          <a:bodyPr wrap="square" rtlCol="0" anchor="ctr"/>
          <a:lstStyle/>
          <a:p>
            <a:pPr indent="0" marL="0">
              <a:buNone/>
            </a:pPr>
            <a:r>
              <a:rPr lang="en-US" sz="1100" b="1" dirty="0">
                <a:solidFill>
                  <a:srgbClr val="1F4E79"/>
                </a:solidFill>
                <a:latin typeface="Calibri" pitchFamily="34" charset="0"/>
                <a:ea typeface="Calibri" pitchFamily="34" charset="-122"/>
                <a:cs typeface="Calibri" pitchFamily="34" charset="-120"/>
              </a:rPr>
              <a:t>Temp DE used as the delete target — not ACTUAL</a:t>
            </a:r>
            <a:endParaRPr lang="en-US" sz="1100" dirty="0"/>
          </a:p>
        </p:txBody>
      </p:sp>
      <p:sp>
        <p:nvSpPr>
          <p:cNvPr id="18" name="Text 16"/>
          <p:cNvSpPr/>
          <p:nvPr/>
        </p:nvSpPr>
        <p:spPr>
          <a:xfrm>
            <a:off x="6345936" y="1581912"/>
            <a:ext cx="5358384" cy="877824"/>
          </a:xfrm>
          <a:prstGeom prst="rect">
            <a:avLst/>
          </a:prstGeom>
          <a:noFill/>
          <a:ln/>
        </p:spPr>
        <p:txBody>
          <a:bodyPr wrap="square" rtlCol="0" anchor="t"/>
          <a:lstStyle/>
          <a:p>
            <a:pPr indent="0" marL="0">
              <a:buNone/>
            </a:pPr>
            <a:r>
              <a:rPr lang="en-US" sz="950" dirty="0">
                <a:solidFill>
                  <a:srgbClr val="404040"/>
                </a:solidFill>
                <a:latin typeface="Calibri" pitchFamily="34" charset="0"/>
                <a:ea typeface="Calibri" pitchFamily="34" charset="-122"/>
                <a:cs typeface="Calibri" pitchFamily="34" charset="-120"/>
              </a:rPr>
              <a:t>Duplicate_Emails_to_Delete_ACTUAL contains Active = Y records only. Duplicate_Emails_to_Delete_Temp contains both Active = Y and Active = N. Step 48 must target the Temp DE to ensure Unsubscribed and Held contacts are also physically deleted from All Contacts — not just suppressed.</a:t>
            </a:r>
            <a:endParaRPr lang="en-US" sz="950" dirty="0"/>
          </a:p>
        </p:txBody>
      </p:sp>
      <p:sp>
        <p:nvSpPr>
          <p:cNvPr id="19" name="Shape 17"/>
          <p:cNvSpPr/>
          <p:nvPr/>
        </p:nvSpPr>
        <p:spPr>
          <a:xfrm>
            <a:off x="6345936" y="2514600"/>
            <a:ext cx="5358384" cy="329184"/>
          </a:xfrm>
          <a:prstGeom prst="rect">
            <a:avLst/>
          </a:prstGeom>
          <a:solidFill>
            <a:srgbClr val="E2EFDA"/>
          </a:solidFill>
          <a:ln/>
        </p:spPr>
      </p:sp>
      <p:sp>
        <p:nvSpPr>
          <p:cNvPr id="20" name="Text 18"/>
          <p:cNvSpPr/>
          <p:nvPr/>
        </p:nvSpPr>
        <p:spPr>
          <a:xfrm>
            <a:off x="6400800" y="2532888"/>
            <a:ext cx="5248656" cy="292608"/>
          </a:xfrm>
          <a:prstGeom prst="rect">
            <a:avLst/>
          </a:prstGeom>
          <a:noFill/>
          <a:ln/>
        </p:spPr>
        <p:txBody>
          <a:bodyPr wrap="square" rtlCol="0" anchor="ctr"/>
          <a:lstStyle/>
          <a:p>
            <a:pPr indent="0" marL="0">
              <a:buNone/>
            </a:pPr>
            <a:r>
              <a:rPr lang="en-US" sz="900" b="1" dirty="0">
                <a:solidFill>
                  <a:srgbClr val="375623"/>
                </a:solidFill>
                <a:latin typeface="Calibri" pitchFamily="34" charset="0"/>
                <a:ea typeface="Calibri" pitchFamily="34" charset="-122"/>
                <a:cs typeface="Calibri" pitchFamily="34" charset="-120"/>
              </a:rPr>
              <a:t>Impact: </a:t>
            </a:r>
            <a:pPr indent="0" marL="0">
              <a:buNone/>
            </a:pPr>
            <a:r>
              <a:rPr lang="en-US" sz="900" dirty="0">
                <a:solidFill>
                  <a:srgbClr val="375623"/>
                </a:solidFill>
                <a:latin typeface="Calibri" pitchFamily="34" charset="0"/>
                <a:ea typeface="Calibri" pitchFamily="34" charset="-122"/>
                <a:cs typeface="Calibri" pitchFamily="34" charset="-120"/>
              </a:rPr>
              <a:t>Both active and inactive contacts are removed from SFMC</a:t>
            </a:r>
            <a:endParaRPr lang="en-US" sz="900" dirty="0"/>
          </a:p>
        </p:txBody>
      </p:sp>
      <p:sp>
        <p:nvSpPr>
          <p:cNvPr id="21" name="Shape 19"/>
          <p:cNvSpPr/>
          <p:nvPr/>
        </p:nvSpPr>
        <p:spPr>
          <a:xfrm>
            <a:off x="320040" y="2990088"/>
            <a:ext cx="5577840" cy="1755648"/>
          </a:xfrm>
          <a:prstGeom prst="rect">
            <a:avLst/>
          </a:prstGeom>
          <a:solidFill>
            <a:srgbClr val="F2F7FC"/>
          </a:solidFill>
          <a:ln w="6350">
            <a:solidFill>
              <a:srgbClr val="D0E4F5"/>
            </a:solidFill>
            <a:prstDash val="solid"/>
          </a:ln>
        </p:spPr>
      </p:sp>
      <p:sp>
        <p:nvSpPr>
          <p:cNvPr id="22" name="Shape 20"/>
          <p:cNvSpPr/>
          <p:nvPr/>
        </p:nvSpPr>
        <p:spPr>
          <a:xfrm>
            <a:off x="320040" y="2990088"/>
            <a:ext cx="5577840" cy="54864"/>
          </a:xfrm>
          <a:prstGeom prst="rect">
            <a:avLst/>
          </a:prstGeom>
          <a:solidFill>
            <a:srgbClr val="2E75B6"/>
          </a:solidFill>
          <a:ln/>
        </p:spPr>
      </p:sp>
      <p:sp>
        <p:nvSpPr>
          <p:cNvPr id="23" name="Text 21"/>
          <p:cNvSpPr/>
          <p:nvPr/>
        </p:nvSpPr>
        <p:spPr>
          <a:xfrm>
            <a:off x="429768" y="3081528"/>
            <a:ext cx="5358384" cy="329184"/>
          </a:xfrm>
          <a:prstGeom prst="rect">
            <a:avLst/>
          </a:prstGeom>
          <a:noFill/>
          <a:ln/>
        </p:spPr>
        <p:txBody>
          <a:bodyPr wrap="square" rtlCol="0" anchor="ctr"/>
          <a:lstStyle/>
          <a:p>
            <a:pPr indent="0" marL="0">
              <a:buNone/>
            </a:pPr>
            <a:r>
              <a:rPr lang="en-US" sz="1100" b="1" dirty="0">
                <a:solidFill>
                  <a:srgbClr val="1F4E79"/>
                </a:solidFill>
                <a:latin typeface="Calibri" pitchFamily="34" charset="0"/>
                <a:ea typeface="Calibri" pitchFamily="34" charset="-122"/>
                <a:cs typeface="Calibri" pitchFamily="34" charset="-120"/>
              </a:rPr>
              <a:t>Exclusion list applied centrally at Step 14</a:t>
            </a:r>
            <a:endParaRPr lang="en-US" sz="1100" dirty="0"/>
          </a:p>
        </p:txBody>
      </p:sp>
      <p:sp>
        <p:nvSpPr>
          <p:cNvPr id="24" name="Text 22"/>
          <p:cNvSpPr/>
          <p:nvPr/>
        </p:nvSpPr>
        <p:spPr>
          <a:xfrm>
            <a:off x="429768" y="3429000"/>
            <a:ext cx="5358384" cy="877824"/>
          </a:xfrm>
          <a:prstGeom prst="rect">
            <a:avLst/>
          </a:prstGeom>
          <a:noFill/>
          <a:ln/>
        </p:spPr>
        <p:txBody>
          <a:bodyPr wrap="square" rtlCol="0" anchor="t"/>
          <a:lstStyle/>
          <a:p>
            <a:pPr indent="0" marL="0">
              <a:buNone/>
            </a:pPr>
            <a:r>
              <a:rPr lang="en-US" sz="950" dirty="0">
                <a:solidFill>
                  <a:srgbClr val="404040"/>
                </a:solidFill>
                <a:latin typeface="Calibri" pitchFamily="34" charset="0"/>
                <a:ea typeface="Calibri" pitchFamily="34" charset="-122"/>
                <a:cs typeface="Calibri" pitchFamily="34" charset="-120"/>
              </a:rPr>
              <a:t>The reference automation applied the exclusion list inconsistently — commented out in most collection queries and applied inline only in the Lead Orphan query. A central NOT EXISTS check at Step 14 provides single-point enforcement across all eight collection origins.</a:t>
            </a:r>
            <a:endParaRPr lang="en-US" sz="950" dirty="0"/>
          </a:p>
        </p:txBody>
      </p:sp>
      <p:sp>
        <p:nvSpPr>
          <p:cNvPr id="25" name="Shape 23"/>
          <p:cNvSpPr/>
          <p:nvPr/>
        </p:nvSpPr>
        <p:spPr>
          <a:xfrm>
            <a:off x="429768" y="4361688"/>
            <a:ext cx="5358384" cy="329184"/>
          </a:xfrm>
          <a:prstGeom prst="rect">
            <a:avLst/>
          </a:prstGeom>
          <a:solidFill>
            <a:srgbClr val="E2EFDA"/>
          </a:solidFill>
          <a:ln/>
        </p:spPr>
      </p:sp>
      <p:sp>
        <p:nvSpPr>
          <p:cNvPr id="26" name="Text 24"/>
          <p:cNvSpPr/>
          <p:nvPr/>
        </p:nvSpPr>
        <p:spPr>
          <a:xfrm>
            <a:off x="484632" y="4379976"/>
            <a:ext cx="5248656" cy="292608"/>
          </a:xfrm>
          <a:prstGeom prst="rect">
            <a:avLst/>
          </a:prstGeom>
          <a:noFill/>
          <a:ln/>
        </p:spPr>
        <p:txBody>
          <a:bodyPr wrap="square" rtlCol="0" anchor="ctr"/>
          <a:lstStyle/>
          <a:p>
            <a:pPr indent="0" marL="0">
              <a:buNone/>
            </a:pPr>
            <a:r>
              <a:rPr lang="en-US" sz="900" b="1" dirty="0">
                <a:solidFill>
                  <a:srgbClr val="375623"/>
                </a:solidFill>
                <a:latin typeface="Calibri" pitchFamily="34" charset="0"/>
                <a:ea typeface="Calibri" pitchFamily="34" charset="-122"/>
                <a:cs typeface="Calibri" pitchFamily="34" charset="-120"/>
              </a:rPr>
              <a:t>Impact: </a:t>
            </a:r>
            <a:pPr indent="0" marL="0">
              <a:buNone/>
            </a:pPr>
            <a:r>
              <a:rPr lang="en-US" sz="900" dirty="0">
                <a:solidFill>
                  <a:srgbClr val="375623"/>
                </a:solidFill>
                <a:latin typeface="Calibri" pitchFamily="34" charset="0"/>
                <a:ea typeface="Calibri" pitchFamily="34" charset="-122"/>
                <a:cs typeface="Calibri" pitchFamily="34" charset="-120"/>
              </a:rPr>
              <a:t>Consistent protection for all exclusion list contacts regardless of deletion criterion</a:t>
            </a:r>
            <a:endParaRPr lang="en-US" sz="900" dirty="0"/>
          </a:p>
        </p:txBody>
      </p:sp>
      <p:sp>
        <p:nvSpPr>
          <p:cNvPr id="27" name="Shape 25"/>
          <p:cNvSpPr/>
          <p:nvPr/>
        </p:nvSpPr>
        <p:spPr>
          <a:xfrm>
            <a:off x="6236208" y="2990088"/>
            <a:ext cx="5577840" cy="1755648"/>
          </a:xfrm>
          <a:prstGeom prst="rect">
            <a:avLst/>
          </a:prstGeom>
          <a:solidFill>
            <a:srgbClr val="F2F7FC"/>
          </a:solidFill>
          <a:ln w="6350">
            <a:solidFill>
              <a:srgbClr val="D0E4F5"/>
            </a:solidFill>
            <a:prstDash val="solid"/>
          </a:ln>
        </p:spPr>
      </p:sp>
      <p:sp>
        <p:nvSpPr>
          <p:cNvPr id="28" name="Shape 26"/>
          <p:cNvSpPr/>
          <p:nvPr/>
        </p:nvSpPr>
        <p:spPr>
          <a:xfrm>
            <a:off x="6236208" y="2990088"/>
            <a:ext cx="5577840" cy="54864"/>
          </a:xfrm>
          <a:prstGeom prst="rect">
            <a:avLst/>
          </a:prstGeom>
          <a:solidFill>
            <a:srgbClr val="2E75B6"/>
          </a:solidFill>
          <a:ln/>
        </p:spPr>
      </p:sp>
      <p:sp>
        <p:nvSpPr>
          <p:cNvPr id="29" name="Text 27"/>
          <p:cNvSpPr/>
          <p:nvPr/>
        </p:nvSpPr>
        <p:spPr>
          <a:xfrm>
            <a:off x="6345936" y="3081528"/>
            <a:ext cx="5358384" cy="329184"/>
          </a:xfrm>
          <a:prstGeom prst="rect">
            <a:avLst/>
          </a:prstGeom>
          <a:noFill/>
          <a:ln/>
        </p:spPr>
        <p:txBody>
          <a:bodyPr wrap="square" rtlCol="0" anchor="ctr"/>
          <a:lstStyle/>
          <a:p>
            <a:pPr indent="0" marL="0">
              <a:buNone/>
            </a:pPr>
            <a:r>
              <a:rPr lang="en-US" sz="1100" b="1" dirty="0">
                <a:solidFill>
                  <a:srgbClr val="1F4E79"/>
                </a:solidFill>
                <a:latin typeface="Calibri" pitchFamily="34" charset="0"/>
                <a:ea typeface="Calibri" pitchFamily="34" charset="-122"/>
                <a:cs typeface="Calibri" pitchFamily="34" charset="-120"/>
              </a:rPr>
              <a:t>MasterSentLog used for 180-day stale check</a:t>
            </a:r>
            <a:endParaRPr lang="en-US" sz="1100" dirty="0"/>
          </a:p>
        </p:txBody>
      </p:sp>
      <p:sp>
        <p:nvSpPr>
          <p:cNvPr id="30" name="Text 28"/>
          <p:cNvSpPr/>
          <p:nvPr/>
        </p:nvSpPr>
        <p:spPr>
          <a:xfrm>
            <a:off x="6345936" y="3429000"/>
            <a:ext cx="5358384" cy="877824"/>
          </a:xfrm>
          <a:prstGeom prst="rect">
            <a:avLst/>
          </a:prstGeom>
          <a:noFill/>
          <a:ln/>
        </p:spPr>
        <p:txBody>
          <a:bodyPr wrap="square" rtlCol="0" anchor="t"/>
          <a:lstStyle/>
          <a:p>
            <a:pPr indent="0" marL="0">
              <a:buNone/>
            </a:pPr>
            <a:r>
              <a:rPr lang="en-US" sz="950" dirty="0">
                <a:solidFill>
                  <a:srgbClr val="404040"/>
                </a:solidFill>
                <a:latin typeface="Calibri" pitchFamily="34" charset="0"/>
                <a:ea typeface="Calibri" pitchFamily="34" charset="-122"/>
                <a:cs typeface="Calibri" pitchFamily="34" charset="-120"/>
              </a:rPr>
              <a:t>The _Sent data view suffers from an overwrite problem — when a contact is sent to using an associated email address, _Subscribers and _Sent reflect the new email, losing history for the primary email. MasterSentLog records the actual email address at send time and is immune to this overwrite behaviour.</a:t>
            </a:r>
            <a:endParaRPr lang="en-US" sz="950" dirty="0"/>
          </a:p>
        </p:txBody>
      </p:sp>
      <p:sp>
        <p:nvSpPr>
          <p:cNvPr id="31" name="Shape 29"/>
          <p:cNvSpPr/>
          <p:nvPr/>
        </p:nvSpPr>
        <p:spPr>
          <a:xfrm>
            <a:off x="6345936" y="4361688"/>
            <a:ext cx="5358384" cy="329184"/>
          </a:xfrm>
          <a:prstGeom prst="rect">
            <a:avLst/>
          </a:prstGeom>
          <a:solidFill>
            <a:srgbClr val="E2EFDA"/>
          </a:solidFill>
          <a:ln/>
        </p:spPr>
      </p:sp>
      <p:sp>
        <p:nvSpPr>
          <p:cNvPr id="32" name="Text 30"/>
          <p:cNvSpPr/>
          <p:nvPr/>
        </p:nvSpPr>
        <p:spPr>
          <a:xfrm>
            <a:off x="6400800" y="4379976"/>
            <a:ext cx="5248656" cy="292608"/>
          </a:xfrm>
          <a:prstGeom prst="rect">
            <a:avLst/>
          </a:prstGeom>
          <a:noFill/>
          <a:ln/>
        </p:spPr>
        <p:txBody>
          <a:bodyPr wrap="square" rtlCol="0" anchor="ctr"/>
          <a:lstStyle/>
          <a:p>
            <a:pPr indent="0" marL="0">
              <a:buNone/>
            </a:pPr>
            <a:r>
              <a:rPr lang="en-US" sz="900" b="1" dirty="0">
                <a:solidFill>
                  <a:srgbClr val="375623"/>
                </a:solidFill>
                <a:latin typeface="Calibri" pitchFamily="34" charset="0"/>
                <a:ea typeface="Calibri" pitchFamily="34" charset="-122"/>
                <a:cs typeface="Calibri" pitchFamily="34" charset="-120"/>
              </a:rPr>
              <a:t>Impact: </a:t>
            </a:r>
            <a:pPr indent="0" marL="0">
              <a:buNone/>
            </a:pPr>
            <a:r>
              <a:rPr lang="en-US" sz="900" dirty="0">
                <a:solidFill>
                  <a:srgbClr val="375623"/>
                </a:solidFill>
                <a:latin typeface="Calibri" pitchFamily="34" charset="0"/>
                <a:ea typeface="Calibri" pitchFamily="34" charset="-122"/>
                <a:cs typeface="Calibri" pitchFamily="34" charset="-120"/>
              </a:rPr>
              <a:t>More accurate stale contact detection — avoids false positives from overwritten subscriber records</a:t>
            </a:r>
            <a:endParaRPr lang="en-US" sz="900" dirty="0"/>
          </a:p>
        </p:txBody>
      </p:sp>
      <p:sp>
        <p:nvSpPr>
          <p:cNvPr id="33" name="Shape 31"/>
          <p:cNvSpPr/>
          <p:nvPr/>
        </p:nvSpPr>
        <p:spPr>
          <a:xfrm>
            <a:off x="320040" y="4837176"/>
            <a:ext cx="5577840" cy="1755648"/>
          </a:xfrm>
          <a:prstGeom prst="rect">
            <a:avLst/>
          </a:prstGeom>
          <a:solidFill>
            <a:srgbClr val="F2F7FC"/>
          </a:solidFill>
          <a:ln w="6350">
            <a:solidFill>
              <a:srgbClr val="D0E4F5"/>
            </a:solidFill>
            <a:prstDash val="solid"/>
          </a:ln>
        </p:spPr>
      </p:sp>
      <p:sp>
        <p:nvSpPr>
          <p:cNvPr id="34" name="Shape 32"/>
          <p:cNvSpPr/>
          <p:nvPr/>
        </p:nvSpPr>
        <p:spPr>
          <a:xfrm>
            <a:off x="320040" y="4837176"/>
            <a:ext cx="5577840" cy="54864"/>
          </a:xfrm>
          <a:prstGeom prst="rect">
            <a:avLst/>
          </a:prstGeom>
          <a:solidFill>
            <a:srgbClr val="2E75B6"/>
          </a:solidFill>
          <a:ln/>
        </p:spPr>
      </p:sp>
      <p:sp>
        <p:nvSpPr>
          <p:cNvPr id="35" name="Text 33"/>
          <p:cNvSpPr/>
          <p:nvPr/>
        </p:nvSpPr>
        <p:spPr>
          <a:xfrm>
            <a:off x="429768" y="4928616"/>
            <a:ext cx="5358384" cy="329184"/>
          </a:xfrm>
          <a:prstGeom prst="rect">
            <a:avLst/>
          </a:prstGeom>
          <a:noFill/>
          <a:ln/>
        </p:spPr>
        <p:txBody>
          <a:bodyPr wrap="square" rtlCol="0" anchor="ctr"/>
          <a:lstStyle/>
          <a:p>
            <a:pPr indent="0" marL="0">
              <a:buNone/>
            </a:pPr>
            <a:r>
              <a:rPr lang="en-US" sz="1100" b="1" dirty="0">
                <a:solidFill>
                  <a:srgbClr val="1F4E79"/>
                </a:solidFill>
                <a:latin typeface="Calibri" pitchFamily="34" charset="0"/>
                <a:ea typeface="Calibri" pitchFamily="34" charset="-122"/>
                <a:cs typeface="Calibri" pitchFamily="34" charset="-120"/>
              </a:rPr>
              <a:t>Hard_Bounce_Suppression_List and Unsubscribe_From_All_Preferences as status source of truth</a:t>
            </a:r>
            <a:endParaRPr lang="en-US" sz="1100" dirty="0"/>
          </a:p>
        </p:txBody>
      </p:sp>
      <p:sp>
        <p:nvSpPr>
          <p:cNvPr id="36" name="Text 34"/>
          <p:cNvSpPr/>
          <p:nvPr/>
        </p:nvSpPr>
        <p:spPr>
          <a:xfrm>
            <a:off x="429768" y="5276088"/>
            <a:ext cx="5358384" cy="877824"/>
          </a:xfrm>
          <a:prstGeom prst="rect">
            <a:avLst/>
          </a:prstGeom>
          <a:noFill/>
          <a:ln/>
        </p:spPr>
        <p:txBody>
          <a:bodyPr wrap="square" rtlCol="0" anchor="t"/>
          <a:lstStyle/>
          <a:p>
            <a:pPr indent="0" marL="0">
              <a:buNone/>
            </a:pPr>
            <a:r>
              <a:rPr lang="en-US" sz="950" dirty="0">
                <a:solidFill>
                  <a:srgbClr val="404040"/>
                </a:solidFill>
                <a:latin typeface="Calibri" pitchFamily="34" charset="0"/>
                <a:ea typeface="Calibri" pitchFamily="34" charset="-122"/>
                <a:cs typeface="Calibri" pitchFamily="34" charset="-120"/>
              </a:rPr>
              <a:t>_Subscribers.Status is unreliable for the stale email check because the overwrite problem can reflect the associated email's status rather than the primary email's status. These two business-owned DEs are maintained independently and reflect the true opt-out and bounce state.</a:t>
            </a:r>
            <a:endParaRPr lang="en-US" sz="950" dirty="0"/>
          </a:p>
        </p:txBody>
      </p:sp>
      <p:sp>
        <p:nvSpPr>
          <p:cNvPr id="37" name="Shape 35"/>
          <p:cNvSpPr/>
          <p:nvPr/>
        </p:nvSpPr>
        <p:spPr>
          <a:xfrm>
            <a:off x="429768" y="6208776"/>
            <a:ext cx="5358384" cy="329184"/>
          </a:xfrm>
          <a:prstGeom prst="rect">
            <a:avLst/>
          </a:prstGeom>
          <a:solidFill>
            <a:srgbClr val="E2EFDA"/>
          </a:solidFill>
          <a:ln/>
        </p:spPr>
      </p:sp>
      <p:sp>
        <p:nvSpPr>
          <p:cNvPr id="38" name="Text 36"/>
          <p:cNvSpPr/>
          <p:nvPr/>
        </p:nvSpPr>
        <p:spPr>
          <a:xfrm>
            <a:off x="484632" y="6227064"/>
            <a:ext cx="5248656" cy="292608"/>
          </a:xfrm>
          <a:prstGeom prst="rect">
            <a:avLst/>
          </a:prstGeom>
          <a:noFill/>
          <a:ln/>
        </p:spPr>
        <p:txBody>
          <a:bodyPr wrap="square" rtlCol="0" anchor="ctr"/>
          <a:lstStyle/>
          <a:p>
            <a:pPr indent="0" marL="0">
              <a:buNone/>
            </a:pPr>
            <a:r>
              <a:rPr lang="en-US" sz="900" b="1" dirty="0">
                <a:solidFill>
                  <a:srgbClr val="375623"/>
                </a:solidFill>
                <a:latin typeface="Calibri" pitchFamily="34" charset="0"/>
                <a:ea typeface="Calibri" pitchFamily="34" charset="-122"/>
                <a:cs typeface="Calibri" pitchFamily="34" charset="-120"/>
              </a:rPr>
              <a:t>Impact: </a:t>
            </a:r>
            <a:pPr indent="0" marL="0">
              <a:buNone/>
            </a:pPr>
            <a:r>
              <a:rPr lang="en-US" sz="900" dirty="0">
                <a:solidFill>
                  <a:srgbClr val="375623"/>
                </a:solidFill>
                <a:latin typeface="Calibri" pitchFamily="34" charset="0"/>
                <a:ea typeface="Calibri" pitchFamily="34" charset="-122"/>
                <a:cs typeface="Calibri" pitchFamily="34" charset="-120"/>
              </a:rPr>
              <a:t>Step 13 stale email detection is based on reliable business-owned data rather than the volatile _Subscribers data view</a:t>
            </a:r>
            <a:endParaRPr lang="en-US" sz="900" dirty="0"/>
          </a:p>
        </p:txBody>
      </p:sp>
      <p:sp>
        <p:nvSpPr>
          <p:cNvPr id="39" name="Shape 37"/>
          <p:cNvSpPr/>
          <p:nvPr/>
        </p:nvSpPr>
        <p:spPr>
          <a:xfrm>
            <a:off x="6236208" y="4837176"/>
            <a:ext cx="5577840" cy="1755648"/>
          </a:xfrm>
          <a:prstGeom prst="rect">
            <a:avLst/>
          </a:prstGeom>
          <a:solidFill>
            <a:srgbClr val="F2F7FC"/>
          </a:solidFill>
          <a:ln w="6350">
            <a:solidFill>
              <a:srgbClr val="D0E4F5"/>
            </a:solidFill>
            <a:prstDash val="solid"/>
          </a:ln>
        </p:spPr>
      </p:sp>
      <p:sp>
        <p:nvSpPr>
          <p:cNvPr id="40" name="Shape 38"/>
          <p:cNvSpPr/>
          <p:nvPr/>
        </p:nvSpPr>
        <p:spPr>
          <a:xfrm>
            <a:off x="6236208" y="4837176"/>
            <a:ext cx="5577840" cy="54864"/>
          </a:xfrm>
          <a:prstGeom prst="rect">
            <a:avLst/>
          </a:prstGeom>
          <a:solidFill>
            <a:srgbClr val="2E75B6"/>
          </a:solidFill>
          <a:ln/>
        </p:spPr>
      </p:sp>
      <p:sp>
        <p:nvSpPr>
          <p:cNvPr id="41" name="Text 39"/>
          <p:cNvSpPr/>
          <p:nvPr/>
        </p:nvSpPr>
        <p:spPr>
          <a:xfrm>
            <a:off x="6345936" y="4928616"/>
            <a:ext cx="5358384" cy="329184"/>
          </a:xfrm>
          <a:prstGeom prst="rect">
            <a:avLst/>
          </a:prstGeom>
          <a:noFill/>
          <a:ln/>
        </p:spPr>
        <p:txBody>
          <a:bodyPr wrap="square" rtlCol="0" anchor="ctr"/>
          <a:lstStyle/>
          <a:p>
            <a:pPr indent="0" marL="0">
              <a:buNone/>
            </a:pPr>
            <a:r>
              <a:rPr lang="en-US" sz="1100" b="1" dirty="0">
                <a:solidFill>
                  <a:srgbClr val="1F4E79"/>
                </a:solidFill>
                <a:latin typeface="Calibri" pitchFamily="34" charset="0"/>
                <a:ea typeface="Calibri" pitchFamily="34" charset="-122"/>
                <a:cs typeface="Calibri" pitchFamily="34" charset="-120"/>
              </a:rPr>
              <a:t>CPE join uses OR condition in Step 13</a:t>
            </a:r>
            <a:endParaRPr lang="en-US" sz="1100" dirty="0"/>
          </a:p>
        </p:txBody>
      </p:sp>
      <p:sp>
        <p:nvSpPr>
          <p:cNvPr id="42" name="Text 40"/>
          <p:cNvSpPr/>
          <p:nvPr/>
        </p:nvSpPr>
        <p:spPr>
          <a:xfrm>
            <a:off x="6345936" y="5276088"/>
            <a:ext cx="5358384" cy="877824"/>
          </a:xfrm>
          <a:prstGeom prst="rect">
            <a:avLst/>
          </a:prstGeom>
          <a:noFill/>
          <a:ln/>
        </p:spPr>
        <p:txBody>
          <a:bodyPr wrap="square" rtlCol="0" anchor="t"/>
          <a:lstStyle/>
          <a:p>
            <a:pPr indent="0" marL="0">
              <a:buNone/>
            </a:pPr>
            <a:r>
              <a:rPr lang="en-US" sz="950" dirty="0">
                <a:solidFill>
                  <a:srgbClr val="404040"/>
                </a:solidFill>
                <a:latin typeface="Calibri" pitchFamily="34" charset="0"/>
                <a:ea typeface="Calibri" pitchFamily="34" charset="-122"/>
                <a:cs typeface="Calibri" pitchFamily="34" charset="-120"/>
              </a:rPr>
              <a:t>ContactPointEmail_Salesforce_5 stores Salesforce IDs in KPMG_Lead_Contact_Id__c. In Step 13, a subscriber's key could be either a Salesforce ID or an email address. Joining on SubscriberKey alone misses email-address-keyed subscribers who do have a CPE record linked via their email address.</a:t>
            </a:r>
            <a:endParaRPr lang="en-US" sz="950" dirty="0"/>
          </a:p>
        </p:txBody>
      </p:sp>
      <p:sp>
        <p:nvSpPr>
          <p:cNvPr id="43" name="Shape 41"/>
          <p:cNvSpPr/>
          <p:nvPr/>
        </p:nvSpPr>
        <p:spPr>
          <a:xfrm>
            <a:off x="6345936" y="6208776"/>
            <a:ext cx="5358384" cy="329184"/>
          </a:xfrm>
          <a:prstGeom prst="rect">
            <a:avLst/>
          </a:prstGeom>
          <a:solidFill>
            <a:srgbClr val="E2EFDA"/>
          </a:solidFill>
          <a:ln/>
        </p:spPr>
      </p:sp>
      <p:sp>
        <p:nvSpPr>
          <p:cNvPr id="44" name="Text 42"/>
          <p:cNvSpPr/>
          <p:nvPr/>
        </p:nvSpPr>
        <p:spPr>
          <a:xfrm>
            <a:off x="6400800" y="6227064"/>
            <a:ext cx="5248656" cy="292608"/>
          </a:xfrm>
          <a:prstGeom prst="rect">
            <a:avLst/>
          </a:prstGeom>
          <a:noFill/>
          <a:ln/>
        </p:spPr>
        <p:txBody>
          <a:bodyPr wrap="square" rtlCol="0" anchor="ctr"/>
          <a:lstStyle/>
          <a:p>
            <a:pPr indent="0" marL="0">
              <a:buNone/>
            </a:pPr>
            <a:r>
              <a:rPr lang="en-US" sz="900" b="1" dirty="0">
                <a:solidFill>
                  <a:srgbClr val="375623"/>
                </a:solidFill>
                <a:latin typeface="Calibri" pitchFamily="34" charset="0"/>
                <a:ea typeface="Calibri" pitchFamily="34" charset="-122"/>
                <a:cs typeface="Calibri" pitchFamily="34" charset="-120"/>
              </a:rPr>
              <a:t>Impact: </a:t>
            </a:r>
            <a:pPr indent="0" marL="0">
              <a:buNone/>
            </a:pPr>
            <a:r>
              <a:rPr lang="en-US" sz="900" dirty="0">
                <a:solidFill>
                  <a:srgbClr val="375623"/>
                </a:solidFill>
                <a:latin typeface="Calibri" pitchFamily="34" charset="0"/>
                <a:ea typeface="Calibri" pitchFamily="34" charset="-122"/>
                <a:cs typeface="Calibri" pitchFamily="34" charset="-120"/>
              </a:rPr>
              <a:t>Prevents false positives — contacts with a valid Sales Cloud identity are not incorrectly flagged as stale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2026-08-20T09:22:23Z</dcterms:created>
  <dcterms:modified xsi:type="dcterms:W3CDTF">2026-08-20T09:22:23Z</dcterms:modified>
</cp:coreProperties>
</file>