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00C3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92608"/>
            <a:ext cx="128016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292608"/>
            <a:ext cx="128016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292608"/>
            <a:ext cx="128016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" y="292608"/>
            <a:ext cx="128016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6583680" cy="2651760"/>
          </a:xfrm>
          <a:prstGeom prst="roundRect">
            <a:avLst>
              <a:gd name="adj" fmla="val 2414"/>
            </a:avLst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  <a:effectLst>
            <a:outerShdw sx="100000" sy="100000" kx="0" ky="0" algn="bl" rotWithShape="0" blurRad="50800" dist="12700" dir="5400000">
              <a:srgbClr val="999999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43000"/>
            <a:ext cx="6583680" cy="2651760"/>
          </a:xfrm>
          <a:prstGeom prst="roundRect">
            <a:avLst>
              <a:gd name="adj" fmla="val 2414"/>
            </a:avLst>
          </a:prstGeom>
          <a:solidFill>
            <a:srgbClr val="4169E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417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Updates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85800" y="19659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85800" y="27432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Marketing Cloud — Consent synchronization between Sales Cloud, All Subscribers &amp; Preference Data Extensions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6583680" cy="685800"/>
          </a:xfrm>
          <a:prstGeom prst="rect">
            <a:avLst/>
          </a:prstGeom>
          <a:solidFill>
            <a:srgbClr val="002D8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8770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Type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5800" y="40599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Implementation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880360" y="38770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880360" y="40599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Marketing Cloud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49240" y="38770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49240" y="40599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Himanshu Gupta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995160" y="38770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/ Date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995160" y="40599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| 12/25/2025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480560"/>
            <a:ext cx="6583680" cy="320040"/>
          </a:xfrm>
          <a:prstGeom prst="rect">
            <a:avLst/>
          </a:prstGeom>
          <a:solidFill>
            <a:srgbClr val="4169E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28575">
            <a:solidFill>
              <a:srgbClr val="0033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5" name="Shape 3"/>
          <p:cNvSpPr/>
          <p:nvPr/>
        </p:nvSpPr>
        <p:spPr>
          <a:xfrm>
            <a:off x="448056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6" name="Shape 4"/>
          <p:cNvSpPr/>
          <p:nvPr/>
        </p:nvSpPr>
        <p:spPr>
          <a:xfrm>
            <a:off x="530352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85089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68680" y="4773168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Delaware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873252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document defines the production automation that synchronizes subscriber consent across Salesforce Marketing Cloud, Sales Cloud, and preference management Data Extensions, keeping opt-in and opt-out status consistent everywhere a subscriber's consent is recorded.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5760" y="16916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Synchronizes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2057400"/>
            <a:ext cx="1993392" cy="777240"/>
          </a:xfrm>
          <a:prstGeom prst="roundRect">
            <a:avLst>
              <a:gd name="adj" fmla="val 7059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057400"/>
            <a:ext cx="54864" cy="777240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057400"/>
            <a:ext cx="1764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Marketing Cloud — All Subscribers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68880" y="2057400"/>
            <a:ext cx="1993392" cy="777240"/>
          </a:xfrm>
          <a:prstGeom prst="roundRect">
            <a:avLst>
              <a:gd name="adj" fmla="val 7059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2057400"/>
            <a:ext cx="54864" cy="777240"/>
          </a:xfrm>
          <a:prstGeom prst="rect">
            <a:avLst/>
          </a:prstGeom>
          <a:solidFill>
            <a:srgbClr val="2471A3"/>
          </a:solidFill>
          <a:ln/>
        </p:spPr>
      </p:sp>
      <p:sp>
        <p:nvSpPr>
          <p:cNvPr id="18" name="Text 16"/>
          <p:cNvSpPr/>
          <p:nvPr/>
        </p:nvSpPr>
        <p:spPr>
          <a:xfrm>
            <a:off x="2606040" y="2057400"/>
            <a:ext cx="1764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Cloud — Individual Firm Details (IFD)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2057400"/>
            <a:ext cx="1993392" cy="777240"/>
          </a:xfrm>
          <a:prstGeom prst="roundRect">
            <a:avLst>
              <a:gd name="adj" fmla="val 7059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057400"/>
            <a:ext cx="54864" cy="777240"/>
          </a:xfrm>
          <a:prstGeom prst="rect">
            <a:avLst/>
          </a:prstGeom>
          <a:solidFill>
            <a:srgbClr val="7B3F9E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2057400"/>
            <a:ext cx="1764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 Management Data Extensions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75120" y="2057400"/>
            <a:ext cx="1993392" cy="777240"/>
          </a:xfrm>
          <a:prstGeom prst="roundRect">
            <a:avLst>
              <a:gd name="adj" fmla="val 7059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75120" y="2057400"/>
            <a:ext cx="54864" cy="777240"/>
          </a:xfrm>
          <a:prstGeom prst="rect">
            <a:avLst/>
          </a:prstGeom>
          <a:solidFill>
            <a:srgbClr val="1A7A3A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2057400"/>
            <a:ext cx="1764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Unsubscribe (Header / RMM)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3063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Core Processes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5760" y="3429000"/>
            <a:ext cx="2715768" cy="1051560"/>
          </a:xfrm>
          <a:prstGeom prst="roundRect">
            <a:avLst>
              <a:gd name="adj" fmla="val 6087"/>
            </a:avLst>
          </a:prstGeom>
          <a:solidFill>
            <a:srgbClr val="F0FAF3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3566160"/>
            <a:ext cx="292608" cy="292608"/>
          </a:xfrm>
          <a:prstGeom prst="ellipse">
            <a:avLst/>
          </a:prstGeom>
          <a:solidFill>
            <a:srgbClr val="1A7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354787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Unsubscribed → Active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30352" y="3886200"/>
            <a:ext cx="2386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IFD shows Opt In / Opt In Pending after the unsubscribe date — subscriber is re-activated in All Subscribers.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18688" y="3429000"/>
            <a:ext cx="2715768" cy="1051560"/>
          </a:xfrm>
          <a:prstGeom prst="roundRect">
            <a:avLst>
              <a:gd name="adj" fmla="val 6087"/>
            </a:avLst>
          </a:prstGeom>
          <a:solidFill>
            <a:srgbClr val="FEF2F2"/>
          </a:solidFill>
          <a:ln w="12700">
            <a:solidFill>
              <a:srgbClr val="F194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3280" y="3566160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338328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67328" y="354787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→ Unsubscribed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383280" y="3886200"/>
            <a:ext cx="2386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IFD shows Opt Out — subscriber is unsubscribed in All Subscribers and preference DEs are updated.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71616" y="3429000"/>
            <a:ext cx="2715768" cy="1051560"/>
          </a:xfrm>
          <a:prstGeom prst="roundRect">
            <a:avLst>
              <a:gd name="adj" fmla="val 6087"/>
            </a:avLst>
          </a:prstGeom>
          <a:solidFill>
            <a:srgbClr val="EAF4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36208" y="3566160"/>
            <a:ext cx="292608" cy="292608"/>
          </a:xfrm>
          <a:prstGeom prst="ellipse">
            <a:avLst/>
          </a:prstGeom>
          <a:solidFill>
            <a:srgbClr val="2471A3"/>
          </a:solidFill>
          <a:ln/>
        </p:spPr>
      </p:sp>
      <p:sp>
        <p:nvSpPr>
          <p:cNvPr id="38" name="Text 36"/>
          <p:cNvSpPr/>
          <p:nvPr/>
        </p:nvSpPr>
        <p:spPr>
          <a:xfrm>
            <a:off x="6236208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620256" y="354787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Unsubscribes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236208" y="3886200"/>
            <a:ext cx="2386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header unsubscribe or RMM reply — captured, expanded to associated emails, and synced back to Sales Cloud.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End-to-End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28575">
            <a:solidFill>
              <a:srgbClr val="0033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5" name="Shape 3"/>
          <p:cNvSpPr/>
          <p:nvPr/>
        </p:nvSpPr>
        <p:spPr>
          <a:xfrm>
            <a:off x="448056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6" name="Shape 4"/>
          <p:cNvSpPr/>
          <p:nvPr/>
        </p:nvSpPr>
        <p:spPr>
          <a:xfrm>
            <a:off x="530352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85089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68680" y="4773168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Delaware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873252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path: my automations / 09. Preference / B. Daily &gt; Consent Updates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325880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490472"/>
            <a:ext cx="365760" cy="365760"/>
          </a:xfrm>
          <a:prstGeom prst="ellipse">
            <a:avLst/>
          </a:prstGeom>
          <a:solidFill>
            <a:srgbClr val="00338D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352" y="1947672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Extraction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30352" y="2286000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relevant Leads/Contacts and subscription data from IFD + CPE + _Subscribers.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063240" y="18288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46120" y="1325880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10712" y="1490472"/>
            <a:ext cx="365760" cy="365760"/>
          </a:xfrm>
          <a:prstGeom prst="ellipse">
            <a:avLst/>
          </a:prstGeom>
          <a:solidFill>
            <a:srgbClr val="00338D"/>
          </a:solidFill>
          <a:ln/>
        </p:spPr>
      </p:sp>
      <p:sp>
        <p:nvSpPr>
          <p:cNvPr id="20" name="Text 18"/>
          <p:cNvSpPr/>
          <p:nvPr/>
        </p:nvSpPr>
        <p:spPr>
          <a:xfrm>
            <a:off x="3410712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10712" y="1947672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410712" y="2286000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ROW_NUMBER() partitioned by Email / SubscriberKey.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0" y="18288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26480" y="1325880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91072" y="1490472"/>
            <a:ext cx="365760" cy="365760"/>
          </a:xfrm>
          <a:prstGeom prst="ellipse">
            <a:avLst/>
          </a:prstGeom>
          <a:solidFill>
            <a:srgbClr val="00338D"/>
          </a:solidFill>
          <a:ln/>
        </p:spPr>
      </p:sp>
      <p:sp>
        <p:nvSpPr>
          <p:cNvPr id="26" name="Text 24"/>
          <p:cNvSpPr/>
          <p:nvPr/>
        </p:nvSpPr>
        <p:spPr>
          <a:xfrm>
            <a:off x="6291072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91072" y="1947672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 Preparation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291072" y="2286000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Populate the final DE with EmailAddress, SubscriberKey, and Status (Active / Unsubscribed).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090672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0352" y="3255264"/>
            <a:ext cx="365760" cy="365760"/>
          </a:xfrm>
          <a:prstGeom prst="ellipse">
            <a:avLst/>
          </a:prstGeom>
          <a:solidFill>
            <a:srgbClr val="00338D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" y="3255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30352" y="3712464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→ Transfer → Import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30352" y="4050792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Extract to CSV, File Transfer to Safehouse/FTP, then Import into All Subscribers — avoids SSJS write limits.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063240" y="359359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246120" y="3090672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10712" y="3255264"/>
            <a:ext cx="365760" cy="365760"/>
          </a:xfrm>
          <a:prstGeom prst="ellipse">
            <a:avLst/>
          </a:prstGeom>
          <a:solidFill>
            <a:srgbClr val="00338D"/>
          </a:solidFill>
          <a:ln/>
        </p:spPr>
      </p:sp>
      <p:sp>
        <p:nvSpPr>
          <p:cNvPr id="37" name="Text 35"/>
          <p:cNvSpPr/>
          <p:nvPr/>
        </p:nvSpPr>
        <p:spPr>
          <a:xfrm>
            <a:off x="3410712" y="3255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410712" y="3712464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Post-Update DE Maintenance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410712" y="4050792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Append/upsert audit DEs, update preference DEs, remove entries from relevant DEs.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943600" y="359359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26480" y="3090672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91072" y="3255264"/>
            <a:ext cx="365760" cy="365760"/>
          </a:xfrm>
          <a:prstGeom prst="ellipse">
            <a:avLst/>
          </a:prstGeom>
          <a:solidFill>
            <a:srgbClr val="00338D"/>
          </a:solidFill>
          <a:ln/>
        </p:spPr>
      </p:sp>
      <p:sp>
        <p:nvSpPr>
          <p:cNvPr id="43" name="Text 41"/>
          <p:cNvSpPr/>
          <p:nvPr/>
        </p:nvSpPr>
        <p:spPr>
          <a:xfrm>
            <a:off x="6291072" y="3255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291072" y="3712464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Logging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291072" y="4050792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script activity writes failures to ConsentUpdates_Error_Log.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Extensions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28575">
            <a:solidFill>
              <a:srgbClr val="0033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5" name="Shape 3"/>
          <p:cNvSpPr/>
          <p:nvPr/>
        </p:nvSpPr>
        <p:spPr>
          <a:xfrm>
            <a:off x="448056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6" name="Shape 4"/>
          <p:cNvSpPr/>
          <p:nvPr/>
        </p:nvSpPr>
        <p:spPr>
          <a:xfrm>
            <a:off x="530352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85089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68680" y="4773168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Delaware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873252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following Data Extensions are referenced across the Consent Updates automation and related unsubscribe solutions.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298448"/>
            <a:ext cx="271576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298448"/>
            <a:ext cx="2715768" cy="54864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" y="1426464"/>
            <a:ext cx="2459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Audit_Preferences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3776" y="1865376"/>
            <a:ext cx="2459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of consent activities — Activity, Date, Initiated_By, Preference_ID, Source, Job/Campaign.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18688" y="1298448"/>
            <a:ext cx="271576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1298448"/>
            <a:ext cx="2715768" cy="54864"/>
          </a:xfrm>
          <a:prstGeom prst="rect">
            <a:avLst/>
          </a:prstGeom>
          <a:solidFill>
            <a:srgbClr val="1A7A3A"/>
          </a:solidFill>
          <a:ln/>
        </p:spPr>
      </p:sp>
      <p:sp>
        <p:nvSpPr>
          <p:cNvPr id="18" name="Text 16"/>
          <p:cNvSpPr/>
          <p:nvPr/>
        </p:nvSpPr>
        <p:spPr>
          <a:xfrm>
            <a:off x="3346704" y="1426464"/>
            <a:ext cx="2459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Subscriber_Preferences_Email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46704" y="1865376"/>
            <a:ext cx="2459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active preference enrollments used for segmentation and preference management.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71616" y="1298448"/>
            <a:ext cx="271576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71616" y="1298448"/>
            <a:ext cx="2715768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6199632" y="1426464"/>
            <a:ext cx="2459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Unsubscriber_Preferences_Email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99632" y="1865376"/>
            <a:ext cx="2459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preference-level unenrollments when users opt out.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734056"/>
            <a:ext cx="271576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734056"/>
            <a:ext cx="2715768" cy="54864"/>
          </a:xfrm>
          <a:prstGeom prst="rect">
            <a:avLst/>
          </a:prstGeom>
          <a:solidFill>
            <a:srgbClr val="D4800A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" y="2862072"/>
            <a:ext cx="2459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48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Unsubscribe_From_All_Preferences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3776" y="3300984"/>
            <a:ext cx="2459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global unsubscribe status for users / email addresses.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18688" y="2734056"/>
            <a:ext cx="271576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18688" y="2734056"/>
            <a:ext cx="2715768" cy="54864"/>
          </a:xfrm>
          <a:prstGeom prst="rect">
            <a:avLst/>
          </a:prstGeom>
          <a:solidFill>
            <a:srgbClr val="2471A3"/>
          </a:solidFill>
          <a:ln/>
        </p:spPr>
      </p:sp>
      <p:sp>
        <p:nvSpPr>
          <p:cNvPr id="30" name="Text 28"/>
          <p:cNvSpPr/>
          <p:nvPr/>
        </p:nvSpPr>
        <p:spPr>
          <a:xfrm>
            <a:off x="3346704" y="2862072"/>
            <a:ext cx="2459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ConsentUpdates_Recordkeeper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346704" y="3300984"/>
            <a:ext cx="2459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recordkeeping for all consent update activities. Retention target: 90 days.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71616" y="2734056"/>
            <a:ext cx="271576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71616" y="2734056"/>
            <a:ext cx="2715768" cy="54864"/>
          </a:xfrm>
          <a:prstGeom prst="rect">
            <a:avLst/>
          </a:prstGeom>
          <a:solidFill>
            <a:srgbClr val="7B3F9E"/>
          </a:solidFill>
          <a:ln/>
        </p:spPr>
      </p:sp>
      <p:sp>
        <p:nvSpPr>
          <p:cNvPr id="34" name="Text 32"/>
          <p:cNvSpPr/>
          <p:nvPr/>
        </p:nvSpPr>
        <p:spPr>
          <a:xfrm>
            <a:off x="6199632" y="2862072"/>
            <a:ext cx="2459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7B3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ConsentUpdates_Error_Log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199632" y="3300984"/>
            <a:ext cx="2459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error log for SSJS failures and processing issues.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A053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92608"/>
            <a:ext cx="128016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292608"/>
            <a:ext cx="128016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292608"/>
            <a:ext cx="128016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" y="292608"/>
            <a:ext cx="128016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6583680" cy="2743200"/>
          </a:xfrm>
          <a:prstGeom prst="roundRect">
            <a:avLst>
              <a:gd name="adj" fmla="val 2333"/>
            </a:avLst>
          </a:prstGeom>
          <a:solidFill>
            <a:srgbClr val="7B3F9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17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Scenarios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85800" y="21488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consent-change journeys the automation detects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keeps in sync across every system of record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246120"/>
            <a:ext cx="1155802" cy="365760"/>
          </a:xfrm>
          <a:prstGeom prst="roundRect">
            <a:avLst>
              <a:gd name="adj" fmla="val 50000"/>
            </a:avLst>
          </a:prstGeom>
          <a:solidFill>
            <a:srgbClr val="6A2E8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246120"/>
            <a:ext cx="1155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Re-subscribe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978762" y="3246120"/>
            <a:ext cx="1680667" cy="365760"/>
          </a:xfrm>
          <a:prstGeom prst="roundRect">
            <a:avLst>
              <a:gd name="adj" fmla="val 50000"/>
            </a:avLst>
          </a:prstGeom>
          <a:solidFill>
            <a:srgbClr val="6A2E86"/>
          </a:solidFill>
          <a:ln/>
        </p:spPr>
      </p:sp>
      <p:sp>
        <p:nvSpPr>
          <p:cNvPr id="14" name="Text 12"/>
          <p:cNvSpPr/>
          <p:nvPr/>
        </p:nvSpPr>
        <p:spPr>
          <a:xfrm>
            <a:off x="1978762" y="3246120"/>
            <a:ext cx="16806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Cloud Opt-out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96589" y="3246120"/>
            <a:ext cx="1230782" cy="365760"/>
          </a:xfrm>
          <a:prstGeom prst="roundRect">
            <a:avLst>
              <a:gd name="adj" fmla="val 50000"/>
            </a:avLst>
          </a:prstGeom>
          <a:solidFill>
            <a:srgbClr val="6A2E86"/>
          </a:solidFill>
          <a:ln/>
        </p:spPr>
      </p:sp>
      <p:sp>
        <p:nvSpPr>
          <p:cNvPr id="16" name="Text 14"/>
          <p:cNvSpPr/>
          <p:nvPr/>
        </p:nvSpPr>
        <p:spPr>
          <a:xfrm>
            <a:off x="3796589" y="3246120"/>
            <a:ext cx="12307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/ RMM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6583680" cy="640080"/>
          </a:xfrm>
          <a:prstGeom prst="rect">
            <a:avLst/>
          </a:prstGeom>
          <a:solidFill>
            <a:srgbClr val="1A0538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767328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C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scenario covers primary and associated email addresses, updates Sales Cloud and SFMC together, and writes a full audit and recordkeeping trail.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6583680" cy="320040"/>
          </a:xfrm>
          <a:prstGeom prst="rect">
            <a:avLst/>
          </a:prstGeom>
          <a:solidFill>
            <a:srgbClr val="7B3F9E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1 — Re-subscribe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28575">
            <a:solidFill>
              <a:srgbClr val="0033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5" name="Shape 3"/>
          <p:cNvSpPr/>
          <p:nvPr/>
        </p:nvSpPr>
        <p:spPr>
          <a:xfrm>
            <a:off x="448056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6" name="Shape 4"/>
          <p:cNvSpPr/>
          <p:nvPr/>
        </p:nvSpPr>
        <p:spPr>
          <a:xfrm>
            <a:off x="530352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85089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68680" y="4773168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Delaware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873252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896112"/>
            <a:ext cx="1817827" cy="310896"/>
          </a:xfrm>
          <a:prstGeom prst="roundRect">
            <a:avLst>
              <a:gd name="adj" fmla="val 50000"/>
            </a:avLst>
          </a:prstGeom>
          <a:solidFill>
            <a:srgbClr val="F0FAF3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896112"/>
            <a:ext cx="181782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Unsubscribed → Active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371600"/>
            <a:ext cx="8412480" cy="1051560"/>
          </a:xfrm>
          <a:prstGeom prst="roundRect">
            <a:avLst>
              <a:gd name="adj" fmla="val 5217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705356"/>
            <a:ext cx="384048" cy="384048"/>
          </a:xfrm>
          <a:prstGeom prst="ellipse">
            <a:avLst/>
          </a:prstGeom>
          <a:solidFill>
            <a:srgbClr val="1A7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17053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148132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51560" y="17373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Cloud IFD consent status changes to Opt In or Opt In Pending, with Consent Capture Date on/after the DateUnsubscribed value in All Subscribers.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587752"/>
            <a:ext cx="8412480" cy="1051560"/>
          </a:xfrm>
          <a:prstGeom prst="roundRect">
            <a:avLst>
              <a:gd name="adj" fmla="val 5217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2921508"/>
            <a:ext cx="384048" cy="384048"/>
          </a:xfrm>
          <a:prstGeom prst="ellipse">
            <a:avLst/>
          </a:prstGeom>
          <a:solidFill>
            <a:srgbClr val="1A7A3A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29215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1560" y="269748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51560" y="295351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Cloud updates consent → Consent Updates automation detects eligible records → updates All Subscribers to Active → updates Audit / Recordkeeper → cleans up unsubscribe tracking.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803904"/>
            <a:ext cx="8412480" cy="786384"/>
          </a:xfrm>
          <a:prstGeom prst="roundRect">
            <a:avLst>
              <a:gd name="adj" fmla="val 6977"/>
            </a:avLst>
          </a:prstGeom>
          <a:solidFill>
            <a:srgbClr val="F0FAF3"/>
          </a:solidFill>
          <a:ln w="15875">
            <a:solidFill>
              <a:srgbClr val="A9DF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3950208"/>
            <a:ext cx="365760" cy="365760"/>
          </a:xfrm>
          <a:prstGeom prst="ellipse">
            <a:avLst/>
          </a:prstGeom>
          <a:solidFill>
            <a:srgbClr val="1A7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33272" y="392277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33272" y="418795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and associated email addresses become Active in All Subscribers. Audit and recordkeeping entries are created, and related entries are removed from Unsubscribe_From_All_Preferences where applicable.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2 — Opt-out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28575">
            <a:solidFill>
              <a:srgbClr val="0033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5" name="Shape 3"/>
          <p:cNvSpPr/>
          <p:nvPr/>
        </p:nvSpPr>
        <p:spPr>
          <a:xfrm>
            <a:off x="448056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6" name="Shape 4"/>
          <p:cNvSpPr/>
          <p:nvPr/>
        </p:nvSpPr>
        <p:spPr>
          <a:xfrm>
            <a:off x="530352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85089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68680" y="4773168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Delaware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873252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896112"/>
            <a:ext cx="2174443" cy="310896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194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896112"/>
            <a:ext cx="21744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Active/Held → Unsubscribed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371600"/>
            <a:ext cx="8412480" cy="1051560"/>
          </a:xfrm>
          <a:prstGeom prst="roundRect">
            <a:avLst>
              <a:gd name="adj" fmla="val 5217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705356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17053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148132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51560" y="17373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Cloud IFD consent status changes to Opt Out (Consent Capture Date present) while the subscriber status is Active or Held in All Subscribers.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587752"/>
            <a:ext cx="8412480" cy="1051560"/>
          </a:xfrm>
          <a:prstGeom prst="roundRect">
            <a:avLst>
              <a:gd name="adj" fmla="val 5217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292150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29215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1560" y="269748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51560" y="295351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Cloud updates consent → Consent Updates automation detects eligible records → updates All Subscribers to Unsubscribed → writes Unsubscriber_Preferences_Email + Unsubscribe_From_All_Preferences + Audit → removes from Subscriber_Preferences_Email → writes Recordkeeper.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803904"/>
            <a:ext cx="8412480" cy="786384"/>
          </a:xfrm>
          <a:prstGeom prst="roundRect">
            <a:avLst>
              <a:gd name="adj" fmla="val 6977"/>
            </a:avLst>
          </a:prstGeom>
          <a:solidFill>
            <a:srgbClr val="FEF2F2"/>
          </a:solidFill>
          <a:ln w="15875">
            <a:solidFill>
              <a:srgbClr val="F194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3950208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33272" y="392277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33272" y="418795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and associated email addresses become Unsubscribed in All Subscribers. Preference enrollment records are removed from the active preference DE, and audit and recordkeeping entries are created.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3 — Email-initiated Opt-out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28575">
            <a:solidFill>
              <a:srgbClr val="0033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5" name="Shape 3"/>
          <p:cNvSpPr/>
          <p:nvPr/>
        </p:nvSpPr>
        <p:spPr>
          <a:xfrm>
            <a:off x="448056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6" name="Shape 4"/>
          <p:cNvSpPr/>
          <p:nvPr/>
        </p:nvSpPr>
        <p:spPr>
          <a:xfrm>
            <a:off x="530352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85089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68680" y="4773168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Delaware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873252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896112"/>
            <a:ext cx="2031797" cy="310896"/>
          </a:xfrm>
          <a:prstGeom prst="roundRect">
            <a:avLst>
              <a:gd name="adj" fmla="val 50000"/>
            </a:avLst>
          </a:prstGeom>
          <a:solidFill>
            <a:srgbClr val="EAF4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896112"/>
            <a:ext cx="20317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Unsubscribe / RMM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371600"/>
            <a:ext cx="8412480" cy="1051560"/>
          </a:xfrm>
          <a:prstGeom prst="roundRect">
            <a:avLst>
              <a:gd name="adj" fmla="val 5217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705356"/>
            <a:ext cx="384048" cy="384048"/>
          </a:xfrm>
          <a:prstGeom prst="ellipse">
            <a:avLst/>
          </a:prstGeom>
          <a:solidFill>
            <a:srgbClr val="2471A3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17053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148132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51560" y="17373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 unsubscribes via the email header unsubscribe link or via Reply Mail Management (RMM).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587752"/>
            <a:ext cx="8412480" cy="1051560"/>
          </a:xfrm>
          <a:prstGeom prst="roundRect">
            <a:avLst>
              <a:gd name="adj" fmla="val 5217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2921508"/>
            <a:ext cx="384048" cy="384048"/>
          </a:xfrm>
          <a:prstGeom prst="ellipse">
            <a:avLst/>
          </a:prstGeom>
          <a:solidFill>
            <a:srgbClr val="2471A3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29215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1560" y="269748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51560" y="295351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Unsubscribe event captured in SFMC → Consent Updates expands to associated emails → updates All Subscribers to Unsubscribed → updates Sales Cloud IFD consent to Opt Out → updates preference/audit DEs → removes active preference records → logs errors when needed.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803904"/>
            <a:ext cx="8412480" cy="786384"/>
          </a:xfrm>
          <a:prstGeom prst="roundRect">
            <a:avLst>
              <a:gd name="adj" fmla="val 6977"/>
            </a:avLst>
          </a:prstGeom>
          <a:solidFill>
            <a:srgbClr val="EAF4FB"/>
          </a:solidFill>
          <a:ln w="15875">
            <a:solidFill>
              <a:srgbClr val="AED6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3950208"/>
            <a:ext cx="365760" cy="365760"/>
          </a:xfrm>
          <a:prstGeom prst="ellipse">
            <a:avLst/>
          </a:prstGeom>
          <a:solidFill>
            <a:srgbClr val="2471A3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33272" y="392277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33272" y="418795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 is unsubscribed in SFMC for primary and associated emails. Sales Cloud consent is aligned to Opt Out, and audit, unsubscribe-tracking, and recordkeeping are updated.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Steps — Process 1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28575">
            <a:solidFill>
              <a:srgbClr val="0033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5" name="Shape 3"/>
          <p:cNvSpPr/>
          <p:nvPr/>
        </p:nvSpPr>
        <p:spPr>
          <a:xfrm>
            <a:off x="448056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6" name="Shape 4"/>
          <p:cNvSpPr/>
          <p:nvPr/>
        </p:nvSpPr>
        <p:spPr>
          <a:xfrm>
            <a:off x="530352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85089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68680" y="4773168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Delaware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873252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896112"/>
            <a:ext cx="961949" cy="292608"/>
          </a:xfrm>
          <a:prstGeom prst="roundRect">
            <a:avLst>
              <a:gd name="adj" fmla="val 50000"/>
            </a:avLst>
          </a:prstGeom>
          <a:solidFill>
            <a:srgbClr val="F0FAF3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896112"/>
            <a:ext cx="9619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64869" y="896112"/>
            <a:ext cx="73133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1–12 · Change All Subscribers from Unsubscribed → Active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1325880"/>
            <a:ext cx="8412480" cy="441960"/>
          </a:xfrm>
          <a:prstGeom prst="roundRect">
            <a:avLst>
              <a:gd name="adj" fmla="val 11379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382268"/>
            <a:ext cx="329184" cy="329184"/>
          </a:xfrm>
          <a:prstGeom prst="ellipse">
            <a:avLst/>
          </a:prstGeom>
          <a:solidFill>
            <a:srgbClr val="1A7A3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3822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1380744"/>
            <a:ext cx="233172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A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eligible records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1380744"/>
            <a:ext cx="52578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Lead &amp; Contact records where IFD consent is Opt In / Opt In Pending and the consent capture date is on/after the unsubscribe date (Steps 1–2).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1877568"/>
            <a:ext cx="8412480" cy="441960"/>
          </a:xfrm>
          <a:prstGeom prst="roundRect">
            <a:avLst>
              <a:gd name="adj" fmla="val 11379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1933956"/>
            <a:ext cx="329184" cy="329184"/>
          </a:xfrm>
          <a:prstGeom prst="ellipse">
            <a:avLst/>
          </a:prstGeom>
          <a:solidFill>
            <a:srgbClr val="1A7A3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19339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1932432"/>
            <a:ext cx="233172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A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final payload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1932432"/>
            <a:ext cx="52578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deduplicated Active-status payload for import (Step 3).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429256"/>
            <a:ext cx="8412480" cy="441960"/>
          </a:xfrm>
          <a:prstGeom prst="roundRect">
            <a:avLst>
              <a:gd name="adj" fmla="val 11379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2485644"/>
            <a:ext cx="329184" cy="329184"/>
          </a:xfrm>
          <a:prstGeom prst="ellipse">
            <a:avLst/>
          </a:prstGeom>
          <a:solidFill>
            <a:srgbClr val="1A7A3A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24856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2484120"/>
            <a:ext cx="233172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A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→ Transfer → Import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2484120"/>
            <a:ext cx="52578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Extract to CSV, File Transfer to Safehouse/FTP, Import into All Subscribers (Steps 4–6).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2980944"/>
            <a:ext cx="8412480" cy="441960"/>
          </a:xfrm>
          <a:prstGeom prst="roundRect">
            <a:avLst>
              <a:gd name="adj" fmla="val 11379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037332"/>
            <a:ext cx="329184" cy="329184"/>
          </a:xfrm>
          <a:prstGeom prst="ellipse">
            <a:avLst/>
          </a:prstGeom>
          <a:solidFill>
            <a:srgbClr val="1A7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0373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0120" y="3035808"/>
            <a:ext cx="233172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A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up tracking DE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83280" y="3035808"/>
            <a:ext cx="52578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re-activated users from Unsubscribe_From_All_Preferences via SSJS (Steps 7–8).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532632"/>
            <a:ext cx="8412480" cy="441960"/>
          </a:xfrm>
          <a:prstGeom prst="roundRect">
            <a:avLst>
              <a:gd name="adj" fmla="val 11379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3589020"/>
            <a:ext cx="329184" cy="329184"/>
          </a:xfrm>
          <a:prstGeom prst="ellipse">
            <a:avLst/>
          </a:prstGeom>
          <a:solidFill>
            <a:srgbClr val="1A7A3A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35890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0120" y="3587496"/>
            <a:ext cx="233172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A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audit trail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83280" y="3587496"/>
            <a:ext cx="52578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Lead and Contact re-subscription events into Audit_Preferences (Steps 9–10).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4084320"/>
            <a:ext cx="8412480" cy="441960"/>
          </a:xfrm>
          <a:prstGeom prst="roundRect">
            <a:avLst>
              <a:gd name="adj" fmla="val 11379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4140708"/>
            <a:ext cx="329184" cy="329184"/>
          </a:xfrm>
          <a:prstGeom prst="ellipse">
            <a:avLst/>
          </a:prstGeom>
          <a:solidFill>
            <a:srgbClr val="1A7A3A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41407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60120" y="4139184"/>
            <a:ext cx="233172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A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Recordkeeper &amp; wait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83280" y="4139184"/>
            <a:ext cx="52578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activation entries into ConsentUpdates_Recordkeeper, then wait before Process 2 (Steps 11–12).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Steps — Process 2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28575">
            <a:solidFill>
              <a:srgbClr val="0033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5" name="Shape 3"/>
          <p:cNvSpPr/>
          <p:nvPr/>
        </p:nvSpPr>
        <p:spPr>
          <a:xfrm>
            <a:off x="448056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6" name="Shape 4"/>
          <p:cNvSpPr/>
          <p:nvPr/>
        </p:nvSpPr>
        <p:spPr>
          <a:xfrm>
            <a:off x="530352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85089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68680" y="4773168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Delaware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873252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896112"/>
            <a:ext cx="961949" cy="292608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194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896112"/>
            <a:ext cx="9619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64869" y="896112"/>
            <a:ext cx="73133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13–27 · Change All Subscribers from Active/Held → Unsubscribed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1325880"/>
            <a:ext cx="8412480" cy="441960"/>
          </a:xfrm>
          <a:prstGeom prst="roundRect">
            <a:avLst>
              <a:gd name="adj" fmla="val 11379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382268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3822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1380744"/>
            <a:ext cx="233172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eligible records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1380744"/>
            <a:ext cx="52578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Lead &amp; Contact records where IFD consent is Opt Out and the subscriber status is Active or Held (Steps 13–14).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1877568"/>
            <a:ext cx="8412480" cy="441960"/>
          </a:xfrm>
          <a:prstGeom prst="roundRect">
            <a:avLst>
              <a:gd name="adj" fmla="val 11379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1933956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19339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1932432"/>
            <a:ext cx="233172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&amp; import payload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1932432"/>
            <a:ext cx="52578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Unsubscribed-status payload and extract → transfer → import into All Subscribers (Steps 15–18).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429256"/>
            <a:ext cx="8412480" cy="441960"/>
          </a:xfrm>
          <a:prstGeom prst="roundRect">
            <a:avLst>
              <a:gd name="adj" fmla="val 11379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2485644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24856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2484120"/>
            <a:ext cx="233172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preference DEs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2484120"/>
            <a:ext cx="52578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Unsubscriber_Preferences_Email and Unsubscribe_From_All_Preferences (Steps 19, 21).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2980944"/>
            <a:ext cx="8412480" cy="441960"/>
          </a:xfrm>
          <a:prstGeom prst="roundRect">
            <a:avLst>
              <a:gd name="adj" fmla="val 11379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037332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0373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0120" y="3035808"/>
            <a:ext cx="233172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audit trail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83280" y="3035808"/>
            <a:ext cx="52578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Sales Cloud opt-out events into Audit_Preferences from both preference and unsubscribe-all sources (Steps 20, 22).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532632"/>
            <a:ext cx="8412480" cy="441960"/>
          </a:xfrm>
          <a:prstGeom prst="roundRect">
            <a:avLst>
              <a:gd name="adj" fmla="val 11379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3589020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35890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0120" y="3587496"/>
            <a:ext cx="233172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Recordkeeper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83280" y="3587496"/>
            <a:ext cx="52578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opt-out entries into ConsentUpdates_Recordkeeper from both event sources (Steps 23–24).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4084320"/>
            <a:ext cx="8412480" cy="441960"/>
          </a:xfrm>
          <a:prstGeom prst="roundRect">
            <a:avLst>
              <a:gd name="adj" fmla="val 11379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4140708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41407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60120" y="4139184"/>
            <a:ext cx="233172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Dedupe, cleanup &amp; wait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83280" y="4139184"/>
            <a:ext cx="52578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duplicates, remove users from Subscriber_Preferences_Email, then wait before Process 3 (Steps 25–27).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Steps — Process 3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28575">
            <a:solidFill>
              <a:srgbClr val="0033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5" name="Shape 3"/>
          <p:cNvSpPr/>
          <p:nvPr/>
        </p:nvSpPr>
        <p:spPr>
          <a:xfrm>
            <a:off x="448056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6" name="Shape 4"/>
          <p:cNvSpPr/>
          <p:nvPr/>
        </p:nvSpPr>
        <p:spPr>
          <a:xfrm>
            <a:off x="530352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85089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68680" y="4773168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Delaware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873252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896112"/>
            <a:ext cx="961949" cy="292608"/>
          </a:xfrm>
          <a:prstGeom prst="roundRect">
            <a:avLst>
              <a:gd name="adj" fmla="val 50000"/>
            </a:avLst>
          </a:prstGeom>
          <a:solidFill>
            <a:srgbClr val="EAF4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896112"/>
            <a:ext cx="9619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3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64869" y="896112"/>
            <a:ext cx="73133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28–43 · Header / Reply Mail / One-Click Unsubscribes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1325880"/>
            <a:ext cx="8412480" cy="441960"/>
          </a:xfrm>
          <a:prstGeom prst="roundRect">
            <a:avLst>
              <a:gd name="adj" fmla="val 11379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382268"/>
            <a:ext cx="329184" cy="329184"/>
          </a:xfrm>
          <a:prstGeom prst="ellipse">
            <a:avLst/>
          </a:prstGeom>
          <a:solidFill>
            <a:srgbClr val="2471A3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3822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1380744"/>
            <a:ext cx="233172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1-click unsubscribes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1380744"/>
            <a:ext cx="52578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the most recent unsubscribe event for Leads and Contacts from _Subscribers (Steps 28–29).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1877568"/>
            <a:ext cx="8412480" cy="441960"/>
          </a:xfrm>
          <a:prstGeom prst="roundRect">
            <a:avLst>
              <a:gd name="adj" fmla="val 11379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1933956"/>
            <a:ext cx="329184" cy="329184"/>
          </a:xfrm>
          <a:prstGeom prst="ellipse">
            <a:avLst/>
          </a:prstGeom>
          <a:solidFill>
            <a:srgbClr val="2471A3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19339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1932432"/>
            <a:ext cx="233172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associated emails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1932432"/>
            <a:ext cx="52578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primary email records to Opt-Out processing and resolve associated emails for the same Contact/Lead (Steps 30–32).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429256"/>
            <a:ext cx="8412480" cy="441960"/>
          </a:xfrm>
          <a:prstGeom prst="roundRect">
            <a:avLst>
              <a:gd name="adj" fmla="val 11379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2485644"/>
            <a:ext cx="329184" cy="329184"/>
          </a:xfrm>
          <a:prstGeom prst="ellipse">
            <a:avLst/>
          </a:prstGeom>
          <a:solidFill>
            <a:srgbClr val="2471A3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24856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2484120"/>
            <a:ext cx="233172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→ Transfer → Import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2484120"/>
            <a:ext cx="52578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Extract, transfer, and import the Unsubscribed payload into All Subscribers (Steps 33–35).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2980944"/>
            <a:ext cx="8412480" cy="441960"/>
          </a:xfrm>
          <a:prstGeom prst="roundRect">
            <a:avLst>
              <a:gd name="adj" fmla="val 11379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037332"/>
            <a:ext cx="329184" cy="329184"/>
          </a:xfrm>
          <a:prstGeom prst="ellipse">
            <a:avLst/>
          </a:prstGeom>
          <a:solidFill>
            <a:srgbClr val="2471A3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0373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0120" y="3035808"/>
            <a:ext cx="233172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Sales Cloud IFD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83280" y="3035808"/>
            <a:ext cx="52578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primary email records, then flip IFD consent to Opt Out via SSJS with error logging (Steps 36–37).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532632"/>
            <a:ext cx="8412480" cy="441960"/>
          </a:xfrm>
          <a:prstGeom prst="roundRect">
            <a:avLst>
              <a:gd name="adj" fmla="val 11379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3589020"/>
            <a:ext cx="329184" cy="329184"/>
          </a:xfrm>
          <a:prstGeom prst="ellipse">
            <a:avLst/>
          </a:prstGeom>
          <a:solidFill>
            <a:srgbClr val="2471A3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35890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0120" y="3587496"/>
            <a:ext cx="233172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preference &amp; audit DEs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83280" y="3587496"/>
            <a:ext cx="52578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Unsubscriber_Preferences_Email, Unsubscribe_From_All_Preferences, and Audit_Preferences (Steps 38–41).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4084320"/>
            <a:ext cx="8412480" cy="441960"/>
          </a:xfrm>
          <a:prstGeom prst="roundRect">
            <a:avLst>
              <a:gd name="adj" fmla="val 11379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4140708"/>
            <a:ext cx="329184" cy="329184"/>
          </a:xfrm>
          <a:prstGeom prst="ellipse">
            <a:avLst/>
          </a:prstGeom>
          <a:solidFill>
            <a:srgbClr val="2471A3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41407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60120" y="4139184"/>
            <a:ext cx="233172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Cleanup &amp; Recordkeeper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83280" y="4139184"/>
            <a:ext cx="52578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entries from Subscriber_Preferences_Email and write final Recordkeeper records (Steps 42–43).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Notes &amp; Error Handling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28575">
            <a:solidFill>
              <a:srgbClr val="0033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5" name="Shape 3"/>
          <p:cNvSpPr/>
          <p:nvPr/>
        </p:nvSpPr>
        <p:spPr>
          <a:xfrm>
            <a:off x="448056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6" name="Shape 4"/>
          <p:cNvSpPr/>
          <p:nvPr/>
        </p:nvSpPr>
        <p:spPr>
          <a:xfrm>
            <a:off x="530352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85089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68680" y="4773168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Delaware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873252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914400"/>
            <a:ext cx="8412480" cy="777240"/>
          </a:xfrm>
          <a:prstGeom prst="roundRect">
            <a:avLst>
              <a:gd name="adj" fmla="val 7059"/>
            </a:avLst>
          </a:prstGeom>
          <a:solidFill>
            <a:srgbClr val="FEF6EC"/>
          </a:solidFill>
          <a:ln w="15875">
            <a:solidFill>
              <a:srgbClr val="F0C17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1133856"/>
            <a:ext cx="347472" cy="347472"/>
          </a:xfrm>
          <a:prstGeom prst="ellipse">
            <a:avLst/>
          </a:prstGeom>
          <a:solidFill>
            <a:srgbClr val="D4800A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1133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1024128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D48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note: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Subscribers updates are executed via file-based Import activities (Data Extract → File Transfer → Import) rather than direct SSJS writes, to avoid SSJS write limits and support large volumes.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874520"/>
            <a:ext cx="4114800" cy="2606040"/>
          </a:xfrm>
          <a:prstGeom prst="roundRect">
            <a:avLst>
              <a:gd name="adj" fmla="val 2105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 Unsubscribe (2-Click)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2404872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 unsubscribe requests are handled via a 2-click confirmation CloudPage flow to reduce accidental opt-outs from automated link scanning. This processing is removed from the Consent Updates automation and handled independently via CloudPages, as a related but separate solution.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1874520"/>
            <a:ext cx="4114800" cy="2606040"/>
          </a:xfrm>
          <a:prstGeom prst="roundRect">
            <a:avLst>
              <a:gd name="adj" fmla="val 2105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Logging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46320" y="240487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script activity across all three processes writes failures to ConsentUpdates_Error_Log, capturing the error description, script activity name, error message, and timestamp — execution continues rather than halting the automation.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3429000"/>
            <a:ext cx="3749040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5204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Path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3749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automations / 09. Preference / B. Daily &gt; Consent Updates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Jira Stories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28575">
            <a:solidFill>
              <a:srgbClr val="0033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5" name="Shape 3"/>
          <p:cNvSpPr/>
          <p:nvPr/>
        </p:nvSpPr>
        <p:spPr>
          <a:xfrm>
            <a:off x="448056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6" name="Shape 4"/>
          <p:cNvSpPr/>
          <p:nvPr/>
        </p:nvSpPr>
        <p:spPr>
          <a:xfrm>
            <a:off x="530352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85089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68680" y="4773168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Delaware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873252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097280"/>
            <a:ext cx="8412480" cy="960120"/>
          </a:xfrm>
          <a:prstGeom prst="roundRect">
            <a:avLst>
              <a:gd name="adj" fmla="val 5714"/>
            </a:avLst>
          </a:prstGeom>
          <a:solidFill>
            <a:srgbClr val="F0FAF3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353312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1A7A3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3533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GEE-19880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148840" y="1234440"/>
            <a:ext cx="6446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Redesign of Unsubscribe to Active process of the Consent Updates automation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240280"/>
            <a:ext cx="8412480" cy="960120"/>
          </a:xfrm>
          <a:prstGeom prst="roundRect">
            <a:avLst>
              <a:gd name="adj" fmla="val 5714"/>
            </a:avLst>
          </a:prstGeom>
          <a:solidFill>
            <a:srgbClr val="FEF2F2"/>
          </a:solidFill>
          <a:ln w="12700">
            <a:solidFill>
              <a:srgbClr val="F194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496312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4963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GEE-19881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148840" y="2377440"/>
            <a:ext cx="6446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Redesign of Active to Unsubscribe process of the Consent Updates automation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8412480" cy="960120"/>
          </a:xfrm>
          <a:prstGeom prst="roundRect">
            <a:avLst>
              <a:gd name="adj" fmla="val 5714"/>
            </a:avLst>
          </a:prstGeom>
          <a:solidFill>
            <a:srgbClr val="EAF4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639312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2471A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6393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GEE-20995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148840" y="3520440"/>
            <a:ext cx="6446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Redesign of 1-Click Header Unsubscribe/RMM of the Consent Updates automation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28575">
            <a:solidFill>
              <a:srgbClr val="0033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5" name="Shape 3"/>
          <p:cNvSpPr/>
          <p:nvPr/>
        </p:nvSpPr>
        <p:spPr>
          <a:xfrm>
            <a:off x="448056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6" name="Shape 4"/>
          <p:cNvSpPr/>
          <p:nvPr/>
        </p:nvSpPr>
        <p:spPr>
          <a:xfrm>
            <a:off x="530352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4773168"/>
            <a:ext cx="59436" cy="59436"/>
          </a:xfrm>
          <a:prstGeom prst="rect">
            <a:avLst/>
          </a:prstGeom>
          <a:solidFill>
            <a:srgbClr val="00338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85089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68680" y="4773168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Delaware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873252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051560"/>
            <a:ext cx="1993392" cy="1051560"/>
          </a:xfrm>
          <a:prstGeom prst="roundRect">
            <a:avLst>
              <a:gd name="adj" fmla="val 6087"/>
            </a:avLst>
          </a:prstGeom>
          <a:solidFill>
            <a:srgbClr val="EAF4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24712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65760" y="167335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consent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68880" y="1051560"/>
            <a:ext cx="1993392" cy="1051560"/>
          </a:xfrm>
          <a:prstGeom prst="roundRect">
            <a:avLst>
              <a:gd name="adj" fmla="val 6087"/>
            </a:avLst>
          </a:prstGeom>
          <a:solidFill>
            <a:srgbClr val="FEF2F2"/>
          </a:solidFill>
          <a:ln w="12700">
            <a:solidFill>
              <a:srgbClr val="F194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124712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468880" y="167335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steps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1051560"/>
            <a:ext cx="1993392" cy="1051560"/>
          </a:xfrm>
          <a:prstGeom prst="roundRect">
            <a:avLst>
              <a:gd name="adj" fmla="val 6087"/>
            </a:avLst>
          </a:prstGeom>
          <a:solidFill>
            <a:srgbClr val="F5EEFF"/>
          </a:solidFill>
          <a:ln w="12700">
            <a:solidFill>
              <a:srgbClr val="C8A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124712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B3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572000" y="167335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Extensions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75120" y="1051560"/>
            <a:ext cx="1993392" cy="1051560"/>
          </a:xfrm>
          <a:prstGeom prst="roundRect">
            <a:avLst>
              <a:gd name="adj" fmla="val 6087"/>
            </a:avLst>
          </a:prstGeom>
          <a:solidFill>
            <a:srgbClr val="F0FAF3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1124712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675120" y="167335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RecordKeeper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target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286000"/>
            <a:ext cx="2715768" cy="2194560"/>
          </a:xfrm>
          <a:prstGeom prst="roundRect">
            <a:avLst>
              <a:gd name="adj" fmla="val 2500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24140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12064" y="2724912"/>
            <a:ext cx="2423160" cy="0"/>
          </a:xfrm>
          <a:prstGeom prst="line">
            <a:avLst/>
          </a:prstGeom>
          <a:noFill/>
          <a:ln w="19050">
            <a:solidFill>
              <a:srgbClr val="00338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28346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Detects consent changes from Sales Cloud IFD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2064" y="323697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Syncs primary + associated email addresses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" y="36393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Updates All Subscribers via file-based import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2064" y="40416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Captures header &amp; RMM 1-click unsubscribes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18688" y="2286000"/>
            <a:ext cx="2715768" cy="2194560"/>
          </a:xfrm>
          <a:prstGeom prst="roundRect">
            <a:avLst>
              <a:gd name="adj" fmla="val 2500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24140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It's Governed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364992" y="2724912"/>
            <a:ext cx="242316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28346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audit trail in Audit_Preferences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64992" y="323697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90-day recordkeeping via Recordkeeper DE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64992" y="36393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Per-step error logging, no silent failures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64992" y="40416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Footer unsubscribe handled separately (2-click)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71616" y="2286000"/>
            <a:ext cx="2715768" cy="2194560"/>
          </a:xfrm>
          <a:prstGeom prst="roundRect">
            <a:avLst>
              <a:gd name="adj" fmla="val 2500"/>
            </a:avLst>
          </a:prstGeom>
          <a:solidFill>
            <a:srgbClr val="F7F8FA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24140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217920" y="2724912"/>
            <a:ext cx="2423160" cy="0"/>
          </a:xfrm>
          <a:prstGeom prst="line">
            <a:avLst/>
          </a:prstGeom>
          <a:noFill/>
          <a:ln w="19050">
            <a:solidFill>
              <a:srgbClr val="1A7A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28346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GEE-19880 — Unsubscribe → Active redesign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17920" y="323697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GEE-19881 — Active → Unsubscribe redesign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17920" y="36393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GEE-20995 — 1-Click / RMM redesign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17920" y="40416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Raw SQL &amp; SSJS documented per process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1F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00C3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92608"/>
            <a:ext cx="128016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292608"/>
            <a:ext cx="128016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292608"/>
            <a:ext cx="128016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" y="292608"/>
            <a:ext cx="128016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Updates Automation  |  Salesforce Marketing Cloud  |  Himanshu Gupta  |  v1.0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2026-08-20T16:58:30Z</dcterms:created>
  <dcterms:modified xsi:type="dcterms:W3CDTF">2026-08-20T16:58:30Z</dcterms:modified>
</cp:coreProperties>
</file>